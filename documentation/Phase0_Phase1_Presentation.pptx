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embeddedFontLst>
    <p:embeddedFont>
      <p:font typeface="Oranienbaum"/>
      <p:regular r:id="rId21"/>
    </p:embeddedFont>
    <p:embeddedFont>
      <p:font typeface="Liter"/>
      <p:regular r:id="rId22"/>
    </p:embeddedFont>
    <p:embeddedFont>
      <p:font typeface="Courgette"/>
      <p:regular r:id="rId23"/>
    </p:embeddedFont>
    <p:embeddedFont>
      <p:font typeface="Hedvig Letters Sans"/>
      <p:regular r:id="rId24"/>
    </p:embeddedFont>
    <p:embeddedFont>
      <p:font typeface="Quattrocento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Liter-regular.fntdata"/><Relationship Id="rId21" Type="http://schemas.openxmlformats.org/officeDocument/2006/relationships/font" Target="fonts/Oranienbaum-regular.fntdata"/><Relationship Id="rId24" Type="http://schemas.openxmlformats.org/officeDocument/2006/relationships/font" Target="fonts/HedvigLettersSans-regular.fntdata"/><Relationship Id="rId23" Type="http://schemas.openxmlformats.org/officeDocument/2006/relationships/font" Target="fonts/Courgette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QuattrocentoSans-bold.fntdata"/><Relationship Id="rId25" Type="http://schemas.openxmlformats.org/officeDocument/2006/relationships/font" Target="fonts/QuattrocentoSans-regular.fntdata"/><Relationship Id="rId28" Type="http://schemas.openxmlformats.org/officeDocument/2006/relationships/font" Target="fonts/QuattrocentoSans-boldItalic.fntdata"/><Relationship Id="rId27" Type="http://schemas.openxmlformats.org/officeDocument/2006/relationships/font" Target="fonts/Quattrocento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" name="Google Shape;1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8453516c6_2_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g3c8453516c6_2_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c8453516c6_2_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8" name="Google Shape;47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8" name="Google Shape;52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3" name="Google Shape;593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9" name="Google Shape;659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0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www.healthyfood.com/0061e784ed9b95d42bbf42d5ae3698beb94f8f5f.jpg" id="13" name="Google Shape;13;p4"/>
          <p:cNvPicPr preferRelativeResize="0"/>
          <p:nvPr/>
        </p:nvPicPr>
        <p:blipFill rotWithShape="1">
          <a:blip r:embed="rId3">
            <a:alphaModFix/>
          </a:blip>
          <a:srcRect b="15617" l="0" r="0" t="15617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4" name="Google Shape;14;p4"/>
          <p:cNvSpPr/>
          <p:nvPr/>
        </p:nvSpPr>
        <p:spPr>
          <a:xfrm>
            <a:off x="-1488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A2E">
                  <a:alpha val="85098"/>
                </a:srgbClr>
              </a:gs>
              <a:gs pos="50000">
                <a:srgbClr val="E85D04">
                  <a:alpha val="70196"/>
                </a:srgbClr>
              </a:gs>
              <a:gs pos="100000">
                <a:srgbClr val="2D6A4F">
                  <a:alpha val="8000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/>
          <p:nvPr/>
        </p:nvSpPr>
        <p:spPr>
          <a:xfrm>
            <a:off x="3798987" y="1600200"/>
            <a:ext cx="45910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FFF8F0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MealMind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4"/>
          <p:cNvSpPr/>
          <p:nvPr/>
        </p:nvSpPr>
        <p:spPr>
          <a:xfrm>
            <a:off x="5334000" y="2971800"/>
            <a:ext cx="1524000" cy="76200"/>
          </a:xfrm>
          <a:custGeom>
            <a:rect b="b" l="l" r="r" t="t"/>
            <a:pathLst>
              <a:path extrusionOk="0" h="76200" w="1524000">
                <a:moveTo>
                  <a:pt x="38100" y="0"/>
                </a:moveTo>
                <a:lnTo>
                  <a:pt x="1485900" y="0"/>
                </a:lnTo>
                <a:cubicBezTo>
                  <a:pt x="1506928" y="0"/>
                  <a:pt x="1524000" y="17072"/>
                  <a:pt x="1524000" y="38100"/>
                </a:cubicBezTo>
                <a:lnTo>
                  <a:pt x="1524000" y="38100"/>
                </a:lnTo>
                <a:cubicBezTo>
                  <a:pt x="1524000" y="59128"/>
                  <a:pt x="1506928" y="76200"/>
                  <a:pt x="14859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48C0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>
            <a:off x="2306389" y="3352800"/>
            <a:ext cx="758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Reducing D</a:t>
            </a:r>
            <a:r>
              <a:rPr lang="en-US" sz="3600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</a:t>
            </a:r>
            <a:r>
              <a:rPr lang="en-US" sz="3600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ily Meal Decision Fatigue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381000" y="4991100"/>
            <a:ext cx="5562600" cy="1485900"/>
          </a:xfrm>
          <a:custGeom>
            <a:rect b="b" l="l" r="r" t="t"/>
            <a:pathLst>
              <a:path extrusionOk="0" h="1485900" w="5562600">
                <a:moveTo>
                  <a:pt x="152394" y="0"/>
                </a:moveTo>
                <a:lnTo>
                  <a:pt x="5410206" y="0"/>
                </a:lnTo>
                <a:cubicBezTo>
                  <a:pt x="5494371" y="0"/>
                  <a:pt x="5562600" y="68229"/>
                  <a:pt x="5562600" y="152394"/>
                </a:cubicBezTo>
                <a:lnTo>
                  <a:pt x="5562600" y="1333506"/>
                </a:lnTo>
                <a:cubicBezTo>
                  <a:pt x="5562600" y="1417671"/>
                  <a:pt x="5494371" y="1485900"/>
                  <a:pt x="5410206" y="1485900"/>
                </a:cubicBezTo>
                <a:lnTo>
                  <a:pt x="152394" y="1485900"/>
                </a:lnTo>
                <a:cubicBezTo>
                  <a:pt x="68229" y="1485900"/>
                  <a:pt x="0" y="1417671"/>
                  <a:pt x="0" y="13335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1A1A2E">
              <a:alpha val="6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609600" y="5219700"/>
            <a:ext cx="5200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48C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Presented to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609600" y="5600700"/>
            <a:ext cx="5219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Dr. Basharat Hussain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609600" y="5981700"/>
            <a:ext cx="5200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Product Development (AI-4013)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6248400" y="4991100"/>
            <a:ext cx="5562600" cy="1485900"/>
          </a:xfrm>
          <a:custGeom>
            <a:rect b="b" l="l" r="r" t="t"/>
            <a:pathLst>
              <a:path extrusionOk="0" h="1485900" w="5562600">
                <a:moveTo>
                  <a:pt x="152394" y="0"/>
                </a:moveTo>
                <a:lnTo>
                  <a:pt x="5410206" y="0"/>
                </a:lnTo>
                <a:cubicBezTo>
                  <a:pt x="5494371" y="0"/>
                  <a:pt x="5562600" y="68229"/>
                  <a:pt x="5562600" y="152394"/>
                </a:cubicBezTo>
                <a:lnTo>
                  <a:pt x="5562600" y="1333506"/>
                </a:lnTo>
                <a:cubicBezTo>
                  <a:pt x="5562600" y="1417671"/>
                  <a:pt x="5494371" y="1485900"/>
                  <a:pt x="5410206" y="1485900"/>
                </a:cubicBezTo>
                <a:lnTo>
                  <a:pt x="152394" y="1485900"/>
                </a:lnTo>
                <a:cubicBezTo>
                  <a:pt x="68229" y="1485900"/>
                  <a:pt x="0" y="1417671"/>
                  <a:pt x="0" y="13335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1A1A2E">
              <a:alpha val="6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6477000" y="5219700"/>
            <a:ext cx="5200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48C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Members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6477000" y="5600700"/>
            <a:ext cx="2562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Hafsa Imtiaz (22i-0959)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9105900" y="5600700"/>
            <a:ext cx="2562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Mahum Hamid (22i-1009)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6477000" y="5943600"/>
            <a:ext cx="2562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Areeba Riaz (22i-1244)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9105900" y="5943600"/>
            <a:ext cx="2562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Jawairia Waseem (22i-1274)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0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381000" y="438150"/>
            <a:ext cx="609600" cy="609600"/>
          </a:xfrm>
          <a:custGeom>
            <a:rect b="b" l="l" r="r" t="t"/>
            <a:pathLst>
              <a:path extrusionOk="0" h="609600" w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85D0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545306" y="600075"/>
            <a:ext cx="285750" cy="285750"/>
          </a:xfrm>
          <a:custGeom>
            <a:rect b="b" l="l" r="r" t="t"/>
            <a:pathLst>
              <a:path extrusionOk="0" h="285750" w="285750">
                <a:moveTo>
                  <a:pt x="142875" y="0"/>
                </a:moveTo>
                <a:cubicBezTo>
                  <a:pt x="151079" y="0"/>
                  <a:pt x="158614" y="4521"/>
                  <a:pt x="162520" y="11720"/>
                </a:cubicBezTo>
                <a:lnTo>
                  <a:pt x="283071" y="234962"/>
                </a:lnTo>
                <a:cubicBezTo>
                  <a:pt x="286810" y="241883"/>
                  <a:pt x="286643" y="250254"/>
                  <a:pt x="282625" y="257008"/>
                </a:cubicBezTo>
                <a:cubicBezTo>
                  <a:pt x="278606" y="263761"/>
                  <a:pt x="271295" y="267891"/>
                  <a:pt x="263426" y="267891"/>
                </a:cubicBezTo>
                <a:lnTo>
                  <a:pt x="22324" y="267891"/>
                </a:lnTo>
                <a:cubicBezTo>
                  <a:pt x="14455" y="267891"/>
                  <a:pt x="7200" y="263761"/>
                  <a:pt x="3125" y="257008"/>
                </a:cubicBezTo>
                <a:cubicBezTo>
                  <a:pt x="-949" y="250254"/>
                  <a:pt x="-1060" y="241883"/>
                  <a:pt x="2679" y="234962"/>
                </a:cubicBezTo>
                <a:lnTo>
                  <a:pt x="123230" y="11720"/>
                </a:lnTo>
                <a:cubicBezTo>
                  <a:pt x="127136" y="4521"/>
                  <a:pt x="134671" y="0"/>
                  <a:pt x="142875" y="0"/>
                </a:cubicBezTo>
                <a:close/>
                <a:moveTo>
                  <a:pt x="142875" y="93762"/>
                </a:moveTo>
                <a:cubicBezTo>
                  <a:pt x="135452" y="93762"/>
                  <a:pt x="129480" y="99733"/>
                  <a:pt x="129480" y="107156"/>
                </a:cubicBezTo>
                <a:lnTo>
                  <a:pt x="129480" y="169664"/>
                </a:lnTo>
                <a:cubicBezTo>
                  <a:pt x="129480" y="177087"/>
                  <a:pt x="135452" y="183059"/>
                  <a:pt x="142875" y="183059"/>
                </a:cubicBezTo>
                <a:cubicBezTo>
                  <a:pt x="150298" y="183059"/>
                  <a:pt x="156270" y="177087"/>
                  <a:pt x="156270" y="169664"/>
                </a:cubicBezTo>
                <a:lnTo>
                  <a:pt x="156270" y="107156"/>
                </a:lnTo>
                <a:cubicBezTo>
                  <a:pt x="156270" y="99733"/>
                  <a:pt x="150298" y="93762"/>
                  <a:pt x="142875" y="93762"/>
                </a:cubicBezTo>
                <a:close/>
                <a:moveTo>
                  <a:pt x="157776" y="214313"/>
                </a:moveTo>
                <a:cubicBezTo>
                  <a:pt x="158115" y="208781"/>
                  <a:pt x="155357" y="203519"/>
                  <a:pt x="150615" y="200651"/>
                </a:cubicBezTo>
                <a:cubicBezTo>
                  <a:pt x="145874" y="197783"/>
                  <a:pt x="139932" y="197783"/>
                  <a:pt x="135190" y="200651"/>
                </a:cubicBezTo>
                <a:cubicBezTo>
                  <a:pt x="130449" y="203519"/>
                  <a:pt x="127690" y="208781"/>
                  <a:pt x="128029" y="214312"/>
                </a:cubicBezTo>
                <a:cubicBezTo>
                  <a:pt x="127690" y="219844"/>
                  <a:pt x="130449" y="225106"/>
                  <a:pt x="135190" y="227974"/>
                </a:cubicBezTo>
                <a:cubicBezTo>
                  <a:pt x="139932" y="230842"/>
                  <a:pt x="145874" y="230842"/>
                  <a:pt x="150615" y="227974"/>
                </a:cubicBezTo>
                <a:cubicBezTo>
                  <a:pt x="155357" y="225106"/>
                  <a:pt x="158115" y="219844"/>
                  <a:pt x="157776" y="214313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1143000" y="381000"/>
            <a:ext cx="6638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E85D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PROBLEM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1143000" y="647700"/>
            <a:ext cx="6772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The Daily Meal Decision Burden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419100" y="1333500"/>
            <a:ext cx="5524500" cy="5143500"/>
          </a:xfrm>
          <a:custGeom>
            <a:rect b="b" l="l" r="r" t="t"/>
            <a:pathLst>
              <a:path extrusionOk="0" h="5143500" w="5524500">
                <a:moveTo>
                  <a:pt x="76200" y="0"/>
                </a:moveTo>
                <a:lnTo>
                  <a:pt x="5295923" y="0"/>
                </a:lnTo>
                <a:cubicBezTo>
                  <a:pt x="5422078" y="0"/>
                  <a:pt x="5524500" y="102422"/>
                  <a:pt x="5524500" y="228577"/>
                </a:cubicBezTo>
                <a:lnTo>
                  <a:pt x="5524500" y="4914923"/>
                </a:lnTo>
                <a:cubicBezTo>
                  <a:pt x="5524500" y="5041163"/>
                  <a:pt x="5422163" y="5143500"/>
                  <a:pt x="5295923" y="5143500"/>
                </a:cubicBezTo>
                <a:lnTo>
                  <a:pt x="76200" y="5143500"/>
                </a:lnTo>
                <a:cubicBezTo>
                  <a:pt x="34144" y="5143500"/>
                  <a:pt x="0" y="5109356"/>
                  <a:pt x="0" y="5067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38125" rotWithShape="0" algn="bl" dir="5400000" dist="1905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419100" y="1333500"/>
            <a:ext cx="76200" cy="5143500"/>
          </a:xfrm>
          <a:custGeom>
            <a:rect b="b" l="l" r="r" t="t"/>
            <a:pathLst>
              <a:path extrusionOk="0" h="5143500" w="76200">
                <a:moveTo>
                  <a:pt x="76200" y="0"/>
                </a:moveTo>
                <a:lnTo>
                  <a:pt x="76200" y="0"/>
                </a:lnTo>
                <a:lnTo>
                  <a:pt x="76200" y="5143500"/>
                </a:lnTo>
                <a:lnTo>
                  <a:pt x="76200" y="5143500"/>
                </a:lnTo>
                <a:cubicBezTo>
                  <a:pt x="34144" y="5143500"/>
                  <a:pt x="0" y="5109356"/>
                  <a:pt x="0" y="5067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85D0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762000" y="16383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85D0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931069" y="1771650"/>
            <a:ext cx="119063" cy="190500"/>
          </a:xfrm>
          <a:custGeom>
            <a:rect b="b" l="l" r="r" t="t"/>
            <a:pathLst>
              <a:path extrusionOk="0" h="190500" w="119063">
                <a:moveTo>
                  <a:pt x="23812" y="59531"/>
                </a:moveTo>
                <a:cubicBezTo>
                  <a:pt x="23812" y="39812"/>
                  <a:pt x="39812" y="23812"/>
                  <a:pt x="59531" y="23812"/>
                </a:cubicBezTo>
                <a:cubicBezTo>
                  <a:pt x="79251" y="23812"/>
                  <a:pt x="95250" y="39812"/>
                  <a:pt x="95250" y="59531"/>
                </a:cubicBezTo>
                <a:cubicBezTo>
                  <a:pt x="95250" y="75419"/>
                  <a:pt x="84869" y="88888"/>
                  <a:pt x="70507" y="93538"/>
                </a:cubicBezTo>
                <a:cubicBezTo>
                  <a:pt x="59941" y="96962"/>
                  <a:pt x="47625" y="106673"/>
                  <a:pt x="47625" y="122039"/>
                </a:cubicBezTo>
                <a:lnTo>
                  <a:pt x="47625" y="130969"/>
                </a:lnTo>
                <a:cubicBezTo>
                  <a:pt x="47625" y="137554"/>
                  <a:pt x="52946" y="142875"/>
                  <a:pt x="59531" y="142875"/>
                </a:cubicBezTo>
                <a:cubicBezTo>
                  <a:pt x="66117" y="142875"/>
                  <a:pt x="71438" y="137554"/>
                  <a:pt x="71438" y="130969"/>
                </a:cubicBezTo>
                <a:lnTo>
                  <a:pt x="71438" y="122039"/>
                </a:lnTo>
                <a:cubicBezTo>
                  <a:pt x="71438" y="121407"/>
                  <a:pt x="71661" y="120514"/>
                  <a:pt x="72740" y="119323"/>
                </a:cubicBezTo>
                <a:cubicBezTo>
                  <a:pt x="73856" y="118095"/>
                  <a:pt x="75679" y="116904"/>
                  <a:pt x="77837" y="116198"/>
                </a:cubicBezTo>
                <a:cubicBezTo>
                  <a:pt x="101761" y="108496"/>
                  <a:pt x="119063" y="86060"/>
                  <a:pt x="119063" y="59531"/>
                </a:cubicBezTo>
                <a:cubicBezTo>
                  <a:pt x="119063" y="26640"/>
                  <a:pt x="92422" y="0"/>
                  <a:pt x="59531" y="0"/>
                </a:cubicBezTo>
                <a:cubicBezTo>
                  <a:pt x="26640" y="0"/>
                  <a:pt x="0" y="26640"/>
                  <a:pt x="0" y="59531"/>
                </a:cubicBezTo>
                <a:cubicBezTo>
                  <a:pt x="0" y="66117"/>
                  <a:pt x="5321" y="71438"/>
                  <a:pt x="11906" y="71438"/>
                </a:cubicBezTo>
                <a:cubicBezTo>
                  <a:pt x="18492" y="71438"/>
                  <a:pt x="23812" y="66117"/>
                  <a:pt x="23812" y="59531"/>
                </a:cubicBezTo>
                <a:close/>
                <a:moveTo>
                  <a:pt x="59531" y="190500"/>
                </a:moveTo>
                <a:cubicBezTo>
                  <a:pt x="67754" y="190500"/>
                  <a:pt x="74414" y="183840"/>
                  <a:pt x="74414" y="175617"/>
                </a:cubicBezTo>
                <a:cubicBezTo>
                  <a:pt x="74414" y="167394"/>
                  <a:pt x="67754" y="160734"/>
                  <a:pt x="59531" y="160734"/>
                </a:cubicBezTo>
                <a:cubicBezTo>
                  <a:pt x="51308" y="160734"/>
                  <a:pt x="44648" y="167394"/>
                  <a:pt x="44648" y="175617"/>
                </a:cubicBezTo>
                <a:cubicBezTo>
                  <a:pt x="44648" y="183840"/>
                  <a:pt x="51308" y="190500"/>
                  <a:pt x="59531" y="190500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1333500" y="1695450"/>
            <a:ext cx="2905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A1A2E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What Is the Problem?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762000" y="2400300"/>
            <a:ext cx="114300" cy="114300"/>
          </a:xfrm>
          <a:custGeom>
            <a:rect b="b" l="l" r="r" t="t"/>
            <a:pathLst>
              <a:path extrusionOk="0" h="114300" w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E85D0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1028700" y="2324100"/>
            <a:ext cx="3810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Repeated daily decision:</a:t>
            </a:r>
            <a:r>
              <a:rPr lang="en-US" sz="15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"What should I eat?"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762000" y="2900363"/>
            <a:ext cx="114300" cy="114300"/>
          </a:xfrm>
          <a:custGeom>
            <a:rect b="b" l="l" r="r" t="t"/>
            <a:pathLst>
              <a:path extrusionOk="0" h="114300" w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E85D0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1028700" y="2824163"/>
            <a:ext cx="23907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Occurs </a:t>
            </a:r>
            <a:r>
              <a:rPr b="1" lang="en-US" sz="1500">
                <a:solidFill>
                  <a:srgbClr val="E85D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2–4 times every day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762000" y="3400425"/>
            <a:ext cx="114300" cy="114300"/>
          </a:xfrm>
          <a:custGeom>
            <a:rect b="b" l="l" r="r" t="t"/>
            <a:pathLst>
              <a:path extrusionOk="0" h="114300" w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E85D0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1028700" y="3324225"/>
            <a:ext cx="3267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Happens at home, hostels, workplaces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771525" y="5229225"/>
            <a:ext cx="4857750" cy="933450"/>
          </a:xfrm>
          <a:custGeom>
            <a:rect b="b" l="l" r="r" t="t"/>
            <a:pathLst>
              <a:path extrusionOk="0" h="933450" w="4857750">
                <a:moveTo>
                  <a:pt x="152404" y="0"/>
                </a:moveTo>
                <a:lnTo>
                  <a:pt x="4705346" y="0"/>
                </a:lnTo>
                <a:cubicBezTo>
                  <a:pt x="4789516" y="0"/>
                  <a:pt x="4857750" y="68234"/>
                  <a:pt x="4857750" y="152404"/>
                </a:cubicBezTo>
                <a:lnTo>
                  <a:pt x="4857750" y="781046"/>
                </a:lnTo>
                <a:cubicBezTo>
                  <a:pt x="4857750" y="865216"/>
                  <a:pt x="4789516" y="933450"/>
                  <a:pt x="4705346" y="933450"/>
                </a:cubicBezTo>
                <a:lnTo>
                  <a:pt x="152404" y="933450"/>
                </a:lnTo>
                <a:cubicBezTo>
                  <a:pt x="68234" y="933450"/>
                  <a:pt x="0" y="865216"/>
                  <a:pt x="0" y="781046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solidFill>
            <a:srgbClr val="E85D04">
              <a:alpha val="10196"/>
            </a:srgbClr>
          </a:solidFill>
          <a:ln cap="flat" cmpd="sng" w="25400">
            <a:solidFill>
              <a:srgbClr val="E85D0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923925" y="5429250"/>
            <a:ext cx="45529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is not lack of food. It is cognitive exhaustion from repeated decisions.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286500" y="1333500"/>
            <a:ext cx="5524500" cy="5143500"/>
          </a:xfrm>
          <a:custGeom>
            <a:rect b="b" l="l" r="r" t="t"/>
            <a:pathLst>
              <a:path extrusionOk="0" h="5143500" w="5524500">
                <a:moveTo>
                  <a:pt x="76200" y="0"/>
                </a:moveTo>
                <a:lnTo>
                  <a:pt x="5295923" y="0"/>
                </a:lnTo>
                <a:cubicBezTo>
                  <a:pt x="5422078" y="0"/>
                  <a:pt x="5524500" y="102422"/>
                  <a:pt x="5524500" y="228577"/>
                </a:cubicBezTo>
                <a:lnTo>
                  <a:pt x="5524500" y="4914923"/>
                </a:lnTo>
                <a:cubicBezTo>
                  <a:pt x="5524500" y="5041163"/>
                  <a:pt x="5422163" y="5143500"/>
                  <a:pt x="5295923" y="5143500"/>
                </a:cubicBezTo>
                <a:lnTo>
                  <a:pt x="76200" y="5143500"/>
                </a:lnTo>
                <a:cubicBezTo>
                  <a:pt x="34144" y="5143500"/>
                  <a:pt x="0" y="5109356"/>
                  <a:pt x="0" y="5067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38125" rotWithShape="0" algn="bl" dir="5400000" dist="1905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286500" y="1333500"/>
            <a:ext cx="76200" cy="5143500"/>
          </a:xfrm>
          <a:custGeom>
            <a:rect b="b" l="l" r="r" t="t"/>
            <a:pathLst>
              <a:path extrusionOk="0" h="5143500" w="76200">
                <a:moveTo>
                  <a:pt x="76200" y="0"/>
                </a:moveTo>
                <a:lnTo>
                  <a:pt x="76200" y="0"/>
                </a:lnTo>
                <a:lnTo>
                  <a:pt x="76200" y="5143500"/>
                </a:lnTo>
                <a:lnTo>
                  <a:pt x="76200" y="5143500"/>
                </a:lnTo>
                <a:cubicBezTo>
                  <a:pt x="34144" y="5143500"/>
                  <a:pt x="0" y="5109356"/>
                  <a:pt x="0" y="5067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629400" y="16383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762750" y="1771650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8960" y="148121"/>
                </a:moveTo>
                <a:cubicBezTo>
                  <a:pt x="121369" y="137703"/>
                  <a:pt x="109091" y="130969"/>
                  <a:pt x="95250" y="130969"/>
                </a:cubicBezTo>
                <a:cubicBezTo>
                  <a:pt x="81409" y="130969"/>
                  <a:pt x="69131" y="137703"/>
                  <a:pt x="61540" y="148121"/>
                </a:cubicBezTo>
                <a:cubicBezTo>
                  <a:pt x="58638" y="152102"/>
                  <a:pt x="53057" y="152995"/>
                  <a:pt x="49076" y="150093"/>
                </a:cubicBezTo>
                <a:cubicBezTo>
                  <a:pt x="45095" y="147191"/>
                  <a:pt x="44202" y="141610"/>
                  <a:pt x="47104" y="137629"/>
                </a:cubicBezTo>
                <a:cubicBezTo>
                  <a:pt x="57931" y="122783"/>
                  <a:pt x="75456" y="113109"/>
                  <a:pt x="95250" y="113109"/>
                </a:cubicBezTo>
                <a:cubicBezTo>
                  <a:pt x="115044" y="113109"/>
                  <a:pt x="132569" y="122783"/>
                  <a:pt x="143396" y="137629"/>
                </a:cubicBezTo>
                <a:cubicBezTo>
                  <a:pt x="146298" y="141610"/>
                  <a:pt x="145405" y="147191"/>
                  <a:pt x="141424" y="150093"/>
                </a:cubicBezTo>
                <a:cubicBezTo>
                  <a:pt x="137443" y="152995"/>
                  <a:pt x="131862" y="152102"/>
                  <a:pt x="128960" y="148121"/>
                </a:cubicBezTo>
                <a:close/>
                <a:moveTo>
                  <a:pt x="53578" y="77391"/>
                </a:moveTo>
                <a:cubicBezTo>
                  <a:pt x="53578" y="70819"/>
                  <a:pt x="58913" y="65484"/>
                  <a:pt x="65484" y="65484"/>
                </a:cubicBezTo>
                <a:cubicBezTo>
                  <a:pt x="72056" y="65484"/>
                  <a:pt x="77391" y="70819"/>
                  <a:pt x="77391" y="77391"/>
                </a:cubicBezTo>
                <a:cubicBezTo>
                  <a:pt x="77391" y="83962"/>
                  <a:pt x="72056" y="89297"/>
                  <a:pt x="65484" y="89297"/>
                </a:cubicBezTo>
                <a:cubicBezTo>
                  <a:pt x="58913" y="89297"/>
                  <a:pt x="53578" y="83962"/>
                  <a:pt x="53578" y="77391"/>
                </a:cubicBezTo>
                <a:close/>
                <a:moveTo>
                  <a:pt x="125016" y="65484"/>
                </a:moveTo>
                <a:cubicBezTo>
                  <a:pt x="131587" y="65484"/>
                  <a:pt x="136922" y="70819"/>
                  <a:pt x="136922" y="77391"/>
                </a:cubicBezTo>
                <a:cubicBezTo>
                  <a:pt x="136922" y="83962"/>
                  <a:pt x="131587" y="89297"/>
                  <a:pt x="125016" y="89297"/>
                </a:cubicBezTo>
                <a:cubicBezTo>
                  <a:pt x="118444" y="89297"/>
                  <a:pt x="113109" y="83962"/>
                  <a:pt x="113109" y="77391"/>
                </a:cubicBezTo>
                <a:cubicBezTo>
                  <a:pt x="113109" y="70819"/>
                  <a:pt x="118444" y="65484"/>
                  <a:pt x="125016" y="65484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7200900" y="1695450"/>
            <a:ext cx="2762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A1A2E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Why It Is Frustrating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629400" y="2400300"/>
            <a:ext cx="114300" cy="114300"/>
          </a:xfrm>
          <a:custGeom>
            <a:rect b="b" l="l" r="r" t="t"/>
            <a:pathLst>
              <a:path extrusionOk="0" h="114300" w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896100" y="2324100"/>
            <a:ext cx="3200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Too many options → </a:t>
            </a:r>
            <a:r>
              <a:rPr b="1" lang="en-US" sz="1500">
                <a:solidFill>
                  <a:srgbClr val="2D6A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mental overload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6629400" y="2900363"/>
            <a:ext cx="114300" cy="114300"/>
          </a:xfrm>
          <a:custGeom>
            <a:rect b="b" l="l" r="r" t="t"/>
            <a:pathLst>
              <a:path extrusionOk="0" h="114300" w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896100" y="2824163"/>
            <a:ext cx="28670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Limited time after work or classes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629400" y="3400425"/>
            <a:ext cx="114300" cy="114300"/>
          </a:xfrm>
          <a:custGeom>
            <a:rect b="b" l="l" r="r" t="t"/>
            <a:pathLst>
              <a:path extrusionOk="0" h="114300" w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896100" y="3324225"/>
            <a:ext cx="3552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Budget uncertainty</a:t>
            </a:r>
            <a:r>
              <a:rPr lang="en-US" sz="15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&amp; nutritional confusion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7746653" y="5257800"/>
            <a:ext cx="1419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E85D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2-4×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7846665" y="5905500"/>
            <a:ext cx="1219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Daily Decisions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9171980" y="5334000"/>
            <a:ext cx="9525" cy="762000"/>
          </a:xfrm>
          <a:custGeom>
            <a:rect b="b" l="l" r="r" t="t"/>
            <a:pathLst>
              <a:path extrusionOk="0" h="762000" w="9525">
                <a:moveTo>
                  <a:pt x="0" y="0"/>
                </a:moveTo>
                <a:lnTo>
                  <a:pt x="9525" y="0"/>
                </a:lnTo>
                <a:lnTo>
                  <a:pt x="95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1A1A2E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9191030" y="5257800"/>
            <a:ext cx="12001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2D6A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∞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9291042" y="5905500"/>
            <a:ext cx="100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Mental Load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378928" y="435767"/>
            <a:ext cx="606284" cy="606284"/>
          </a:xfrm>
          <a:custGeom>
            <a:rect b="b" l="l" r="r" t="t"/>
            <a:pathLst>
              <a:path extrusionOk="0" h="606284" w="606284">
                <a:moveTo>
                  <a:pt x="151571" y="0"/>
                </a:moveTo>
                <a:lnTo>
                  <a:pt x="454713" y="0"/>
                </a:lnTo>
                <a:cubicBezTo>
                  <a:pt x="538424" y="0"/>
                  <a:pt x="606284" y="67861"/>
                  <a:pt x="606284" y="151571"/>
                </a:cubicBezTo>
                <a:lnTo>
                  <a:pt x="606284" y="454713"/>
                </a:lnTo>
                <a:cubicBezTo>
                  <a:pt x="606284" y="538424"/>
                  <a:pt x="538424" y="606284"/>
                  <a:pt x="454713" y="606284"/>
                </a:cubicBezTo>
                <a:lnTo>
                  <a:pt x="151571" y="606284"/>
                </a:lnTo>
                <a:cubicBezTo>
                  <a:pt x="67861" y="606284"/>
                  <a:pt x="0" y="538424"/>
                  <a:pt x="0" y="454713"/>
                </a:cubicBezTo>
                <a:lnTo>
                  <a:pt x="0" y="151571"/>
                </a:lnTo>
                <a:cubicBezTo>
                  <a:pt x="0" y="67861"/>
                  <a:pt x="67861" y="0"/>
                  <a:pt x="151571" y="0"/>
                </a:cubicBez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506816" y="596811"/>
            <a:ext cx="355245" cy="284196"/>
          </a:xfrm>
          <a:custGeom>
            <a:rect b="b" l="l" r="r" t="t"/>
            <a:pathLst>
              <a:path extrusionOk="0" h="284196" w="355245">
                <a:moveTo>
                  <a:pt x="177622" y="8881"/>
                </a:moveTo>
                <a:cubicBezTo>
                  <a:pt x="209483" y="8881"/>
                  <a:pt x="235350" y="34748"/>
                  <a:pt x="235350" y="66608"/>
                </a:cubicBezTo>
                <a:cubicBezTo>
                  <a:pt x="235350" y="98469"/>
                  <a:pt x="209483" y="124336"/>
                  <a:pt x="177622" y="124336"/>
                </a:cubicBezTo>
                <a:cubicBezTo>
                  <a:pt x="145762" y="124336"/>
                  <a:pt x="119895" y="98469"/>
                  <a:pt x="119895" y="66608"/>
                </a:cubicBezTo>
                <a:cubicBezTo>
                  <a:pt x="119895" y="34748"/>
                  <a:pt x="145762" y="8881"/>
                  <a:pt x="177622" y="8881"/>
                </a:cubicBezTo>
                <a:close/>
                <a:moveTo>
                  <a:pt x="53287" y="48846"/>
                </a:moveTo>
                <a:cubicBezTo>
                  <a:pt x="75344" y="48846"/>
                  <a:pt x="93252" y="66754"/>
                  <a:pt x="93252" y="88811"/>
                </a:cubicBezTo>
                <a:cubicBezTo>
                  <a:pt x="93252" y="110868"/>
                  <a:pt x="75344" y="128776"/>
                  <a:pt x="53287" y="128776"/>
                </a:cubicBezTo>
                <a:cubicBezTo>
                  <a:pt x="31229" y="128776"/>
                  <a:pt x="13322" y="110868"/>
                  <a:pt x="13322" y="88811"/>
                </a:cubicBezTo>
                <a:cubicBezTo>
                  <a:pt x="13322" y="66754"/>
                  <a:pt x="31229" y="48846"/>
                  <a:pt x="53287" y="48846"/>
                </a:cubicBezTo>
                <a:close/>
                <a:moveTo>
                  <a:pt x="0" y="230909"/>
                </a:moveTo>
                <a:cubicBezTo>
                  <a:pt x="0" y="191666"/>
                  <a:pt x="31806" y="159860"/>
                  <a:pt x="71049" y="159860"/>
                </a:cubicBezTo>
                <a:cubicBezTo>
                  <a:pt x="78154" y="159860"/>
                  <a:pt x="85037" y="160915"/>
                  <a:pt x="91531" y="162858"/>
                </a:cubicBezTo>
                <a:cubicBezTo>
                  <a:pt x="73269" y="183284"/>
                  <a:pt x="62168" y="210260"/>
                  <a:pt x="62168" y="239790"/>
                </a:cubicBezTo>
                <a:lnTo>
                  <a:pt x="62168" y="248671"/>
                </a:lnTo>
                <a:cubicBezTo>
                  <a:pt x="62168" y="254999"/>
                  <a:pt x="63500" y="260994"/>
                  <a:pt x="65887" y="266434"/>
                </a:cubicBezTo>
                <a:lnTo>
                  <a:pt x="17762" y="266434"/>
                </a:lnTo>
                <a:cubicBezTo>
                  <a:pt x="7938" y="266434"/>
                  <a:pt x="0" y="258496"/>
                  <a:pt x="0" y="248671"/>
                </a:cubicBezTo>
                <a:lnTo>
                  <a:pt x="0" y="230909"/>
                </a:lnTo>
                <a:close/>
                <a:moveTo>
                  <a:pt x="289358" y="266434"/>
                </a:moveTo>
                <a:cubicBezTo>
                  <a:pt x="291745" y="260994"/>
                  <a:pt x="293077" y="254999"/>
                  <a:pt x="293077" y="248671"/>
                </a:cubicBezTo>
                <a:lnTo>
                  <a:pt x="293077" y="239790"/>
                </a:lnTo>
                <a:cubicBezTo>
                  <a:pt x="293077" y="210260"/>
                  <a:pt x="281976" y="183284"/>
                  <a:pt x="263714" y="162858"/>
                </a:cubicBezTo>
                <a:cubicBezTo>
                  <a:pt x="270208" y="160915"/>
                  <a:pt x="277091" y="159860"/>
                  <a:pt x="284196" y="159860"/>
                </a:cubicBezTo>
                <a:cubicBezTo>
                  <a:pt x="323439" y="159860"/>
                  <a:pt x="355245" y="191666"/>
                  <a:pt x="355245" y="230909"/>
                </a:cubicBezTo>
                <a:lnTo>
                  <a:pt x="355245" y="248671"/>
                </a:lnTo>
                <a:cubicBezTo>
                  <a:pt x="355245" y="258496"/>
                  <a:pt x="347307" y="266434"/>
                  <a:pt x="337483" y="266434"/>
                </a:cubicBezTo>
                <a:lnTo>
                  <a:pt x="289358" y="266434"/>
                </a:lnTo>
                <a:close/>
                <a:moveTo>
                  <a:pt x="261993" y="88811"/>
                </a:moveTo>
                <a:cubicBezTo>
                  <a:pt x="261993" y="66754"/>
                  <a:pt x="279901" y="48846"/>
                  <a:pt x="301958" y="48846"/>
                </a:cubicBezTo>
                <a:cubicBezTo>
                  <a:pt x="324015" y="48846"/>
                  <a:pt x="341923" y="66754"/>
                  <a:pt x="341923" y="88811"/>
                </a:cubicBezTo>
                <a:cubicBezTo>
                  <a:pt x="341923" y="110868"/>
                  <a:pt x="324015" y="128776"/>
                  <a:pt x="301958" y="128776"/>
                </a:cubicBezTo>
                <a:cubicBezTo>
                  <a:pt x="279901" y="128776"/>
                  <a:pt x="261993" y="110868"/>
                  <a:pt x="261993" y="88811"/>
                </a:cubicBezTo>
                <a:close/>
                <a:moveTo>
                  <a:pt x="88811" y="239790"/>
                </a:moveTo>
                <a:cubicBezTo>
                  <a:pt x="88811" y="190722"/>
                  <a:pt x="128554" y="150979"/>
                  <a:pt x="177622" y="150979"/>
                </a:cubicBezTo>
                <a:cubicBezTo>
                  <a:pt x="226691" y="150979"/>
                  <a:pt x="266434" y="190722"/>
                  <a:pt x="266434" y="239790"/>
                </a:cubicBezTo>
                <a:lnTo>
                  <a:pt x="266434" y="248671"/>
                </a:lnTo>
                <a:cubicBezTo>
                  <a:pt x="266434" y="258496"/>
                  <a:pt x="258496" y="266434"/>
                  <a:pt x="248671" y="266434"/>
                </a:cubicBezTo>
                <a:lnTo>
                  <a:pt x="106573" y="266434"/>
                </a:lnTo>
                <a:cubicBezTo>
                  <a:pt x="96749" y="266434"/>
                  <a:pt x="88811" y="258496"/>
                  <a:pt x="88811" y="248671"/>
                </a:cubicBezTo>
                <a:lnTo>
                  <a:pt x="88811" y="239790"/>
                </a:ln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1136783" y="378928"/>
            <a:ext cx="4859748" cy="265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92">
                <a:solidFill>
                  <a:srgbClr val="2D6A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WHO HAS THIS PROBLEM?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1136783" y="644177"/>
            <a:ext cx="4992373" cy="454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80">
                <a:solidFill>
                  <a:srgbClr val="1A1A2E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Who Experiences This?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378928" y="1326247"/>
            <a:ext cx="5570238" cy="5532345"/>
          </a:xfrm>
          <a:custGeom>
            <a:rect b="b" l="l" r="r" t="t"/>
            <a:pathLst>
              <a:path extrusionOk="0" h="5532345" w="5570238">
                <a:moveTo>
                  <a:pt x="227379" y="0"/>
                </a:moveTo>
                <a:lnTo>
                  <a:pt x="5342858" y="0"/>
                </a:lnTo>
                <a:cubicBezTo>
                  <a:pt x="5468437" y="0"/>
                  <a:pt x="5570238" y="101801"/>
                  <a:pt x="5570238" y="227379"/>
                </a:cubicBezTo>
                <a:lnTo>
                  <a:pt x="5570238" y="5304966"/>
                </a:lnTo>
                <a:cubicBezTo>
                  <a:pt x="5570238" y="5430544"/>
                  <a:pt x="5468437" y="5532345"/>
                  <a:pt x="5342858" y="5532345"/>
                </a:cubicBezTo>
                <a:lnTo>
                  <a:pt x="227379" y="5532345"/>
                </a:lnTo>
                <a:cubicBezTo>
                  <a:pt x="101801" y="5532345"/>
                  <a:pt x="0" y="5430544"/>
                  <a:pt x="0" y="5304966"/>
                </a:cubicBezTo>
                <a:lnTo>
                  <a:pt x="0" y="227379"/>
                </a:lnTo>
                <a:cubicBezTo>
                  <a:pt x="0" y="101885"/>
                  <a:pt x="101885" y="0"/>
                  <a:pt x="227379" y="0"/>
                </a:cubicBezTo>
                <a:close/>
              </a:path>
            </a:pathLst>
          </a:custGeom>
          <a:gradFill>
            <a:gsLst>
              <a:gs pos="0">
                <a:srgbClr val="E85D04"/>
              </a:gs>
              <a:gs pos="100000">
                <a:srgbClr val="F48C06"/>
              </a:gs>
            </a:gsLst>
            <a:lin ang="2700000" scaled="0"/>
          </a:gradFill>
          <a:ln>
            <a:noFill/>
          </a:ln>
          <a:effectLst>
            <a:outerShdw blurRad="236830" rotWithShape="0" algn="bl" dir="5400000" dist="189464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682070" y="1629389"/>
            <a:ext cx="530499" cy="530499"/>
          </a:xfrm>
          <a:custGeom>
            <a:rect b="b" l="l" r="r" t="t"/>
            <a:pathLst>
              <a:path extrusionOk="0" h="530499" w="530499">
                <a:moveTo>
                  <a:pt x="265249" y="0"/>
                </a:moveTo>
                <a:lnTo>
                  <a:pt x="265249" y="0"/>
                </a:lnTo>
                <a:cubicBezTo>
                  <a:pt x="411645" y="0"/>
                  <a:pt x="530499" y="118854"/>
                  <a:pt x="530499" y="265249"/>
                </a:cubicBezTo>
                <a:lnTo>
                  <a:pt x="530499" y="265249"/>
                </a:lnTo>
                <a:cubicBezTo>
                  <a:pt x="530499" y="411645"/>
                  <a:pt x="411645" y="530499"/>
                  <a:pt x="265249" y="530499"/>
                </a:cubicBezTo>
                <a:lnTo>
                  <a:pt x="265249" y="530499"/>
                </a:lnTo>
                <a:cubicBezTo>
                  <a:pt x="118854" y="530499"/>
                  <a:pt x="0" y="411645"/>
                  <a:pt x="0" y="265249"/>
                </a:cubicBezTo>
                <a:lnTo>
                  <a:pt x="0" y="265249"/>
                </a:lnTo>
                <a:cubicBezTo>
                  <a:pt x="0" y="118854"/>
                  <a:pt x="118854" y="0"/>
                  <a:pt x="265249" y="0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847851" y="1780960"/>
            <a:ext cx="198937" cy="227357"/>
          </a:xfrm>
          <a:custGeom>
            <a:rect b="b" l="l" r="r" t="t"/>
            <a:pathLst>
              <a:path extrusionOk="0" h="227357" w="198937">
                <a:moveTo>
                  <a:pt x="107772" y="35524"/>
                </a:moveTo>
                <a:lnTo>
                  <a:pt x="148315" y="35524"/>
                </a:lnTo>
                <a:cubicBezTo>
                  <a:pt x="143563" y="24601"/>
                  <a:pt x="135215" y="15586"/>
                  <a:pt x="124824" y="9947"/>
                </a:cubicBezTo>
                <a:lnTo>
                  <a:pt x="107772" y="35524"/>
                </a:lnTo>
                <a:close/>
                <a:moveTo>
                  <a:pt x="107373" y="4130"/>
                </a:moveTo>
                <a:cubicBezTo>
                  <a:pt x="104797" y="3730"/>
                  <a:pt x="102133" y="3552"/>
                  <a:pt x="99469" y="3552"/>
                </a:cubicBezTo>
                <a:cubicBezTo>
                  <a:pt x="77621" y="3552"/>
                  <a:pt x="58837" y="16697"/>
                  <a:pt x="50622" y="35524"/>
                </a:cubicBezTo>
                <a:lnTo>
                  <a:pt x="86413" y="35524"/>
                </a:lnTo>
                <a:lnTo>
                  <a:pt x="107328" y="4130"/>
                </a:lnTo>
                <a:close/>
                <a:moveTo>
                  <a:pt x="99469" y="110126"/>
                </a:moveTo>
                <a:cubicBezTo>
                  <a:pt x="128909" y="110126"/>
                  <a:pt x="152755" y="86280"/>
                  <a:pt x="152755" y="56839"/>
                </a:cubicBezTo>
                <a:lnTo>
                  <a:pt x="46182" y="56839"/>
                </a:lnTo>
                <a:cubicBezTo>
                  <a:pt x="46182" y="86280"/>
                  <a:pt x="70028" y="110126"/>
                  <a:pt x="99469" y="110126"/>
                </a:cubicBezTo>
                <a:close/>
                <a:moveTo>
                  <a:pt x="43828" y="151778"/>
                </a:moveTo>
                <a:cubicBezTo>
                  <a:pt x="21892" y="164390"/>
                  <a:pt x="7105" y="188058"/>
                  <a:pt x="7105" y="215190"/>
                </a:cubicBezTo>
                <a:cubicBezTo>
                  <a:pt x="7105" y="221895"/>
                  <a:pt x="12567" y="227357"/>
                  <a:pt x="19272" y="227357"/>
                </a:cubicBezTo>
                <a:lnTo>
                  <a:pt x="86324" y="227357"/>
                </a:lnTo>
                <a:lnTo>
                  <a:pt x="43784" y="151778"/>
                </a:lnTo>
                <a:close/>
                <a:moveTo>
                  <a:pt x="63855" y="143919"/>
                </a:moveTo>
                <a:lnTo>
                  <a:pt x="82816" y="177622"/>
                </a:lnTo>
                <a:lnTo>
                  <a:pt x="120783" y="177622"/>
                </a:lnTo>
                <a:cubicBezTo>
                  <a:pt x="140410" y="177622"/>
                  <a:pt x="156308" y="193520"/>
                  <a:pt x="156308" y="213147"/>
                </a:cubicBezTo>
                <a:cubicBezTo>
                  <a:pt x="156308" y="218209"/>
                  <a:pt x="155242" y="223005"/>
                  <a:pt x="153333" y="227357"/>
                </a:cubicBezTo>
                <a:lnTo>
                  <a:pt x="179621" y="227357"/>
                </a:lnTo>
                <a:cubicBezTo>
                  <a:pt x="186326" y="227357"/>
                  <a:pt x="191788" y="221895"/>
                  <a:pt x="191788" y="215190"/>
                </a:cubicBezTo>
                <a:cubicBezTo>
                  <a:pt x="191788" y="174825"/>
                  <a:pt x="159061" y="142098"/>
                  <a:pt x="118696" y="142098"/>
                </a:cubicBezTo>
                <a:lnTo>
                  <a:pt x="80108" y="142098"/>
                </a:lnTo>
                <a:cubicBezTo>
                  <a:pt x="74513" y="142098"/>
                  <a:pt x="69051" y="142720"/>
                  <a:pt x="63811" y="143919"/>
                </a:cubicBezTo>
                <a:close/>
                <a:moveTo>
                  <a:pt x="94806" y="198937"/>
                </a:moveTo>
                <a:lnTo>
                  <a:pt x="110792" y="227357"/>
                </a:lnTo>
                <a:lnTo>
                  <a:pt x="120783" y="227357"/>
                </a:lnTo>
                <a:cubicBezTo>
                  <a:pt x="128643" y="227357"/>
                  <a:pt x="134993" y="221007"/>
                  <a:pt x="134993" y="213147"/>
                </a:cubicBezTo>
                <a:cubicBezTo>
                  <a:pt x="134993" y="205287"/>
                  <a:pt x="128643" y="198937"/>
                  <a:pt x="120783" y="198937"/>
                </a:cubicBezTo>
                <a:lnTo>
                  <a:pt x="94806" y="198937"/>
                </a:lnTo>
                <a:close/>
              </a:path>
            </a:pathLst>
          </a:custGeom>
          <a:solidFill>
            <a:srgbClr val="E85D0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326247" y="1724121"/>
            <a:ext cx="1932531" cy="34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38">
                <a:solidFill>
                  <a:srgbClr val="FFF8F0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Primary Users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682070" y="2387245"/>
            <a:ext cx="5058685" cy="265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92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(Direct Pain)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682070" y="2879851"/>
            <a:ext cx="4963953" cy="1743068"/>
          </a:xfrm>
          <a:custGeom>
            <a:rect b="b" l="l" r="r" t="t"/>
            <a:pathLst>
              <a:path extrusionOk="0" h="1743068" w="4963953">
                <a:moveTo>
                  <a:pt x="151577" y="0"/>
                </a:moveTo>
                <a:lnTo>
                  <a:pt x="4812376" y="0"/>
                </a:lnTo>
                <a:cubicBezTo>
                  <a:pt x="4896090" y="0"/>
                  <a:pt x="4963953" y="67863"/>
                  <a:pt x="4963953" y="151577"/>
                </a:cubicBezTo>
                <a:lnTo>
                  <a:pt x="4963953" y="1591490"/>
                </a:lnTo>
                <a:cubicBezTo>
                  <a:pt x="4963953" y="1675204"/>
                  <a:pt x="4896090" y="1743068"/>
                  <a:pt x="4812376" y="1743068"/>
                </a:cubicBezTo>
                <a:lnTo>
                  <a:pt x="151577" y="1743068"/>
                </a:lnTo>
                <a:cubicBezTo>
                  <a:pt x="67919" y="1743068"/>
                  <a:pt x="0" y="1675148"/>
                  <a:pt x="0" y="1591490"/>
                </a:cubicBezTo>
                <a:lnTo>
                  <a:pt x="0" y="151577"/>
                </a:lnTo>
                <a:cubicBezTo>
                  <a:pt x="0" y="67863"/>
                  <a:pt x="67863" y="0"/>
                  <a:pt x="151577" y="0"/>
                </a:cubicBezTo>
                <a:close/>
              </a:path>
            </a:pathLst>
          </a:custGeom>
          <a:solidFill>
            <a:srgbClr val="FFF8F0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871534" y="3069315"/>
            <a:ext cx="4698704" cy="303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90">
                <a:solidFill>
                  <a:srgbClr val="FFF8F0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University Students (Pakistan)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871534" y="3486135"/>
            <a:ext cx="142098" cy="265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1003270" y="3486135"/>
            <a:ext cx="2984056" cy="265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Limited monthly budgets (~PKR 15–25k)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871534" y="3827170"/>
            <a:ext cx="142098" cy="265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1003270" y="3827170"/>
            <a:ext cx="2709333" cy="265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Shared kitchens / hostel constraints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871534" y="4168205"/>
            <a:ext cx="142098" cy="265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1003270" y="4168205"/>
            <a:ext cx="2624075" cy="265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Frequent reliance on delivery apps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82070" y="4812382"/>
            <a:ext cx="4963953" cy="1743068"/>
          </a:xfrm>
          <a:custGeom>
            <a:rect b="b" l="l" r="r" t="t"/>
            <a:pathLst>
              <a:path extrusionOk="0" h="1743068" w="4963953">
                <a:moveTo>
                  <a:pt x="151577" y="0"/>
                </a:moveTo>
                <a:lnTo>
                  <a:pt x="4812376" y="0"/>
                </a:lnTo>
                <a:cubicBezTo>
                  <a:pt x="4896090" y="0"/>
                  <a:pt x="4963953" y="67863"/>
                  <a:pt x="4963953" y="151577"/>
                </a:cubicBezTo>
                <a:lnTo>
                  <a:pt x="4963953" y="1591490"/>
                </a:lnTo>
                <a:cubicBezTo>
                  <a:pt x="4963953" y="1675204"/>
                  <a:pt x="4896090" y="1743068"/>
                  <a:pt x="4812376" y="1743068"/>
                </a:cubicBezTo>
                <a:lnTo>
                  <a:pt x="151577" y="1743068"/>
                </a:lnTo>
                <a:cubicBezTo>
                  <a:pt x="67919" y="1743068"/>
                  <a:pt x="0" y="1675148"/>
                  <a:pt x="0" y="1591490"/>
                </a:cubicBezTo>
                <a:lnTo>
                  <a:pt x="0" y="151577"/>
                </a:lnTo>
                <a:cubicBezTo>
                  <a:pt x="0" y="67863"/>
                  <a:pt x="67863" y="0"/>
                  <a:pt x="151577" y="0"/>
                </a:cubicBezTo>
                <a:close/>
              </a:path>
            </a:pathLst>
          </a:custGeom>
          <a:solidFill>
            <a:srgbClr val="FFF8F0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871534" y="5001846"/>
            <a:ext cx="4698704" cy="303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90">
                <a:solidFill>
                  <a:srgbClr val="FFF8F0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Young Urban Professionals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871534" y="5418667"/>
            <a:ext cx="142098" cy="265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1003270" y="5418667"/>
            <a:ext cx="1875692" cy="265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45–50 hour work weeks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871534" y="5759702"/>
            <a:ext cx="142098" cy="265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1003270" y="5759702"/>
            <a:ext cx="1487291" cy="265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Irregular schedules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871534" y="6100737"/>
            <a:ext cx="142098" cy="265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1003270" y="6100737"/>
            <a:ext cx="2965110" cy="265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Health goals but inconsistent execution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257488" y="1335720"/>
            <a:ext cx="5551291" cy="5513399"/>
          </a:xfrm>
          <a:custGeom>
            <a:rect b="b" l="l" r="r" t="t"/>
            <a:pathLst>
              <a:path extrusionOk="0" h="5513399" w="5551291">
                <a:moveTo>
                  <a:pt x="227373" y="0"/>
                </a:moveTo>
                <a:lnTo>
                  <a:pt x="5323919" y="0"/>
                </a:lnTo>
                <a:cubicBezTo>
                  <a:pt x="5449493" y="0"/>
                  <a:pt x="5551291" y="101798"/>
                  <a:pt x="5551291" y="227373"/>
                </a:cubicBezTo>
                <a:lnTo>
                  <a:pt x="5551291" y="5286026"/>
                </a:lnTo>
                <a:cubicBezTo>
                  <a:pt x="5551291" y="5411600"/>
                  <a:pt x="5449493" y="5513399"/>
                  <a:pt x="5323919" y="5513399"/>
                </a:cubicBezTo>
                <a:lnTo>
                  <a:pt x="227373" y="5513399"/>
                </a:lnTo>
                <a:cubicBezTo>
                  <a:pt x="101798" y="5513399"/>
                  <a:pt x="0" y="5411600"/>
                  <a:pt x="0" y="5286026"/>
                </a:cubicBezTo>
                <a:lnTo>
                  <a:pt x="0" y="227373"/>
                </a:lnTo>
                <a:cubicBezTo>
                  <a:pt x="0" y="101798"/>
                  <a:pt x="101798" y="0"/>
                  <a:pt x="227373" y="0"/>
                </a:cubicBezTo>
                <a:close/>
              </a:path>
            </a:pathLst>
          </a:custGeom>
          <a:solidFill>
            <a:srgbClr val="FFFFFF"/>
          </a:solidFill>
          <a:ln cap="flat" cmpd="sng" w="25400">
            <a:solidFill>
              <a:srgbClr val="2D6A4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36830" rotWithShape="0" algn="bl" dir="5400000" dist="189464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570104" y="1648336"/>
            <a:ext cx="530499" cy="530499"/>
          </a:xfrm>
          <a:custGeom>
            <a:rect b="b" l="l" r="r" t="t"/>
            <a:pathLst>
              <a:path extrusionOk="0" h="530499" w="530499">
                <a:moveTo>
                  <a:pt x="265249" y="0"/>
                </a:moveTo>
                <a:lnTo>
                  <a:pt x="265249" y="0"/>
                </a:lnTo>
                <a:cubicBezTo>
                  <a:pt x="411645" y="0"/>
                  <a:pt x="530499" y="118854"/>
                  <a:pt x="530499" y="265249"/>
                </a:cubicBezTo>
                <a:lnTo>
                  <a:pt x="530499" y="265249"/>
                </a:lnTo>
                <a:cubicBezTo>
                  <a:pt x="530499" y="411645"/>
                  <a:pt x="411645" y="530499"/>
                  <a:pt x="265249" y="530499"/>
                </a:cubicBezTo>
                <a:lnTo>
                  <a:pt x="265249" y="530499"/>
                </a:lnTo>
                <a:cubicBezTo>
                  <a:pt x="118854" y="530499"/>
                  <a:pt x="0" y="411645"/>
                  <a:pt x="0" y="265249"/>
                </a:cubicBezTo>
                <a:lnTo>
                  <a:pt x="0" y="265249"/>
                </a:lnTo>
                <a:cubicBezTo>
                  <a:pt x="0" y="118854"/>
                  <a:pt x="118854" y="0"/>
                  <a:pt x="265249" y="0"/>
                </a:cubicBez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707465" y="1799907"/>
            <a:ext cx="255776" cy="227357"/>
          </a:xfrm>
          <a:custGeom>
            <a:rect b="b" l="l" r="r" t="t"/>
            <a:pathLst>
              <a:path extrusionOk="0" h="227357" w="255776">
                <a:moveTo>
                  <a:pt x="28420" y="56839"/>
                </a:moveTo>
                <a:cubicBezTo>
                  <a:pt x="28420" y="29390"/>
                  <a:pt x="50705" y="7105"/>
                  <a:pt x="78154" y="7105"/>
                </a:cubicBezTo>
                <a:cubicBezTo>
                  <a:pt x="105603" y="7105"/>
                  <a:pt x="127888" y="29390"/>
                  <a:pt x="127888" y="56839"/>
                </a:cubicBezTo>
                <a:cubicBezTo>
                  <a:pt x="127888" y="84288"/>
                  <a:pt x="105603" y="106573"/>
                  <a:pt x="78154" y="106573"/>
                </a:cubicBezTo>
                <a:cubicBezTo>
                  <a:pt x="50705" y="106573"/>
                  <a:pt x="28420" y="84288"/>
                  <a:pt x="28420" y="56839"/>
                </a:cubicBezTo>
                <a:close/>
                <a:moveTo>
                  <a:pt x="0" y="206042"/>
                </a:moveTo>
                <a:cubicBezTo>
                  <a:pt x="0" y="162880"/>
                  <a:pt x="34992" y="127888"/>
                  <a:pt x="78154" y="127888"/>
                </a:cubicBezTo>
                <a:cubicBezTo>
                  <a:pt x="121316" y="127888"/>
                  <a:pt x="156308" y="162880"/>
                  <a:pt x="156308" y="206042"/>
                </a:cubicBezTo>
                <a:lnTo>
                  <a:pt x="156308" y="208706"/>
                </a:lnTo>
                <a:cubicBezTo>
                  <a:pt x="156308" y="219008"/>
                  <a:pt x="147959" y="227357"/>
                  <a:pt x="137657" y="227357"/>
                </a:cubicBezTo>
                <a:lnTo>
                  <a:pt x="18650" y="227357"/>
                </a:lnTo>
                <a:cubicBezTo>
                  <a:pt x="8348" y="227357"/>
                  <a:pt x="0" y="219008"/>
                  <a:pt x="0" y="208706"/>
                </a:cubicBezTo>
                <a:lnTo>
                  <a:pt x="0" y="206042"/>
                </a:lnTo>
                <a:close/>
                <a:moveTo>
                  <a:pt x="191832" y="28420"/>
                </a:moveTo>
                <a:cubicBezTo>
                  <a:pt x="215360" y="28420"/>
                  <a:pt x="234462" y="47521"/>
                  <a:pt x="234462" y="71049"/>
                </a:cubicBezTo>
                <a:cubicBezTo>
                  <a:pt x="234462" y="94577"/>
                  <a:pt x="215360" y="113678"/>
                  <a:pt x="191832" y="113678"/>
                </a:cubicBezTo>
                <a:cubicBezTo>
                  <a:pt x="168304" y="113678"/>
                  <a:pt x="149203" y="94577"/>
                  <a:pt x="149203" y="71049"/>
                </a:cubicBezTo>
                <a:cubicBezTo>
                  <a:pt x="149203" y="47521"/>
                  <a:pt x="168304" y="28420"/>
                  <a:pt x="191832" y="28420"/>
                </a:cubicBezTo>
                <a:close/>
                <a:moveTo>
                  <a:pt x="191832" y="134993"/>
                </a:moveTo>
                <a:cubicBezTo>
                  <a:pt x="227135" y="134993"/>
                  <a:pt x="255776" y="163635"/>
                  <a:pt x="255776" y="198937"/>
                </a:cubicBezTo>
                <a:lnTo>
                  <a:pt x="255776" y="208884"/>
                </a:lnTo>
                <a:cubicBezTo>
                  <a:pt x="255776" y="219097"/>
                  <a:pt x="247517" y="227357"/>
                  <a:pt x="237303" y="227357"/>
                </a:cubicBezTo>
                <a:lnTo>
                  <a:pt x="173004" y="227357"/>
                </a:lnTo>
                <a:cubicBezTo>
                  <a:pt x="175935" y="221806"/>
                  <a:pt x="177622" y="215456"/>
                  <a:pt x="177622" y="208706"/>
                </a:cubicBezTo>
                <a:lnTo>
                  <a:pt x="177622" y="206042"/>
                </a:lnTo>
                <a:cubicBezTo>
                  <a:pt x="177622" y="183173"/>
                  <a:pt x="169896" y="162125"/>
                  <a:pt x="156974" y="145340"/>
                </a:cubicBezTo>
                <a:cubicBezTo>
                  <a:pt x="167009" y="138812"/>
                  <a:pt x="178999" y="134993"/>
                  <a:pt x="191832" y="134993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7214281" y="1743068"/>
            <a:ext cx="3287198" cy="34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38">
                <a:solidFill>
                  <a:srgbClr val="1A1A2E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Secondary Stakeholders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570104" y="2406191"/>
            <a:ext cx="5020793" cy="265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92">
                <a:solidFill>
                  <a:srgbClr val="2D6A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(Indirect Impact)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570104" y="3025057"/>
            <a:ext cx="4926061" cy="833641"/>
          </a:xfrm>
          <a:custGeom>
            <a:rect b="b" l="l" r="r" t="t"/>
            <a:pathLst>
              <a:path extrusionOk="0" h="833641" w="4926061">
                <a:moveTo>
                  <a:pt x="151573" y="0"/>
                </a:moveTo>
                <a:lnTo>
                  <a:pt x="4774488" y="0"/>
                </a:lnTo>
                <a:cubicBezTo>
                  <a:pt x="4858199" y="0"/>
                  <a:pt x="4926061" y="67861"/>
                  <a:pt x="4926061" y="151573"/>
                </a:cubicBezTo>
                <a:lnTo>
                  <a:pt x="4926061" y="682068"/>
                </a:lnTo>
                <a:cubicBezTo>
                  <a:pt x="4926061" y="765780"/>
                  <a:pt x="4858199" y="833641"/>
                  <a:pt x="4774488" y="833641"/>
                </a:cubicBezTo>
                <a:lnTo>
                  <a:pt x="151573" y="833641"/>
                </a:lnTo>
                <a:cubicBezTo>
                  <a:pt x="67861" y="833641"/>
                  <a:pt x="0" y="765780"/>
                  <a:pt x="0" y="682068"/>
                </a:cubicBezTo>
                <a:lnTo>
                  <a:pt x="0" y="151573"/>
                </a:lnTo>
                <a:cubicBezTo>
                  <a:pt x="0" y="67917"/>
                  <a:pt x="67917" y="0"/>
                  <a:pt x="151573" y="0"/>
                </a:cubicBezTo>
                <a:close/>
              </a:path>
            </a:pathLst>
          </a:custGeom>
          <a:solidFill>
            <a:srgbClr val="2D6A4F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6759568" y="3214521"/>
            <a:ext cx="454713" cy="454713"/>
          </a:xfrm>
          <a:custGeom>
            <a:rect b="b" l="l" r="r" t="t"/>
            <a:pathLst>
              <a:path extrusionOk="0" h="454713" w="454713">
                <a:moveTo>
                  <a:pt x="113678" y="0"/>
                </a:moveTo>
                <a:lnTo>
                  <a:pt x="341035" y="0"/>
                </a:lnTo>
                <a:cubicBezTo>
                  <a:pt x="403818" y="0"/>
                  <a:pt x="454713" y="50896"/>
                  <a:pt x="454713" y="113678"/>
                </a:cubicBezTo>
                <a:lnTo>
                  <a:pt x="454713" y="341035"/>
                </a:lnTo>
                <a:cubicBezTo>
                  <a:pt x="454713" y="403818"/>
                  <a:pt x="403818" y="454713"/>
                  <a:pt x="341035" y="454713"/>
                </a:cubicBezTo>
                <a:lnTo>
                  <a:pt x="113678" y="454713"/>
                </a:lnTo>
                <a:cubicBezTo>
                  <a:pt x="50896" y="454713"/>
                  <a:pt x="0" y="403818"/>
                  <a:pt x="0" y="341035"/>
                </a:cubicBezTo>
                <a:lnTo>
                  <a:pt x="0" y="113678"/>
                </a:lnTo>
                <a:cubicBezTo>
                  <a:pt x="0" y="50938"/>
                  <a:pt x="50938" y="0"/>
                  <a:pt x="113678" y="0"/>
                </a:cubicBez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892192" y="3347146"/>
            <a:ext cx="189464" cy="189464"/>
          </a:xfrm>
          <a:custGeom>
            <a:rect b="b" l="l" r="r" t="t"/>
            <a:pathLst>
              <a:path extrusionOk="0" h="189464" w="189464">
                <a:moveTo>
                  <a:pt x="24386" y="84556"/>
                </a:moveTo>
                <a:cubicBezTo>
                  <a:pt x="29308" y="50141"/>
                  <a:pt x="58948" y="23683"/>
                  <a:pt x="94732" y="23683"/>
                </a:cubicBezTo>
                <a:cubicBezTo>
                  <a:pt x="114344" y="23683"/>
                  <a:pt x="132107" y="31639"/>
                  <a:pt x="144984" y="44480"/>
                </a:cubicBezTo>
                <a:cubicBezTo>
                  <a:pt x="145058" y="44554"/>
                  <a:pt x="145132" y="44628"/>
                  <a:pt x="145206" y="44702"/>
                </a:cubicBezTo>
                <a:lnTo>
                  <a:pt x="148019" y="47366"/>
                </a:lnTo>
                <a:lnTo>
                  <a:pt x="130293" y="47366"/>
                </a:lnTo>
                <a:cubicBezTo>
                  <a:pt x="123744" y="47366"/>
                  <a:pt x="118452" y="52658"/>
                  <a:pt x="118452" y="59207"/>
                </a:cubicBezTo>
                <a:cubicBezTo>
                  <a:pt x="118452" y="65757"/>
                  <a:pt x="123744" y="71049"/>
                  <a:pt x="130293" y="71049"/>
                </a:cubicBezTo>
                <a:lnTo>
                  <a:pt x="177659" y="71049"/>
                </a:lnTo>
                <a:cubicBezTo>
                  <a:pt x="184209" y="71049"/>
                  <a:pt x="189501" y="65757"/>
                  <a:pt x="189501" y="59207"/>
                </a:cubicBezTo>
                <a:lnTo>
                  <a:pt x="189501" y="11841"/>
                </a:lnTo>
                <a:cubicBezTo>
                  <a:pt x="189501" y="5292"/>
                  <a:pt x="184209" y="0"/>
                  <a:pt x="177659" y="0"/>
                </a:cubicBezTo>
                <a:cubicBezTo>
                  <a:pt x="171110" y="0"/>
                  <a:pt x="165818" y="5292"/>
                  <a:pt x="165818" y="11841"/>
                </a:cubicBezTo>
                <a:lnTo>
                  <a:pt x="165818" y="31602"/>
                </a:lnTo>
                <a:lnTo>
                  <a:pt x="161636" y="27642"/>
                </a:lnTo>
                <a:cubicBezTo>
                  <a:pt x="144503" y="10583"/>
                  <a:pt x="120820" y="0"/>
                  <a:pt x="94732" y="0"/>
                </a:cubicBezTo>
                <a:cubicBezTo>
                  <a:pt x="46996" y="0"/>
                  <a:pt x="7512" y="35302"/>
                  <a:pt x="962" y="81225"/>
                </a:cubicBezTo>
                <a:cubicBezTo>
                  <a:pt x="37" y="87701"/>
                  <a:pt x="4515" y="93696"/>
                  <a:pt x="10990" y="94621"/>
                </a:cubicBezTo>
                <a:cubicBezTo>
                  <a:pt x="17466" y="95546"/>
                  <a:pt x="23461" y="91031"/>
                  <a:pt x="24386" y="84593"/>
                </a:cubicBezTo>
                <a:close/>
                <a:moveTo>
                  <a:pt x="188502" y="108239"/>
                </a:moveTo>
                <a:cubicBezTo>
                  <a:pt x="189427" y="101763"/>
                  <a:pt x="184912" y="95768"/>
                  <a:pt x="178473" y="94843"/>
                </a:cubicBezTo>
                <a:cubicBezTo>
                  <a:pt x="172035" y="93918"/>
                  <a:pt x="166003" y="98432"/>
                  <a:pt x="165078" y="104871"/>
                </a:cubicBezTo>
                <a:cubicBezTo>
                  <a:pt x="160156" y="139286"/>
                  <a:pt x="130515" y="165744"/>
                  <a:pt x="94732" y="165744"/>
                </a:cubicBezTo>
                <a:cubicBezTo>
                  <a:pt x="75119" y="165744"/>
                  <a:pt x="57357" y="157788"/>
                  <a:pt x="44480" y="144947"/>
                </a:cubicBezTo>
                <a:cubicBezTo>
                  <a:pt x="44406" y="144873"/>
                  <a:pt x="44332" y="144799"/>
                  <a:pt x="44258" y="144725"/>
                </a:cubicBezTo>
                <a:lnTo>
                  <a:pt x="41445" y="142061"/>
                </a:lnTo>
                <a:lnTo>
                  <a:pt x="59170" y="142061"/>
                </a:lnTo>
                <a:cubicBezTo>
                  <a:pt x="65720" y="142061"/>
                  <a:pt x="71012" y="136769"/>
                  <a:pt x="71012" y="130219"/>
                </a:cubicBezTo>
                <a:cubicBezTo>
                  <a:pt x="71012" y="123670"/>
                  <a:pt x="65720" y="118378"/>
                  <a:pt x="59170" y="118378"/>
                </a:cubicBezTo>
                <a:lnTo>
                  <a:pt x="11841" y="118415"/>
                </a:lnTo>
                <a:cubicBezTo>
                  <a:pt x="8696" y="118415"/>
                  <a:pt x="5662" y="119673"/>
                  <a:pt x="3441" y="121930"/>
                </a:cubicBezTo>
                <a:cubicBezTo>
                  <a:pt x="1221" y="124188"/>
                  <a:pt x="-37" y="127185"/>
                  <a:pt x="0" y="130367"/>
                </a:cubicBezTo>
                <a:lnTo>
                  <a:pt x="370" y="177363"/>
                </a:lnTo>
                <a:cubicBezTo>
                  <a:pt x="407" y="183913"/>
                  <a:pt x="5773" y="189168"/>
                  <a:pt x="12323" y="189094"/>
                </a:cubicBezTo>
                <a:cubicBezTo>
                  <a:pt x="18872" y="189020"/>
                  <a:pt x="24127" y="183691"/>
                  <a:pt x="24053" y="177141"/>
                </a:cubicBezTo>
                <a:lnTo>
                  <a:pt x="23905" y="158084"/>
                </a:lnTo>
                <a:lnTo>
                  <a:pt x="27865" y="161821"/>
                </a:lnTo>
                <a:cubicBezTo>
                  <a:pt x="44998" y="178881"/>
                  <a:pt x="68644" y="189464"/>
                  <a:pt x="94732" y="189464"/>
                </a:cubicBezTo>
                <a:cubicBezTo>
                  <a:pt x="142468" y="189464"/>
                  <a:pt x="181952" y="154161"/>
                  <a:pt x="188502" y="108239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7365852" y="3309253"/>
            <a:ext cx="2974583" cy="265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92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Families managing grocery budgets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6570104" y="4300830"/>
            <a:ext cx="4926061" cy="833641"/>
          </a:xfrm>
          <a:custGeom>
            <a:rect b="b" l="l" r="r" t="t"/>
            <a:pathLst>
              <a:path extrusionOk="0" h="833641" w="4926061">
                <a:moveTo>
                  <a:pt x="151573" y="0"/>
                </a:moveTo>
                <a:lnTo>
                  <a:pt x="4774488" y="0"/>
                </a:lnTo>
                <a:cubicBezTo>
                  <a:pt x="4858199" y="0"/>
                  <a:pt x="4926061" y="67861"/>
                  <a:pt x="4926061" y="151573"/>
                </a:cubicBezTo>
                <a:lnTo>
                  <a:pt x="4926061" y="682068"/>
                </a:lnTo>
                <a:cubicBezTo>
                  <a:pt x="4926061" y="765780"/>
                  <a:pt x="4858199" y="833641"/>
                  <a:pt x="4774488" y="833641"/>
                </a:cubicBezTo>
                <a:lnTo>
                  <a:pt x="151573" y="833641"/>
                </a:lnTo>
                <a:cubicBezTo>
                  <a:pt x="67861" y="833641"/>
                  <a:pt x="0" y="765780"/>
                  <a:pt x="0" y="682068"/>
                </a:cubicBezTo>
                <a:lnTo>
                  <a:pt x="0" y="151573"/>
                </a:lnTo>
                <a:cubicBezTo>
                  <a:pt x="0" y="67917"/>
                  <a:pt x="67917" y="0"/>
                  <a:pt x="151573" y="0"/>
                </a:cubicBezTo>
                <a:close/>
              </a:path>
            </a:pathLst>
          </a:custGeom>
          <a:solidFill>
            <a:srgbClr val="2D6A4F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759568" y="4490294"/>
            <a:ext cx="454713" cy="454713"/>
          </a:xfrm>
          <a:custGeom>
            <a:rect b="b" l="l" r="r" t="t"/>
            <a:pathLst>
              <a:path extrusionOk="0" h="454713" w="454713">
                <a:moveTo>
                  <a:pt x="113678" y="0"/>
                </a:moveTo>
                <a:lnTo>
                  <a:pt x="341035" y="0"/>
                </a:lnTo>
                <a:cubicBezTo>
                  <a:pt x="403818" y="0"/>
                  <a:pt x="454713" y="50896"/>
                  <a:pt x="454713" y="113678"/>
                </a:cubicBezTo>
                <a:lnTo>
                  <a:pt x="454713" y="341035"/>
                </a:lnTo>
                <a:cubicBezTo>
                  <a:pt x="454713" y="403818"/>
                  <a:pt x="403818" y="454713"/>
                  <a:pt x="341035" y="454713"/>
                </a:cubicBezTo>
                <a:lnTo>
                  <a:pt x="113678" y="454713"/>
                </a:lnTo>
                <a:cubicBezTo>
                  <a:pt x="50896" y="454713"/>
                  <a:pt x="0" y="403818"/>
                  <a:pt x="0" y="341035"/>
                </a:cubicBezTo>
                <a:lnTo>
                  <a:pt x="0" y="113678"/>
                </a:lnTo>
                <a:cubicBezTo>
                  <a:pt x="0" y="50938"/>
                  <a:pt x="50938" y="0"/>
                  <a:pt x="113678" y="0"/>
                </a:cubicBez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915875" y="4622918"/>
            <a:ext cx="142098" cy="189464"/>
          </a:xfrm>
          <a:custGeom>
            <a:rect b="b" l="l" r="r" t="t"/>
            <a:pathLst>
              <a:path extrusionOk="0" h="189464" w="142098">
                <a:moveTo>
                  <a:pt x="44406" y="32564"/>
                </a:moveTo>
                <a:cubicBezTo>
                  <a:pt x="44406" y="17859"/>
                  <a:pt x="56344" y="5921"/>
                  <a:pt x="71049" y="5921"/>
                </a:cubicBezTo>
                <a:cubicBezTo>
                  <a:pt x="85754" y="5921"/>
                  <a:pt x="97692" y="17859"/>
                  <a:pt x="97692" y="32564"/>
                </a:cubicBezTo>
                <a:cubicBezTo>
                  <a:pt x="97692" y="47269"/>
                  <a:pt x="85754" y="59207"/>
                  <a:pt x="71049" y="59207"/>
                </a:cubicBezTo>
                <a:cubicBezTo>
                  <a:pt x="56344" y="59207"/>
                  <a:pt x="44406" y="47269"/>
                  <a:pt x="44406" y="32564"/>
                </a:cubicBezTo>
                <a:close/>
                <a:moveTo>
                  <a:pt x="2849" y="53472"/>
                </a:moveTo>
                <a:cubicBezTo>
                  <a:pt x="7660" y="46848"/>
                  <a:pt x="16911" y="45405"/>
                  <a:pt x="23535" y="50215"/>
                </a:cubicBezTo>
                <a:lnTo>
                  <a:pt x="36931" y="59948"/>
                </a:lnTo>
                <a:cubicBezTo>
                  <a:pt x="46848" y="67163"/>
                  <a:pt x="58800" y="71049"/>
                  <a:pt x="71049" y="71049"/>
                </a:cubicBezTo>
                <a:cubicBezTo>
                  <a:pt x="83297" y="71049"/>
                  <a:pt x="95250" y="67163"/>
                  <a:pt x="105167" y="59948"/>
                </a:cubicBezTo>
                <a:lnTo>
                  <a:pt x="118563" y="50178"/>
                </a:lnTo>
                <a:cubicBezTo>
                  <a:pt x="125187" y="45368"/>
                  <a:pt x="134438" y="46848"/>
                  <a:pt x="139249" y="53435"/>
                </a:cubicBezTo>
                <a:cubicBezTo>
                  <a:pt x="144059" y="60022"/>
                  <a:pt x="142579" y="69310"/>
                  <a:pt x="135992" y="74120"/>
                </a:cubicBezTo>
                <a:lnTo>
                  <a:pt x="122596" y="83890"/>
                </a:lnTo>
                <a:cubicBezTo>
                  <a:pt x="117564" y="87553"/>
                  <a:pt x="112198" y="90624"/>
                  <a:pt x="106573" y="93141"/>
                </a:cubicBezTo>
                <a:lnTo>
                  <a:pt x="106573" y="106573"/>
                </a:lnTo>
                <a:lnTo>
                  <a:pt x="35524" y="106573"/>
                </a:lnTo>
                <a:lnTo>
                  <a:pt x="35524" y="93141"/>
                </a:lnTo>
                <a:cubicBezTo>
                  <a:pt x="29900" y="90661"/>
                  <a:pt x="24534" y="87553"/>
                  <a:pt x="19501" y="83890"/>
                </a:cubicBezTo>
                <a:lnTo>
                  <a:pt x="6106" y="74120"/>
                </a:lnTo>
                <a:cubicBezTo>
                  <a:pt x="-518" y="69310"/>
                  <a:pt x="-1961" y="60059"/>
                  <a:pt x="2849" y="53435"/>
                </a:cubicBezTo>
                <a:close/>
                <a:moveTo>
                  <a:pt x="36080" y="121856"/>
                </a:moveTo>
                <a:lnTo>
                  <a:pt x="58504" y="141469"/>
                </a:lnTo>
                <a:lnTo>
                  <a:pt x="48883" y="155235"/>
                </a:lnTo>
                <a:lnTo>
                  <a:pt x="57875" y="164227"/>
                </a:lnTo>
                <a:cubicBezTo>
                  <a:pt x="63648" y="169999"/>
                  <a:pt x="63648" y="179362"/>
                  <a:pt x="57875" y="185171"/>
                </a:cubicBezTo>
                <a:cubicBezTo>
                  <a:pt x="52103" y="190981"/>
                  <a:pt x="42740" y="190944"/>
                  <a:pt x="36931" y="185171"/>
                </a:cubicBezTo>
                <a:lnTo>
                  <a:pt x="19168" y="167409"/>
                </a:lnTo>
                <a:cubicBezTo>
                  <a:pt x="14062" y="162302"/>
                  <a:pt x="13359" y="154309"/>
                  <a:pt x="17466" y="148426"/>
                </a:cubicBezTo>
                <a:lnTo>
                  <a:pt x="36043" y="121856"/>
                </a:lnTo>
                <a:close/>
                <a:moveTo>
                  <a:pt x="83631" y="141469"/>
                </a:moveTo>
                <a:lnTo>
                  <a:pt x="106055" y="121856"/>
                </a:lnTo>
                <a:lnTo>
                  <a:pt x="124632" y="148426"/>
                </a:lnTo>
                <a:cubicBezTo>
                  <a:pt x="128739" y="154309"/>
                  <a:pt x="128036" y="162302"/>
                  <a:pt x="122966" y="167372"/>
                </a:cubicBezTo>
                <a:lnTo>
                  <a:pt x="105204" y="185134"/>
                </a:lnTo>
                <a:cubicBezTo>
                  <a:pt x="99432" y="190907"/>
                  <a:pt x="90069" y="190907"/>
                  <a:pt x="84260" y="185134"/>
                </a:cubicBezTo>
                <a:cubicBezTo>
                  <a:pt x="78450" y="179362"/>
                  <a:pt x="78487" y="169999"/>
                  <a:pt x="84260" y="164190"/>
                </a:cubicBezTo>
                <a:lnTo>
                  <a:pt x="93252" y="155198"/>
                </a:lnTo>
                <a:lnTo>
                  <a:pt x="83631" y="141432"/>
                </a:ln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7365852" y="4585026"/>
            <a:ext cx="3571394" cy="265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92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Parents planning meals for multiple people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570104" y="5576455"/>
            <a:ext cx="4926061" cy="833641"/>
          </a:xfrm>
          <a:custGeom>
            <a:rect b="b" l="l" r="r" t="t"/>
            <a:pathLst>
              <a:path extrusionOk="0" h="833641" w="4926061">
                <a:moveTo>
                  <a:pt x="151573" y="0"/>
                </a:moveTo>
                <a:lnTo>
                  <a:pt x="4774488" y="0"/>
                </a:lnTo>
                <a:cubicBezTo>
                  <a:pt x="4858199" y="0"/>
                  <a:pt x="4926061" y="67861"/>
                  <a:pt x="4926061" y="151573"/>
                </a:cubicBezTo>
                <a:lnTo>
                  <a:pt x="4926061" y="682068"/>
                </a:lnTo>
                <a:cubicBezTo>
                  <a:pt x="4926061" y="765780"/>
                  <a:pt x="4858199" y="833641"/>
                  <a:pt x="4774488" y="833641"/>
                </a:cubicBezTo>
                <a:lnTo>
                  <a:pt x="151573" y="833641"/>
                </a:lnTo>
                <a:cubicBezTo>
                  <a:pt x="67861" y="833641"/>
                  <a:pt x="0" y="765780"/>
                  <a:pt x="0" y="682068"/>
                </a:cubicBezTo>
                <a:lnTo>
                  <a:pt x="0" y="151573"/>
                </a:lnTo>
                <a:cubicBezTo>
                  <a:pt x="0" y="67917"/>
                  <a:pt x="67917" y="0"/>
                  <a:pt x="151573" y="0"/>
                </a:cubicBezTo>
                <a:close/>
              </a:path>
            </a:pathLst>
          </a:custGeom>
          <a:solidFill>
            <a:srgbClr val="2D6A4F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759568" y="5765918"/>
            <a:ext cx="454713" cy="454713"/>
          </a:xfrm>
          <a:custGeom>
            <a:rect b="b" l="l" r="r" t="t"/>
            <a:pathLst>
              <a:path extrusionOk="0" h="454713" w="454713">
                <a:moveTo>
                  <a:pt x="113678" y="0"/>
                </a:moveTo>
                <a:lnTo>
                  <a:pt x="341035" y="0"/>
                </a:lnTo>
                <a:cubicBezTo>
                  <a:pt x="403818" y="0"/>
                  <a:pt x="454713" y="50896"/>
                  <a:pt x="454713" y="113678"/>
                </a:cubicBezTo>
                <a:lnTo>
                  <a:pt x="454713" y="341035"/>
                </a:lnTo>
                <a:cubicBezTo>
                  <a:pt x="454713" y="403818"/>
                  <a:pt x="403818" y="454713"/>
                  <a:pt x="341035" y="454713"/>
                </a:cubicBezTo>
                <a:lnTo>
                  <a:pt x="113678" y="454713"/>
                </a:lnTo>
                <a:cubicBezTo>
                  <a:pt x="50896" y="454713"/>
                  <a:pt x="0" y="403818"/>
                  <a:pt x="0" y="341035"/>
                </a:cubicBezTo>
                <a:lnTo>
                  <a:pt x="0" y="113678"/>
                </a:lnTo>
                <a:cubicBezTo>
                  <a:pt x="0" y="50938"/>
                  <a:pt x="50938" y="0"/>
                  <a:pt x="113678" y="0"/>
                </a:cubicBez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892192" y="5898543"/>
            <a:ext cx="189464" cy="189464"/>
          </a:xfrm>
          <a:custGeom>
            <a:rect b="b" l="l" r="r" t="t"/>
            <a:pathLst>
              <a:path extrusionOk="0" h="189464" w="189464">
                <a:moveTo>
                  <a:pt x="94732" y="39928"/>
                </a:moveTo>
                <a:lnTo>
                  <a:pt x="89181" y="32231"/>
                </a:lnTo>
                <a:cubicBezTo>
                  <a:pt x="79930" y="19427"/>
                  <a:pt x="65091" y="11841"/>
                  <a:pt x="49253" y="11841"/>
                </a:cubicBezTo>
                <a:cubicBezTo>
                  <a:pt x="22055" y="11841"/>
                  <a:pt x="0" y="33896"/>
                  <a:pt x="0" y="61095"/>
                </a:cubicBezTo>
                <a:lnTo>
                  <a:pt x="0" y="62057"/>
                </a:lnTo>
                <a:cubicBezTo>
                  <a:pt x="0" y="70790"/>
                  <a:pt x="2294" y="79819"/>
                  <a:pt x="6143" y="88811"/>
                </a:cubicBezTo>
                <a:lnTo>
                  <a:pt x="45368" y="88811"/>
                </a:lnTo>
                <a:cubicBezTo>
                  <a:pt x="46552" y="88811"/>
                  <a:pt x="47625" y="88108"/>
                  <a:pt x="48106" y="86998"/>
                </a:cubicBezTo>
                <a:lnTo>
                  <a:pt x="59874" y="58763"/>
                </a:lnTo>
                <a:cubicBezTo>
                  <a:pt x="61243" y="55507"/>
                  <a:pt x="64425" y="53361"/>
                  <a:pt x="67941" y="53287"/>
                </a:cubicBezTo>
                <a:cubicBezTo>
                  <a:pt x="71456" y="53213"/>
                  <a:pt x="74712" y="55285"/>
                  <a:pt x="76156" y="58504"/>
                </a:cubicBezTo>
                <a:lnTo>
                  <a:pt x="95139" y="100653"/>
                </a:lnTo>
                <a:lnTo>
                  <a:pt x="110459" y="70013"/>
                </a:lnTo>
                <a:cubicBezTo>
                  <a:pt x="111976" y="67015"/>
                  <a:pt x="115047" y="65091"/>
                  <a:pt x="118415" y="65091"/>
                </a:cubicBezTo>
                <a:cubicBezTo>
                  <a:pt x="121782" y="65091"/>
                  <a:pt x="124854" y="66978"/>
                  <a:pt x="126371" y="70013"/>
                </a:cubicBezTo>
                <a:lnTo>
                  <a:pt x="134956" y="87146"/>
                </a:lnTo>
                <a:cubicBezTo>
                  <a:pt x="135474" y="88145"/>
                  <a:pt x="136473" y="88774"/>
                  <a:pt x="137620" y="88774"/>
                </a:cubicBezTo>
                <a:lnTo>
                  <a:pt x="183358" y="88774"/>
                </a:lnTo>
                <a:cubicBezTo>
                  <a:pt x="187244" y="79782"/>
                  <a:pt x="189501" y="70753"/>
                  <a:pt x="189501" y="62020"/>
                </a:cubicBezTo>
                <a:lnTo>
                  <a:pt x="189501" y="61058"/>
                </a:lnTo>
                <a:cubicBezTo>
                  <a:pt x="189464" y="33896"/>
                  <a:pt x="167409" y="11841"/>
                  <a:pt x="140211" y="11841"/>
                </a:cubicBezTo>
                <a:cubicBezTo>
                  <a:pt x="124410" y="11841"/>
                  <a:pt x="109534" y="19427"/>
                  <a:pt x="100283" y="32231"/>
                </a:cubicBezTo>
                <a:lnTo>
                  <a:pt x="94732" y="39891"/>
                </a:lnTo>
                <a:close/>
                <a:moveTo>
                  <a:pt x="173774" y="106573"/>
                </a:moveTo>
                <a:lnTo>
                  <a:pt x="137583" y="106573"/>
                </a:lnTo>
                <a:cubicBezTo>
                  <a:pt x="129738" y="106573"/>
                  <a:pt x="122559" y="102133"/>
                  <a:pt x="119044" y="95102"/>
                </a:cubicBezTo>
                <a:lnTo>
                  <a:pt x="118415" y="93844"/>
                </a:lnTo>
                <a:lnTo>
                  <a:pt x="102688" y="125335"/>
                </a:lnTo>
                <a:cubicBezTo>
                  <a:pt x="101171" y="128406"/>
                  <a:pt x="97988" y="130330"/>
                  <a:pt x="94547" y="130256"/>
                </a:cubicBezTo>
                <a:cubicBezTo>
                  <a:pt x="91105" y="130182"/>
                  <a:pt x="88034" y="128147"/>
                  <a:pt x="86628" y="125039"/>
                </a:cubicBezTo>
                <a:lnTo>
                  <a:pt x="68385" y="84519"/>
                </a:lnTo>
                <a:lnTo>
                  <a:pt x="64499" y="93844"/>
                </a:lnTo>
                <a:cubicBezTo>
                  <a:pt x="61280" y="101578"/>
                  <a:pt x="53731" y="106610"/>
                  <a:pt x="45368" y="106610"/>
                </a:cubicBezTo>
                <a:lnTo>
                  <a:pt x="15690" y="106610"/>
                </a:lnTo>
                <a:cubicBezTo>
                  <a:pt x="33156" y="133920"/>
                  <a:pt x="61206" y="159046"/>
                  <a:pt x="78746" y="172442"/>
                </a:cubicBezTo>
                <a:cubicBezTo>
                  <a:pt x="83334" y="175920"/>
                  <a:pt x="88959" y="177659"/>
                  <a:pt x="94695" y="177659"/>
                </a:cubicBezTo>
                <a:cubicBezTo>
                  <a:pt x="100431" y="177659"/>
                  <a:pt x="106092" y="175957"/>
                  <a:pt x="110644" y="172442"/>
                </a:cubicBezTo>
                <a:cubicBezTo>
                  <a:pt x="128258" y="159009"/>
                  <a:pt x="156308" y="133883"/>
                  <a:pt x="173774" y="106573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7365852" y="5860650"/>
            <a:ext cx="3628233" cy="265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92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Individuals tracking weight or medical diets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>
            <a:off x="317500" y="365125"/>
            <a:ext cx="508000" cy="508000"/>
          </a:xfrm>
          <a:custGeom>
            <a:rect b="b" l="l" r="r" t="t"/>
            <a:pathLst>
              <a:path extrusionOk="0" h="508000" w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E85D0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54422" y="500063"/>
            <a:ext cx="238125" cy="238125"/>
          </a:xfrm>
          <a:custGeom>
            <a:rect b="b" l="l" r="r" t="t"/>
            <a:pathLst>
              <a:path extrusionOk="0" h="238125" w="238125">
                <a:moveTo>
                  <a:pt x="29766" y="29766"/>
                </a:moveTo>
                <a:cubicBezTo>
                  <a:pt x="29766" y="21534"/>
                  <a:pt x="23115" y="14883"/>
                  <a:pt x="14883" y="14883"/>
                </a:cubicBezTo>
                <a:cubicBezTo>
                  <a:pt x="6651" y="14883"/>
                  <a:pt x="0" y="21534"/>
                  <a:pt x="0" y="29766"/>
                </a:cubicBezTo>
                <a:lnTo>
                  <a:pt x="0" y="186035"/>
                </a:lnTo>
                <a:cubicBezTo>
                  <a:pt x="0" y="206592"/>
                  <a:pt x="16650" y="223242"/>
                  <a:pt x="37207" y="223242"/>
                </a:cubicBezTo>
                <a:lnTo>
                  <a:pt x="223242" y="223242"/>
                </a:lnTo>
                <a:cubicBezTo>
                  <a:pt x="231474" y="223242"/>
                  <a:pt x="238125" y="216591"/>
                  <a:pt x="238125" y="208359"/>
                </a:cubicBezTo>
                <a:cubicBezTo>
                  <a:pt x="238125" y="200127"/>
                  <a:pt x="231474" y="193477"/>
                  <a:pt x="223242" y="193477"/>
                </a:cubicBezTo>
                <a:lnTo>
                  <a:pt x="37207" y="193477"/>
                </a:lnTo>
                <a:cubicBezTo>
                  <a:pt x="33114" y="193477"/>
                  <a:pt x="29766" y="190128"/>
                  <a:pt x="29766" y="186035"/>
                </a:cubicBezTo>
                <a:lnTo>
                  <a:pt x="29766" y="29766"/>
                </a:lnTo>
                <a:close/>
                <a:moveTo>
                  <a:pt x="218870" y="70042"/>
                </a:moveTo>
                <a:cubicBezTo>
                  <a:pt x="224684" y="64229"/>
                  <a:pt x="224684" y="54787"/>
                  <a:pt x="218870" y="48974"/>
                </a:cubicBezTo>
                <a:cubicBezTo>
                  <a:pt x="213057" y="43160"/>
                  <a:pt x="203615" y="43160"/>
                  <a:pt x="197802" y="48974"/>
                </a:cubicBezTo>
                <a:lnTo>
                  <a:pt x="148828" y="97994"/>
                </a:lnTo>
                <a:lnTo>
                  <a:pt x="122132" y="71344"/>
                </a:lnTo>
                <a:cubicBezTo>
                  <a:pt x="116318" y="65531"/>
                  <a:pt x="106877" y="65531"/>
                  <a:pt x="101064" y="71344"/>
                </a:cubicBezTo>
                <a:lnTo>
                  <a:pt x="56415" y="115993"/>
                </a:lnTo>
                <a:cubicBezTo>
                  <a:pt x="50602" y="121807"/>
                  <a:pt x="50602" y="131248"/>
                  <a:pt x="56415" y="137061"/>
                </a:cubicBezTo>
                <a:cubicBezTo>
                  <a:pt x="62229" y="142875"/>
                  <a:pt x="71670" y="142875"/>
                  <a:pt x="77484" y="137061"/>
                </a:cubicBezTo>
                <a:lnTo>
                  <a:pt x="111621" y="102924"/>
                </a:lnTo>
                <a:lnTo>
                  <a:pt x="138317" y="129620"/>
                </a:lnTo>
                <a:cubicBezTo>
                  <a:pt x="144131" y="135434"/>
                  <a:pt x="153572" y="135434"/>
                  <a:pt x="159386" y="129620"/>
                </a:cubicBezTo>
                <a:lnTo>
                  <a:pt x="218917" y="70089"/>
                </a:ln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952500" y="317500"/>
            <a:ext cx="3071813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E85D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THIS PROBLEM MATTERS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952500" y="539750"/>
            <a:ext cx="3182938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1A2E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Why This Matters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49250" y="1111250"/>
            <a:ext cx="6826250" cy="3889375"/>
          </a:xfrm>
          <a:custGeom>
            <a:rect b="b" l="l" r="r" t="t"/>
            <a:pathLst>
              <a:path extrusionOk="0" h="3889375" w="6826250">
                <a:moveTo>
                  <a:pt x="63500" y="0"/>
                </a:moveTo>
                <a:lnTo>
                  <a:pt x="6635748" y="0"/>
                </a:lnTo>
                <a:cubicBezTo>
                  <a:pt x="6740960" y="0"/>
                  <a:pt x="6826250" y="85290"/>
                  <a:pt x="6826250" y="190502"/>
                </a:cubicBezTo>
                <a:lnTo>
                  <a:pt x="6826250" y="3698873"/>
                </a:lnTo>
                <a:cubicBezTo>
                  <a:pt x="6826250" y="3804085"/>
                  <a:pt x="6740960" y="3889375"/>
                  <a:pt x="6635748" y="3889375"/>
                </a:cubicBezTo>
                <a:lnTo>
                  <a:pt x="63500" y="3889375"/>
                </a:lnTo>
                <a:cubicBezTo>
                  <a:pt x="28453" y="3889375"/>
                  <a:pt x="0" y="3860922"/>
                  <a:pt x="0" y="3825875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98438" rotWithShape="0" algn="bl" dir="5400000" dist="15875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349250" y="1111250"/>
            <a:ext cx="63500" cy="3889375"/>
          </a:xfrm>
          <a:custGeom>
            <a:rect b="b" l="l" r="r" t="t"/>
            <a:pathLst>
              <a:path extrusionOk="0" h="3889375" w="63500">
                <a:moveTo>
                  <a:pt x="63500" y="0"/>
                </a:moveTo>
                <a:lnTo>
                  <a:pt x="63500" y="0"/>
                </a:lnTo>
                <a:lnTo>
                  <a:pt x="63500" y="3889375"/>
                </a:lnTo>
                <a:lnTo>
                  <a:pt x="63500" y="3889375"/>
                </a:lnTo>
                <a:cubicBezTo>
                  <a:pt x="28453" y="3889375"/>
                  <a:pt x="0" y="3860922"/>
                  <a:pt x="0" y="3825875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85D0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635000" y="1365250"/>
            <a:ext cx="444500" cy="444500"/>
          </a:xfrm>
          <a:custGeom>
            <a:rect b="b" l="l" r="r" t="t"/>
            <a:pathLst>
              <a:path extrusionOk="0" h="444500" w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E85D0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750094" y="1492250"/>
            <a:ext cx="214313" cy="190500"/>
          </a:xfrm>
          <a:custGeom>
            <a:rect b="b" l="l" r="r" t="t"/>
            <a:pathLst>
              <a:path extrusionOk="0" h="190500" w="214313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50602"/>
                </a:lnTo>
                <a:cubicBezTo>
                  <a:pt x="0" y="55550"/>
                  <a:pt x="3981" y="59531"/>
                  <a:pt x="8930" y="59531"/>
                </a:cubicBezTo>
                <a:cubicBezTo>
                  <a:pt x="13878" y="59531"/>
                  <a:pt x="17859" y="55550"/>
                  <a:pt x="17859" y="50602"/>
                </a:cubicBezTo>
                <a:lnTo>
                  <a:pt x="17859" y="23812"/>
                </a:lnTo>
                <a:cubicBezTo>
                  <a:pt x="17859" y="20538"/>
                  <a:pt x="20538" y="17859"/>
                  <a:pt x="23812" y="17859"/>
                </a:cubicBezTo>
                <a:lnTo>
                  <a:pt x="50602" y="17859"/>
                </a:lnTo>
                <a:cubicBezTo>
                  <a:pt x="55550" y="17859"/>
                  <a:pt x="59531" y="13878"/>
                  <a:pt x="59531" y="8930"/>
                </a:cubicBezTo>
                <a:cubicBezTo>
                  <a:pt x="59531" y="3981"/>
                  <a:pt x="55550" y="0"/>
                  <a:pt x="50602" y="0"/>
                </a:cubicBezTo>
                <a:lnTo>
                  <a:pt x="23812" y="0"/>
                </a:lnTo>
                <a:close/>
                <a:moveTo>
                  <a:pt x="163711" y="0"/>
                </a:moveTo>
                <a:cubicBezTo>
                  <a:pt x="158762" y="0"/>
                  <a:pt x="154781" y="3981"/>
                  <a:pt x="154781" y="8930"/>
                </a:cubicBezTo>
                <a:cubicBezTo>
                  <a:pt x="154781" y="13878"/>
                  <a:pt x="158762" y="17859"/>
                  <a:pt x="163711" y="17859"/>
                </a:cubicBezTo>
                <a:lnTo>
                  <a:pt x="190500" y="17859"/>
                </a:lnTo>
                <a:cubicBezTo>
                  <a:pt x="193774" y="17859"/>
                  <a:pt x="196453" y="20538"/>
                  <a:pt x="196453" y="23812"/>
                </a:cubicBezTo>
                <a:lnTo>
                  <a:pt x="196453" y="50602"/>
                </a:lnTo>
                <a:cubicBezTo>
                  <a:pt x="196453" y="55550"/>
                  <a:pt x="200434" y="59531"/>
                  <a:pt x="205383" y="59531"/>
                </a:cubicBezTo>
                <a:cubicBezTo>
                  <a:pt x="210331" y="59531"/>
                  <a:pt x="214313" y="55550"/>
                  <a:pt x="214313" y="50602"/>
                </a:cubicBezTo>
                <a:lnTo>
                  <a:pt x="214313" y="23812"/>
                </a:lnTo>
                <a:cubicBezTo>
                  <a:pt x="214313" y="10678"/>
                  <a:pt x="203634" y="0"/>
                  <a:pt x="190500" y="0"/>
                </a:cubicBezTo>
                <a:lnTo>
                  <a:pt x="163711" y="0"/>
                </a:lnTo>
                <a:close/>
                <a:moveTo>
                  <a:pt x="17859" y="139898"/>
                </a:moveTo>
                <a:cubicBezTo>
                  <a:pt x="17859" y="134950"/>
                  <a:pt x="13878" y="130969"/>
                  <a:pt x="8930" y="130969"/>
                </a:cubicBezTo>
                <a:cubicBezTo>
                  <a:pt x="3981" y="130969"/>
                  <a:pt x="0" y="134950"/>
                  <a:pt x="0" y="139898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50602" y="190500"/>
                </a:lnTo>
                <a:cubicBezTo>
                  <a:pt x="55550" y="190500"/>
                  <a:pt x="59531" y="186519"/>
                  <a:pt x="59531" y="181570"/>
                </a:cubicBezTo>
                <a:cubicBezTo>
                  <a:pt x="59531" y="176622"/>
                  <a:pt x="55550" y="172641"/>
                  <a:pt x="50602" y="172641"/>
                </a:cubicBezTo>
                <a:lnTo>
                  <a:pt x="23812" y="172641"/>
                </a:lnTo>
                <a:cubicBezTo>
                  <a:pt x="20538" y="172641"/>
                  <a:pt x="17859" y="169962"/>
                  <a:pt x="17859" y="166688"/>
                </a:cubicBezTo>
                <a:lnTo>
                  <a:pt x="17859" y="139898"/>
                </a:lnTo>
                <a:close/>
                <a:moveTo>
                  <a:pt x="214313" y="139898"/>
                </a:moveTo>
                <a:cubicBezTo>
                  <a:pt x="214313" y="134950"/>
                  <a:pt x="210331" y="130969"/>
                  <a:pt x="205383" y="130969"/>
                </a:cubicBezTo>
                <a:cubicBezTo>
                  <a:pt x="200434" y="130969"/>
                  <a:pt x="196453" y="134950"/>
                  <a:pt x="196453" y="139898"/>
                </a:cubicBezTo>
                <a:lnTo>
                  <a:pt x="196453" y="166688"/>
                </a:lnTo>
                <a:cubicBezTo>
                  <a:pt x="196453" y="169962"/>
                  <a:pt x="193774" y="172641"/>
                  <a:pt x="190500" y="172641"/>
                </a:cubicBezTo>
                <a:lnTo>
                  <a:pt x="163711" y="172641"/>
                </a:lnTo>
                <a:cubicBezTo>
                  <a:pt x="158762" y="172641"/>
                  <a:pt x="154781" y="176622"/>
                  <a:pt x="154781" y="181570"/>
                </a:cubicBezTo>
                <a:cubicBezTo>
                  <a:pt x="154781" y="186519"/>
                  <a:pt x="158762" y="190500"/>
                  <a:pt x="163711" y="190500"/>
                </a:cubicBezTo>
                <a:lnTo>
                  <a:pt x="190500" y="190500"/>
                </a:lnTo>
                <a:cubicBezTo>
                  <a:pt x="203634" y="190500"/>
                  <a:pt x="214313" y="179822"/>
                  <a:pt x="214313" y="166688"/>
                </a:cubicBezTo>
                <a:lnTo>
                  <a:pt x="214313" y="139898"/>
                </a:lnTo>
                <a:close/>
                <a:moveTo>
                  <a:pt x="107156" y="80367"/>
                </a:moveTo>
                <a:cubicBezTo>
                  <a:pt x="118656" y="80367"/>
                  <a:pt x="127992" y="71031"/>
                  <a:pt x="127992" y="59531"/>
                </a:cubicBezTo>
                <a:cubicBezTo>
                  <a:pt x="127992" y="48032"/>
                  <a:pt x="118656" y="38695"/>
                  <a:pt x="107156" y="38695"/>
                </a:cubicBezTo>
                <a:cubicBezTo>
                  <a:pt x="95657" y="38695"/>
                  <a:pt x="86320" y="48032"/>
                  <a:pt x="86320" y="59531"/>
                </a:cubicBezTo>
                <a:cubicBezTo>
                  <a:pt x="86320" y="71031"/>
                  <a:pt x="95657" y="80367"/>
                  <a:pt x="107156" y="80367"/>
                </a:cubicBezTo>
                <a:close/>
                <a:moveTo>
                  <a:pt x="107156" y="95250"/>
                </a:moveTo>
                <a:cubicBezTo>
                  <a:pt x="87437" y="95250"/>
                  <a:pt x="71438" y="111249"/>
                  <a:pt x="71438" y="130969"/>
                </a:cubicBezTo>
                <a:lnTo>
                  <a:pt x="71438" y="139898"/>
                </a:lnTo>
                <a:cubicBezTo>
                  <a:pt x="71438" y="144847"/>
                  <a:pt x="75419" y="148828"/>
                  <a:pt x="80367" y="148828"/>
                </a:cubicBezTo>
                <a:lnTo>
                  <a:pt x="133945" y="148828"/>
                </a:lnTo>
                <a:cubicBezTo>
                  <a:pt x="138894" y="148828"/>
                  <a:pt x="142875" y="144847"/>
                  <a:pt x="142875" y="139898"/>
                </a:cubicBezTo>
                <a:lnTo>
                  <a:pt x="142875" y="130969"/>
                </a:lnTo>
                <a:cubicBezTo>
                  <a:pt x="142875" y="111249"/>
                  <a:pt x="126876" y="95250"/>
                  <a:pt x="107156" y="95250"/>
                </a:cubicBezTo>
                <a:close/>
                <a:moveTo>
                  <a:pt x="178594" y="71438"/>
                </a:moveTo>
                <a:cubicBezTo>
                  <a:pt x="178594" y="61581"/>
                  <a:pt x="170591" y="53578"/>
                  <a:pt x="160734" y="53578"/>
                </a:cubicBezTo>
                <a:cubicBezTo>
                  <a:pt x="150878" y="53578"/>
                  <a:pt x="142875" y="61581"/>
                  <a:pt x="142875" y="71438"/>
                </a:cubicBezTo>
                <a:cubicBezTo>
                  <a:pt x="142875" y="81294"/>
                  <a:pt x="150878" y="89297"/>
                  <a:pt x="160734" y="89297"/>
                </a:cubicBezTo>
                <a:cubicBezTo>
                  <a:pt x="170591" y="89297"/>
                  <a:pt x="178594" y="81294"/>
                  <a:pt x="178594" y="71438"/>
                </a:cubicBezTo>
                <a:close/>
                <a:moveTo>
                  <a:pt x="62508" y="101315"/>
                </a:moveTo>
                <a:cubicBezTo>
                  <a:pt x="44165" y="102840"/>
                  <a:pt x="29766" y="118170"/>
                  <a:pt x="29766" y="136922"/>
                </a:cubicBezTo>
                <a:lnTo>
                  <a:pt x="29766" y="140903"/>
                </a:lnTo>
                <a:cubicBezTo>
                  <a:pt x="29766" y="145293"/>
                  <a:pt x="33338" y="148828"/>
                  <a:pt x="37691" y="148828"/>
                </a:cubicBezTo>
                <a:lnTo>
                  <a:pt x="55104" y="148828"/>
                </a:lnTo>
                <a:cubicBezTo>
                  <a:pt x="54099" y="146038"/>
                  <a:pt x="53578" y="143024"/>
                  <a:pt x="53578" y="139898"/>
                </a:cubicBezTo>
                <a:lnTo>
                  <a:pt x="53578" y="130969"/>
                </a:lnTo>
                <a:cubicBezTo>
                  <a:pt x="53578" y="119993"/>
                  <a:pt x="56852" y="109798"/>
                  <a:pt x="62508" y="101315"/>
                </a:cubicBezTo>
                <a:close/>
                <a:moveTo>
                  <a:pt x="159209" y="148828"/>
                </a:moveTo>
                <a:lnTo>
                  <a:pt x="176622" y="148828"/>
                </a:lnTo>
                <a:cubicBezTo>
                  <a:pt x="181012" y="148828"/>
                  <a:pt x="184547" y="145256"/>
                  <a:pt x="184547" y="140903"/>
                </a:cubicBezTo>
                <a:lnTo>
                  <a:pt x="184547" y="136922"/>
                </a:lnTo>
                <a:cubicBezTo>
                  <a:pt x="184547" y="118207"/>
                  <a:pt x="170148" y="102840"/>
                  <a:pt x="151805" y="101315"/>
                </a:cubicBezTo>
                <a:cubicBezTo>
                  <a:pt x="157460" y="109798"/>
                  <a:pt x="160734" y="119993"/>
                  <a:pt x="160734" y="130969"/>
                </a:cubicBezTo>
                <a:lnTo>
                  <a:pt x="160734" y="139898"/>
                </a:lnTo>
                <a:cubicBezTo>
                  <a:pt x="160734" y="143024"/>
                  <a:pt x="160213" y="146038"/>
                  <a:pt x="159209" y="148828"/>
                </a:cubicBezTo>
                <a:close/>
                <a:moveTo>
                  <a:pt x="71438" y="71438"/>
                </a:moveTo>
                <a:cubicBezTo>
                  <a:pt x="71438" y="61581"/>
                  <a:pt x="63435" y="53578"/>
                  <a:pt x="53578" y="53578"/>
                </a:cubicBezTo>
                <a:cubicBezTo>
                  <a:pt x="43721" y="53578"/>
                  <a:pt x="35719" y="61581"/>
                  <a:pt x="35719" y="71438"/>
                </a:cubicBezTo>
                <a:cubicBezTo>
                  <a:pt x="35719" y="81294"/>
                  <a:pt x="43721" y="89297"/>
                  <a:pt x="53578" y="89297"/>
                </a:cubicBezTo>
                <a:cubicBezTo>
                  <a:pt x="63435" y="89297"/>
                  <a:pt x="71438" y="81294"/>
                  <a:pt x="71438" y="71438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174750" y="1444625"/>
            <a:ext cx="226218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A1A2E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Who Pays the Cost?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35000" y="2066354"/>
            <a:ext cx="6286500" cy="698500"/>
          </a:xfrm>
          <a:custGeom>
            <a:rect b="b" l="l" r="r" t="t"/>
            <a:pathLst>
              <a:path extrusionOk="0" h="698500" w="6286500">
                <a:moveTo>
                  <a:pt x="127001" y="0"/>
                </a:moveTo>
                <a:lnTo>
                  <a:pt x="6159499" y="0"/>
                </a:lnTo>
                <a:cubicBezTo>
                  <a:pt x="6229640" y="0"/>
                  <a:pt x="6286500" y="56860"/>
                  <a:pt x="6286500" y="127001"/>
                </a:cubicBezTo>
                <a:lnTo>
                  <a:pt x="6286500" y="571499"/>
                </a:lnTo>
                <a:cubicBezTo>
                  <a:pt x="6286500" y="641640"/>
                  <a:pt x="6229640" y="698500"/>
                  <a:pt x="6159499" y="698500"/>
                </a:cubicBezTo>
                <a:lnTo>
                  <a:pt x="127001" y="698500"/>
                </a:lnTo>
                <a:cubicBezTo>
                  <a:pt x="56860" y="698500"/>
                  <a:pt x="0" y="641640"/>
                  <a:pt x="0" y="571499"/>
                </a:cubicBezTo>
                <a:lnTo>
                  <a:pt x="0" y="127001"/>
                </a:lnTo>
                <a:cubicBezTo>
                  <a:pt x="0" y="56860"/>
                  <a:pt x="56860" y="0"/>
                  <a:pt x="127001" y="0"/>
                </a:cubicBezTo>
                <a:close/>
              </a:path>
            </a:pathLst>
          </a:custGeom>
          <a:solidFill>
            <a:srgbClr val="E85D04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793750" y="2225104"/>
            <a:ext cx="381000" cy="381000"/>
          </a:xfrm>
          <a:custGeom>
            <a:rect b="b" l="l" r="r" t="t"/>
            <a:pathLst>
              <a:path extrusionOk="0" h="381000" w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E85D0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894953" y="2336229"/>
            <a:ext cx="178594" cy="158750"/>
          </a:xfrm>
          <a:custGeom>
            <a:rect b="b" l="l" r="r" t="t"/>
            <a:pathLst>
              <a:path extrusionOk="0" h="158750" w="178594">
                <a:moveTo>
                  <a:pt x="14883" y="60709"/>
                </a:moveTo>
                <a:lnTo>
                  <a:pt x="79747" y="87406"/>
                </a:lnTo>
                <a:cubicBezTo>
                  <a:pt x="82786" y="88646"/>
                  <a:pt x="86010" y="89297"/>
                  <a:pt x="89297" y="89297"/>
                </a:cubicBezTo>
                <a:cubicBezTo>
                  <a:pt x="92583" y="89297"/>
                  <a:pt x="95808" y="88646"/>
                  <a:pt x="98847" y="87406"/>
                </a:cubicBezTo>
                <a:lnTo>
                  <a:pt x="174005" y="56462"/>
                </a:lnTo>
                <a:cubicBezTo>
                  <a:pt x="176795" y="55314"/>
                  <a:pt x="178594" y="52617"/>
                  <a:pt x="178594" y="49609"/>
                </a:cubicBezTo>
                <a:cubicBezTo>
                  <a:pt x="178594" y="46602"/>
                  <a:pt x="176795" y="43904"/>
                  <a:pt x="174005" y="42757"/>
                </a:cubicBezTo>
                <a:lnTo>
                  <a:pt x="98847" y="11813"/>
                </a:lnTo>
                <a:cubicBezTo>
                  <a:pt x="95808" y="10573"/>
                  <a:pt x="92583" y="9922"/>
                  <a:pt x="89297" y="9922"/>
                </a:cubicBezTo>
                <a:cubicBezTo>
                  <a:pt x="86010" y="9922"/>
                  <a:pt x="82786" y="10573"/>
                  <a:pt x="79747" y="11813"/>
                </a:cubicBezTo>
                <a:lnTo>
                  <a:pt x="4589" y="42757"/>
                </a:lnTo>
                <a:cubicBezTo>
                  <a:pt x="1798" y="43904"/>
                  <a:pt x="0" y="46602"/>
                  <a:pt x="0" y="49609"/>
                </a:cubicBezTo>
                <a:lnTo>
                  <a:pt x="0" y="141387"/>
                </a:lnTo>
                <a:cubicBezTo>
                  <a:pt x="0" y="145510"/>
                  <a:pt x="3318" y="148828"/>
                  <a:pt x="7441" y="148828"/>
                </a:cubicBezTo>
                <a:cubicBezTo>
                  <a:pt x="11565" y="148828"/>
                  <a:pt x="14883" y="145510"/>
                  <a:pt x="14883" y="141387"/>
                </a:cubicBezTo>
                <a:lnTo>
                  <a:pt x="14883" y="60709"/>
                </a:lnTo>
                <a:close/>
                <a:moveTo>
                  <a:pt x="29766" y="82941"/>
                </a:moveTo>
                <a:lnTo>
                  <a:pt x="29766" y="119062"/>
                </a:lnTo>
                <a:cubicBezTo>
                  <a:pt x="29766" y="135496"/>
                  <a:pt x="56431" y="148828"/>
                  <a:pt x="89297" y="148828"/>
                </a:cubicBezTo>
                <a:cubicBezTo>
                  <a:pt x="122163" y="148828"/>
                  <a:pt x="148828" y="135496"/>
                  <a:pt x="148828" y="119062"/>
                </a:cubicBezTo>
                <a:lnTo>
                  <a:pt x="148828" y="82910"/>
                </a:lnTo>
                <a:lnTo>
                  <a:pt x="104521" y="101172"/>
                </a:lnTo>
                <a:cubicBezTo>
                  <a:pt x="99684" y="103156"/>
                  <a:pt x="94537" y="104180"/>
                  <a:pt x="89297" y="104180"/>
                </a:cubicBezTo>
                <a:cubicBezTo>
                  <a:pt x="84057" y="104180"/>
                  <a:pt x="78910" y="103156"/>
                  <a:pt x="74073" y="101172"/>
                </a:cubicBezTo>
                <a:lnTo>
                  <a:pt x="29766" y="82910"/>
                </a:ln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301750" y="2304479"/>
            <a:ext cx="1825625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Students on tight budgets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35000" y="3024188"/>
            <a:ext cx="6286500" cy="698500"/>
          </a:xfrm>
          <a:custGeom>
            <a:rect b="b" l="l" r="r" t="t"/>
            <a:pathLst>
              <a:path extrusionOk="0" h="698500" w="6286500">
                <a:moveTo>
                  <a:pt x="127001" y="0"/>
                </a:moveTo>
                <a:lnTo>
                  <a:pt x="6159499" y="0"/>
                </a:lnTo>
                <a:cubicBezTo>
                  <a:pt x="6229640" y="0"/>
                  <a:pt x="6286500" y="56860"/>
                  <a:pt x="6286500" y="127001"/>
                </a:cubicBezTo>
                <a:lnTo>
                  <a:pt x="6286500" y="571499"/>
                </a:lnTo>
                <a:cubicBezTo>
                  <a:pt x="6286500" y="641640"/>
                  <a:pt x="6229640" y="698500"/>
                  <a:pt x="6159499" y="698500"/>
                </a:cubicBezTo>
                <a:lnTo>
                  <a:pt x="127001" y="698500"/>
                </a:lnTo>
                <a:cubicBezTo>
                  <a:pt x="56860" y="698500"/>
                  <a:pt x="0" y="641640"/>
                  <a:pt x="0" y="571499"/>
                </a:cubicBezTo>
                <a:lnTo>
                  <a:pt x="0" y="127001"/>
                </a:lnTo>
                <a:cubicBezTo>
                  <a:pt x="0" y="56860"/>
                  <a:pt x="56860" y="0"/>
                  <a:pt x="127001" y="0"/>
                </a:cubicBezTo>
                <a:close/>
              </a:path>
            </a:pathLst>
          </a:custGeom>
          <a:solidFill>
            <a:srgbClr val="2D6A4F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793750" y="3182938"/>
            <a:ext cx="381000" cy="381000"/>
          </a:xfrm>
          <a:custGeom>
            <a:rect b="b" l="l" r="r" t="t"/>
            <a:pathLst>
              <a:path extrusionOk="0" h="381000" w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904875" y="3294063"/>
            <a:ext cx="158750" cy="158750"/>
          </a:xfrm>
          <a:custGeom>
            <a:rect b="b" l="l" r="r" t="t"/>
            <a:pathLst>
              <a:path extrusionOk="0" h="158750" w="158750">
                <a:moveTo>
                  <a:pt x="62012" y="14883"/>
                </a:moveTo>
                <a:lnTo>
                  <a:pt x="96738" y="14883"/>
                </a:lnTo>
                <a:cubicBezTo>
                  <a:pt x="98103" y="14883"/>
                  <a:pt x="99219" y="15999"/>
                  <a:pt x="99219" y="17363"/>
                </a:cubicBezTo>
                <a:lnTo>
                  <a:pt x="99219" y="29766"/>
                </a:lnTo>
                <a:lnTo>
                  <a:pt x="59531" y="29766"/>
                </a:lnTo>
                <a:lnTo>
                  <a:pt x="59531" y="17363"/>
                </a:lnTo>
                <a:cubicBezTo>
                  <a:pt x="59531" y="15999"/>
                  <a:pt x="60647" y="14883"/>
                  <a:pt x="62012" y="14883"/>
                </a:cubicBezTo>
                <a:close/>
                <a:moveTo>
                  <a:pt x="44648" y="17363"/>
                </a:moveTo>
                <a:lnTo>
                  <a:pt x="44648" y="29766"/>
                </a:lnTo>
                <a:lnTo>
                  <a:pt x="19844" y="29766"/>
                </a:lnTo>
                <a:cubicBezTo>
                  <a:pt x="8899" y="29766"/>
                  <a:pt x="0" y="38664"/>
                  <a:pt x="0" y="49609"/>
                </a:cubicBezTo>
                <a:lnTo>
                  <a:pt x="0" y="79375"/>
                </a:lnTo>
                <a:lnTo>
                  <a:pt x="158750" y="79375"/>
                </a:lnTo>
                <a:lnTo>
                  <a:pt x="158750" y="49609"/>
                </a:lnTo>
                <a:cubicBezTo>
                  <a:pt x="158750" y="38664"/>
                  <a:pt x="149851" y="29766"/>
                  <a:pt x="138906" y="29766"/>
                </a:cubicBezTo>
                <a:lnTo>
                  <a:pt x="114102" y="29766"/>
                </a:lnTo>
                <a:lnTo>
                  <a:pt x="114102" y="17363"/>
                </a:lnTo>
                <a:cubicBezTo>
                  <a:pt x="114102" y="7782"/>
                  <a:pt x="106319" y="0"/>
                  <a:pt x="96738" y="0"/>
                </a:cubicBezTo>
                <a:lnTo>
                  <a:pt x="62012" y="0"/>
                </a:lnTo>
                <a:cubicBezTo>
                  <a:pt x="52431" y="0"/>
                  <a:pt x="44648" y="7782"/>
                  <a:pt x="44648" y="17363"/>
                </a:cubicBezTo>
                <a:close/>
                <a:moveTo>
                  <a:pt x="158750" y="94258"/>
                </a:moveTo>
                <a:lnTo>
                  <a:pt x="99219" y="94258"/>
                </a:lnTo>
                <a:lnTo>
                  <a:pt x="99219" y="99219"/>
                </a:lnTo>
                <a:cubicBezTo>
                  <a:pt x="99219" y="104707"/>
                  <a:pt x="94785" y="109141"/>
                  <a:pt x="89297" y="109141"/>
                </a:cubicBezTo>
                <a:lnTo>
                  <a:pt x="69453" y="109141"/>
                </a:lnTo>
                <a:cubicBezTo>
                  <a:pt x="63965" y="109141"/>
                  <a:pt x="59531" y="104707"/>
                  <a:pt x="59531" y="99219"/>
                </a:cubicBezTo>
                <a:lnTo>
                  <a:pt x="59531" y="94258"/>
                </a:lnTo>
                <a:lnTo>
                  <a:pt x="0" y="94258"/>
                </a:lnTo>
                <a:lnTo>
                  <a:pt x="0" y="128984"/>
                </a:lnTo>
                <a:cubicBezTo>
                  <a:pt x="0" y="139929"/>
                  <a:pt x="8899" y="148828"/>
                  <a:pt x="19844" y="148828"/>
                </a:cubicBezTo>
                <a:lnTo>
                  <a:pt x="138906" y="148828"/>
                </a:lnTo>
                <a:cubicBezTo>
                  <a:pt x="149851" y="148828"/>
                  <a:pt x="158750" y="139929"/>
                  <a:pt x="158750" y="128984"/>
                </a:cubicBezTo>
                <a:lnTo>
                  <a:pt x="158750" y="94258"/>
                </a:ln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301750" y="3262313"/>
            <a:ext cx="2794000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Professionals seeking healthier lifestyles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35000" y="3981896"/>
            <a:ext cx="6286500" cy="698500"/>
          </a:xfrm>
          <a:custGeom>
            <a:rect b="b" l="l" r="r" t="t"/>
            <a:pathLst>
              <a:path extrusionOk="0" h="698500" w="6286500">
                <a:moveTo>
                  <a:pt x="127001" y="0"/>
                </a:moveTo>
                <a:lnTo>
                  <a:pt x="6159499" y="0"/>
                </a:lnTo>
                <a:cubicBezTo>
                  <a:pt x="6229640" y="0"/>
                  <a:pt x="6286500" y="56860"/>
                  <a:pt x="6286500" y="127001"/>
                </a:cubicBezTo>
                <a:lnTo>
                  <a:pt x="6286500" y="571499"/>
                </a:lnTo>
                <a:cubicBezTo>
                  <a:pt x="6286500" y="641640"/>
                  <a:pt x="6229640" y="698500"/>
                  <a:pt x="6159499" y="698500"/>
                </a:cubicBezTo>
                <a:lnTo>
                  <a:pt x="127001" y="698500"/>
                </a:lnTo>
                <a:cubicBezTo>
                  <a:pt x="56860" y="698500"/>
                  <a:pt x="0" y="641640"/>
                  <a:pt x="0" y="571499"/>
                </a:cubicBezTo>
                <a:lnTo>
                  <a:pt x="0" y="127001"/>
                </a:lnTo>
                <a:cubicBezTo>
                  <a:pt x="0" y="56860"/>
                  <a:pt x="56860" y="0"/>
                  <a:pt x="127001" y="0"/>
                </a:cubicBezTo>
                <a:close/>
              </a:path>
            </a:pathLst>
          </a:custGeom>
          <a:solidFill>
            <a:srgbClr val="F48C06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793750" y="4140646"/>
            <a:ext cx="381000" cy="381000"/>
          </a:xfrm>
          <a:custGeom>
            <a:rect b="b" l="l" r="r" t="t"/>
            <a:pathLst>
              <a:path extrusionOk="0" h="381000" w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48C0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904875" y="4251771"/>
            <a:ext cx="158750" cy="158750"/>
          </a:xfrm>
          <a:custGeom>
            <a:rect b="b" l="l" r="r" t="t"/>
            <a:pathLst>
              <a:path extrusionOk="0" h="158750" w="158750">
                <a:moveTo>
                  <a:pt x="86134" y="2667"/>
                </a:moveTo>
                <a:cubicBezTo>
                  <a:pt x="82321" y="-868"/>
                  <a:pt x="76429" y="-868"/>
                  <a:pt x="72647" y="2667"/>
                </a:cubicBezTo>
                <a:lnTo>
                  <a:pt x="3194" y="67159"/>
                </a:lnTo>
                <a:cubicBezTo>
                  <a:pt x="217" y="69949"/>
                  <a:pt x="-775" y="74259"/>
                  <a:pt x="713" y="78042"/>
                </a:cubicBezTo>
                <a:cubicBezTo>
                  <a:pt x="2201" y="81824"/>
                  <a:pt x="5829" y="84336"/>
                  <a:pt x="9922" y="84336"/>
                </a:cubicBezTo>
                <a:lnTo>
                  <a:pt x="14883" y="84336"/>
                </a:lnTo>
                <a:lnTo>
                  <a:pt x="14883" y="138906"/>
                </a:lnTo>
                <a:cubicBezTo>
                  <a:pt x="14883" y="149851"/>
                  <a:pt x="23781" y="158750"/>
                  <a:pt x="34727" y="158750"/>
                </a:cubicBezTo>
                <a:lnTo>
                  <a:pt x="124023" y="158750"/>
                </a:lnTo>
                <a:cubicBezTo>
                  <a:pt x="134969" y="158750"/>
                  <a:pt x="143867" y="149851"/>
                  <a:pt x="143867" y="138906"/>
                </a:cubicBezTo>
                <a:lnTo>
                  <a:pt x="143867" y="84336"/>
                </a:lnTo>
                <a:lnTo>
                  <a:pt x="148828" y="84336"/>
                </a:lnTo>
                <a:cubicBezTo>
                  <a:pt x="152921" y="84336"/>
                  <a:pt x="156580" y="81824"/>
                  <a:pt x="158068" y="78042"/>
                </a:cubicBezTo>
                <a:cubicBezTo>
                  <a:pt x="159556" y="74259"/>
                  <a:pt x="158564" y="69918"/>
                  <a:pt x="155587" y="67159"/>
                </a:cubicBezTo>
                <a:lnTo>
                  <a:pt x="86134" y="2667"/>
                </a:lnTo>
                <a:close/>
                <a:moveTo>
                  <a:pt x="62012" y="79375"/>
                </a:moveTo>
                <a:cubicBezTo>
                  <a:pt x="62012" y="69792"/>
                  <a:pt x="69792" y="62012"/>
                  <a:pt x="79375" y="62012"/>
                </a:cubicBezTo>
                <a:cubicBezTo>
                  <a:pt x="88958" y="62012"/>
                  <a:pt x="96738" y="69792"/>
                  <a:pt x="96738" y="79375"/>
                </a:cubicBezTo>
                <a:cubicBezTo>
                  <a:pt x="96738" y="88958"/>
                  <a:pt x="88958" y="96738"/>
                  <a:pt x="79375" y="96738"/>
                </a:cubicBezTo>
                <a:cubicBezTo>
                  <a:pt x="69792" y="96738"/>
                  <a:pt x="62012" y="88958"/>
                  <a:pt x="62012" y="79375"/>
                </a:cubicBezTo>
                <a:close/>
                <a:moveTo>
                  <a:pt x="44648" y="133945"/>
                </a:moveTo>
                <a:cubicBezTo>
                  <a:pt x="44648" y="120241"/>
                  <a:pt x="55749" y="109141"/>
                  <a:pt x="69453" y="109141"/>
                </a:cubicBezTo>
                <a:lnTo>
                  <a:pt x="89297" y="109141"/>
                </a:lnTo>
                <a:cubicBezTo>
                  <a:pt x="103001" y="109141"/>
                  <a:pt x="114102" y="120241"/>
                  <a:pt x="114102" y="133945"/>
                </a:cubicBezTo>
                <a:cubicBezTo>
                  <a:pt x="114102" y="136674"/>
                  <a:pt x="111869" y="138906"/>
                  <a:pt x="109141" y="138906"/>
                </a:cubicBezTo>
                <a:lnTo>
                  <a:pt x="49609" y="138906"/>
                </a:lnTo>
                <a:cubicBezTo>
                  <a:pt x="46881" y="138906"/>
                  <a:pt x="44648" y="136674"/>
                  <a:pt x="44648" y="133945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1301750" y="4220021"/>
            <a:ext cx="2547938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Families managing rising food prices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317500" y="5191125"/>
            <a:ext cx="6858000" cy="1762125"/>
          </a:xfrm>
          <a:custGeom>
            <a:rect b="b" l="l" r="r" t="t"/>
            <a:pathLst>
              <a:path extrusionOk="0" h="1762125" w="6858000">
                <a:moveTo>
                  <a:pt x="190503" y="0"/>
                </a:moveTo>
                <a:lnTo>
                  <a:pt x="6667497" y="0"/>
                </a:lnTo>
                <a:cubicBezTo>
                  <a:pt x="6772709" y="0"/>
                  <a:pt x="6858000" y="85291"/>
                  <a:pt x="6858000" y="190503"/>
                </a:cubicBezTo>
                <a:lnTo>
                  <a:pt x="6858000" y="1571622"/>
                </a:lnTo>
                <a:cubicBezTo>
                  <a:pt x="6858000" y="1676834"/>
                  <a:pt x="6772709" y="1762125"/>
                  <a:pt x="6667497" y="1762125"/>
                </a:cubicBezTo>
                <a:lnTo>
                  <a:pt x="190503" y="1762125"/>
                </a:lnTo>
                <a:cubicBezTo>
                  <a:pt x="85291" y="1762125"/>
                  <a:pt x="0" y="1676834"/>
                  <a:pt x="0" y="1571622"/>
                </a:cubicBezTo>
                <a:lnTo>
                  <a:pt x="0" y="190503"/>
                </a:lnTo>
                <a:cubicBezTo>
                  <a:pt x="0" y="85362"/>
                  <a:pt x="85362" y="0"/>
                  <a:pt x="190503" y="0"/>
                </a:cubicBezTo>
                <a:close/>
              </a:path>
            </a:pathLst>
          </a:custGeom>
          <a:gradFill>
            <a:gsLst>
              <a:gs pos="0">
                <a:srgbClr val="2D6A4F"/>
              </a:gs>
              <a:gs pos="100000">
                <a:srgbClr val="E85D04"/>
              </a:gs>
            </a:gsLst>
            <a:lin ang="0" scaled="0"/>
          </a:gradFill>
          <a:ln>
            <a:noFill/>
          </a:ln>
          <a:effectLst>
            <a:outerShdw blurRad="198438" rotWithShape="0" algn="bl" dir="5400000" dist="15875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08000" y="5381625"/>
            <a:ext cx="65722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8F0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Why Now?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508000" y="5762625"/>
            <a:ext cx="2071688" cy="1000125"/>
          </a:xfrm>
          <a:custGeom>
            <a:rect b="b" l="l" r="r" t="t"/>
            <a:pathLst>
              <a:path extrusionOk="0" h="1000125" w="2071688">
                <a:moveTo>
                  <a:pt x="95252" y="0"/>
                </a:moveTo>
                <a:lnTo>
                  <a:pt x="1976436" y="0"/>
                </a:lnTo>
                <a:cubicBezTo>
                  <a:pt x="2029042" y="0"/>
                  <a:pt x="2071688" y="42646"/>
                  <a:pt x="2071688" y="95252"/>
                </a:cubicBezTo>
                <a:lnTo>
                  <a:pt x="2071688" y="904873"/>
                </a:lnTo>
                <a:cubicBezTo>
                  <a:pt x="2071688" y="957479"/>
                  <a:pt x="2029042" y="1000125"/>
                  <a:pt x="1976436" y="1000125"/>
                </a:cubicBezTo>
                <a:lnTo>
                  <a:pt x="95252" y="1000125"/>
                </a:lnTo>
                <a:cubicBezTo>
                  <a:pt x="42646" y="1000125"/>
                  <a:pt x="0" y="957479"/>
                  <a:pt x="0" y="904873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FF8F0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398240" y="5889625"/>
            <a:ext cx="297656" cy="238125"/>
          </a:xfrm>
          <a:custGeom>
            <a:rect b="b" l="l" r="r" t="t"/>
            <a:pathLst>
              <a:path extrusionOk="0" h="238125" w="297656">
                <a:moveTo>
                  <a:pt x="29766" y="44648"/>
                </a:moveTo>
                <a:cubicBezTo>
                  <a:pt x="29766" y="28231"/>
                  <a:pt x="43114" y="14883"/>
                  <a:pt x="59531" y="14883"/>
                </a:cubicBezTo>
                <a:lnTo>
                  <a:pt x="193477" y="14883"/>
                </a:lnTo>
                <a:cubicBezTo>
                  <a:pt x="209894" y="14883"/>
                  <a:pt x="223242" y="28231"/>
                  <a:pt x="223242" y="44648"/>
                </a:cubicBezTo>
                <a:lnTo>
                  <a:pt x="223242" y="59531"/>
                </a:lnTo>
                <a:lnTo>
                  <a:pt x="246822" y="59531"/>
                </a:lnTo>
                <a:cubicBezTo>
                  <a:pt x="254729" y="59531"/>
                  <a:pt x="262310" y="62647"/>
                  <a:pt x="267891" y="68228"/>
                </a:cubicBezTo>
                <a:lnTo>
                  <a:pt x="288959" y="89297"/>
                </a:lnTo>
                <a:cubicBezTo>
                  <a:pt x="294540" y="94878"/>
                  <a:pt x="297656" y="102459"/>
                  <a:pt x="297656" y="110365"/>
                </a:cubicBezTo>
                <a:lnTo>
                  <a:pt x="297656" y="178594"/>
                </a:lnTo>
                <a:cubicBezTo>
                  <a:pt x="297656" y="195011"/>
                  <a:pt x="284308" y="208359"/>
                  <a:pt x="267891" y="208359"/>
                </a:cubicBezTo>
                <a:lnTo>
                  <a:pt x="266356" y="208359"/>
                </a:lnTo>
                <a:cubicBezTo>
                  <a:pt x="261519" y="225521"/>
                  <a:pt x="245706" y="238125"/>
                  <a:pt x="226963" y="238125"/>
                </a:cubicBezTo>
                <a:cubicBezTo>
                  <a:pt x="208220" y="238125"/>
                  <a:pt x="192453" y="225521"/>
                  <a:pt x="187570" y="208359"/>
                </a:cubicBezTo>
                <a:lnTo>
                  <a:pt x="139852" y="208359"/>
                </a:lnTo>
                <a:cubicBezTo>
                  <a:pt x="135015" y="225521"/>
                  <a:pt x="119202" y="238125"/>
                  <a:pt x="100459" y="238125"/>
                </a:cubicBezTo>
                <a:cubicBezTo>
                  <a:pt x="81716" y="238125"/>
                  <a:pt x="65949" y="225521"/>
                  <a:pt x="61066" y="208359"/>
                </a:cubicBezTo>
                <a:lnTo>
                  <a:pt x="59531" y="208359"/>
                </a:lnTo>
                <a:cubicBezTo>
                  <a:pt x="43114" y="208359"/>
                  <a:pt x="29766" y="195011"/>
                  <a:pt x="29766" y="178594"/>
                </a:cubicBezTo>
                <a:lnTo>
                  <a:pt x="29766" y="156270"/>
                </a:lnTo>
                <a:lnTo>
                  <a:pt x="11162" y="156270"/>
                </a:lnTo>
                <a:cubicBezTo>
                  <a:pt x="4976" y="156270"/>
                  <a:pt x="0" y="151293"/>
                  <a:pt x="0" y="145107"/>
                </a:cubicBezTo>
                <a:cubicBezTo>
                  <a:pt x="0" y="138922"/>
                  <a:pt x="4976" y="133945"/>
                  <a:pt x="11162" y="133945"/>
                </a:cubicBezTo>
                <a:lnTo>
                  <a:pt x="63252" y="133945"/>
                </a:lnTo>
                <a:cubicBezTo>
                  <a:pt x="69438" y="133945"/>
                  <a:pt x="74414" y="128969"/>
                  <a:pt x="74414" y="122783"/>
                </a:cubicBezTo>
                <a:cubicBezTo>
                  <a:pt x="74414" y="116598"/>
                  <a:pt x="69438" y="111621"/>
                  <a:pt x="63252" y="111621"/>
                </a:cubicBezTo>
                <a:lnTo>
                  <a:pt x="11162" y="111621"/>
                </a:lnTo>
                <a:cubicBezTo>
                  <a:pt x="4976" y="111621"/>
                  <a:pt x="0" y="106645"/>
                  <a:pt x="0" y="100459"/>
                </a:cubicBezTo>
                <a:cubicBezTo>
                  <a:pt x="0" y="94273"/>
                  <a:pt x="4976" y="89297"/>
                  <a:pt x="11162" y="89297"/>
                </a:cubicBezTo>
                <a:lnTo>
                  <a:pt x="93018" y="89297"/>
                </a:lnTo>
                <a:cubicBezTo>
                  <a:pt x="99203" y="89297"/>
                  <a:pt x="104180" y="84320"/>
                  <a:pt x="104180" y="78135"/>
                </a:cubicBezTo>
                <a:cubicBezTo>
                  <a:pt x="104180" y="71949"/>
                  <a:pt x="99203" y="66973"/>
                  <a:pt x="93018" y="66973"/>
                </a:cubicBezTo>
                <a:lnTo>
                  <a:pt x="11162" y="66973"/>
                </a:lnTo>
                <a:cubicBezTo>
                  <a:pt x="4976" y="66973"/>
                  <a:pt x="0" y="61996"/>
                  <a:pt x="0" y="55811"/>
                </a:cubicBezTo>
                <a:cubicBezTo>
                  <a:pt x="0" y="49625"/>
                  <a:pt x="4976" y="44648"/>
                  <a:pt x="11162" y="44648"/>
                </a:cubicBezTo>
                <a:lnTo>
                  <a:pt x="29766" y="44648"/>
                </a:lnTo>
                <a:close/>
                <a:moveTo>
                  <a:pt x="267891" y="133945"/>
                </a:moveTo>
                <a:lnTo>
                  <a:pt x="267891" y="110365"/>
                </a:lnTo>
                <a:lnTo>
                  <a:pt x="246822" y="89297"/>
                </a:lnTo>
                <a:lnTo>
                  <a:pt x="223242" y="89297"/>
                </a:lnTo>
                <a:lnTo>
                  <a:pt x="223242" y="133945"/>
                </a:lnTo>
                <a:lnTo>
                  <a:pt x="267891" y="133945"/>
                </a:lnTo>
                <a:close/>
                <a:moveTo>
                  <a:pt x="119062" y="197197"/>
                </a:moveTo>
                <a:cubicBezTo>
                  <a:pt x="119062" y="186930"/>
                  <a:pt x="110727" y="178594"/>
                  <a:pt x="100459" y="178594"/>
                </a:cubicBezTo>
                <a:cubicBezTo>
                  <a:pt x="90191" y="178594"/>
                  <a:pt x="81855" y="186930"/>
                  <a:pt x="81855" y="197197"/>
                </a:cubicBezTo>
                <a:cubicBezTo>
                  <a:pt x="81855" y="207465"/>
                  <a:pt x="90191" y="215801"/>
                  <a:pt x="100459" y="215801"/>
                </a:cubicBezTo>
                <a:cubicBezTo>
                  <a:pt x="110727" y="215801"/>
                  <a:pt x="119062" y="207465"/>
                  <a:pt x="119062" y="197197"/>
                </a:cubicBezTo>
                <a:close/>
                <a:moveTo>
                  <a:pt x="226963" y="215801"/>
                </a:moveTo>
                <a:cubicBezTo>
                  <a:pt x="237230" y="215801"/>
                  <a:pt x="245566" y="207465"/>
                  <a:pt x="245566" y="197197"/>
                </a:cubicBezTo>
                <a:cubicBezTo>
                  <a:pt x="245566" y="186930"/>
                  <a:pt x="237230" y="178594"/>
                  <a:pt x="226963" y="178594"/>
                </a:cubicBezTo>
                <a:cubicBezTo>
                  <a:pt x="216695" y="178594"/>
                  <a:pt x="208359" y="186930"/>
                  <a:pt x="208359" y="197197"/>
                </a:cubicBezTo>
                <a:cubicBezTo>
                  <a:pt x="208359" y="207465"/>
                  <a:pt x="216695" y="215801"/>
                  <a:pt x="226963" y="215801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99281" y="6191250"/>
            <a:ext cx="1889125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Rapid growth of food delivery usage in Pakistan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2709292" y="5762625"/>
            <a:ext cx="2071688" cy="1000125"/>
          </a:xfrm>
          <a:custGeom>
            <a:rect b="b" l="l" r="r" t="t"/>
            <a:pathLst>
              <a:path extrusionOk="0" h="1000125" w="2071688">
                <a:moveTo>
                  <a:pt x="95252" y="0"/>
                </a:moveTo>
                <a:lnTo>
                  <a:pt x="1976436" y="0"/>
                </a:lnTo>
                <a:cubicBezTo>
                  <a:pt x="2029042" y="0"/>
                  <a:pt x="2071688" y="42646"/>
                  <a:pt x="2071688" y="95252"/>
                </a:cubicBezTo>
                <a:lnTo>
                  <a:pt x="2071688" y="904873"/>
                </a:lnTo>
                <a:cubicBezTo>
                  <a:pt x="2071688" y="957479"/>
                  <a:pt x="2029042" y="1000125"/>
                  <a:pt x="1976436" y="1000125"/>
                </a:cubicBezTo>
                <a:lnTo>
                  <a:pt x="95252" y="1000125"/>
                </a:lnTo>
                <a:cubicBezTo>
                  <a:pt x="42646" y="1000125"/>
                  <a:pt x="0" y="957479"/>
                  <a:pt x="0" y="904873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FF8F0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3629298" y="5889625"/>
            <a:ext cx="238125" cy="238125"/>
          </a:xfrm>
          <a:custGeom>
            <a:rect b="b" l="l" r="r" t="t"/>
            <a:pathLst>
              <a:path extrusionOk="0" h="238125" w="238125">
                <a:moveTo>
                  <a:pt x="119062" y="50183"/>
                </a:moveTo>
                <a:lnTo>
                  <a:pt x="112086" y="40509"/>
                </a:lnTo>
                <a:cubicBezTo>
                  <a:pt x="100459" y="24417"/>
                  <a:pt x="81809" y="14883"/>
                  <a:pt x="61903" y="14883"/>
                </a:cubicBezTo>
                <a:cubicBezTo>
                  <a:pt x="27719" y="14883"/>
                  <a:pt x="0" y="42602"/>
                  <a:pt x="0" y="76786"/>
                </a:cubicBezTo>
                <a:lnTo>
                  <a:pt x="0" y="77995"/>
                </a:lnTo>
                <a:cubicBezTo>
                  <a:pt x="0" y="88971"/>
                  <a:pt x="2884" y="100319"/>
                  <a:pt x="7720" y="111621"/>
                </a:cubicBezTo>
                <a:lnTo>
                  <a:pt x="57020" y="111621"/>
                </a:lnTo>
                <a:cubicBezTo>
                  <a:pt x="58508" y="111621"/>
                  <a:pt x="59857" y="110737"/>
                  <a:pt x="60461" y="109342"/>
                </a:cubicBezTo>
                <a:lnTo>
                  <a:pt x="75251" y="73856"/>
                </a:lnTo>
                <a:cubicBezTo>
                  <a:pt x="76972" y="69763"/>
                  <a:pt x="80972" y="67066"/>
                  <a:pt x="85390" y="66973"/>
                </a:cubicBezTo>
                <a:cubicBezTo>
                  <a:pt x="89808" y="66880"/>
                  <a:pt x="93901" y="69484"/>
                  <a:pt x="95715" y="73530"/>
                </a:cubicBezTo>
                <a:lnTo>
                  <a:pt x="119574" y="126504"/>
                </a:lnTo>
                <a:lnTo>
                  <a:pt x="138829" y="87995"/>
                </a:lnTo>
                <a:cubicBezTo>
                  <a:pt x="140736" y="84227"/>
                  <a:pt x="144596" y="81809"/>
                  <a:pt x="148828" y="81809"/>
                </a:cubicBezTo>
                <a:cubicBezTo>
                  <a:pt x="153060" y="81809"/>
                  <a:pt x="156921" y="84181"/>
                  <a:pt x="158828" y="87995"/>
                </a:cubicBezTo>
                <a:lnTo>
                  <a:pt x="169618" y="109528"/>
                </a:lnTo>
                <a:cubicBezTo>
                  <a:pt x="170269" y="110784"/>
                  <a:pt x="171524" y="111575"/>
                  <a:pt x="172966" y="111575"/>
                </a:cubicBezTo>
                <a:lnTo>
                  <a:pt x="230451" y="111575"/>
                </a:lnTo>
                <a:cubicBezTo>
                  <a:pt x="235334" y="100273"/>
                  <a:pt x="238172" y="88925"/>
                  <a:pt x="238172" y="77949"/>
                </a:cubicBezTo>
                <a:lnTo>
                  <a:pt x="238172" y="76740"/>
                </a:lnTo>
                <a:cubicBezTo>
                  <a:pt x="238125" y="42602"/>
                  <a:pt x="210406" y="14883"/>
                  <a:pt x="176222" y="14883"/>
                </a:cubicBezTo>
                <a:cubicBezTo>
                  <a:pt x="156363" y="14883"/>
                  <a:pt x="137666" y="24417"/>
                  <a:pt x="126039" y="40509"/>
                </a:cubicBezTo>
                <a:lnTo>
                  <a:pt x="119062" y="50136"/>
                </a:lnTo>
                <a:close/>
                <a:moveTo>
                  <a:pt x="218405" y="133945"/>
                </a:moveTo>
                <a:lnTo>
                  <a:pt x="172920" y="133945"/>
                </a:lnTo>
                <a:cubicBezTo>
                  <a:pt x="163060" y="133945"/>
                  <a:pt x="154037" y="128364"/>
                  <a:pt x="149619" y="119528"/>
                </a:cubicBezTo>
                <a:lnTo>
                  <a:pt x="148828" y="117946"/>
                </a:lnTo>
                <a:lnTo>
                  <a:pt x="129062" y="157525"/>
                </a:lnTo>
                <a:cubicBezTo>
                  <a:pt x="127155" y="161385"/>
                  <a:pt x="123155" y="163804"/>
                  <a:pt x="118830" y="163711"/>
                </a:cubicBezTo>
                <a:cubicBezTo>
                  <a:pt x="114505" y="163618"/>
                  <a:pt x="110644" y="161060"/>
                  <a:pt x="108877" y="157153"/>
                </a:cubicBezTo>
                <a:lnTo>
                  <a:pt x="85948" y="106226"/>
                </a:lnTo>
                <a:lnTo>
                  <a:pt x="81065" y="117946"/>
                </a:lnTo>
                <a:cubicBezTo>
                  <a:pt x="77019" y="127667"/>
                  <a:pt x="67531" y="133992"/>
                  <a:pt x="57020" y="133992"/>
                </a:cubicBezTo>
                <a:lnTo>
                  <a:pt x="19720" y="133992"/>
                </a:lnTo>
                <a:cubicBezTo>
                  <a:pt x="41672" y="168315"/>
                  <a:pt x="76926" y="199895"/>
                  <a:pt x="98971" y="216731"/>
                </a:cubicBezTo>
                <a:cubicBezTo>
                  <a:pt x="104738" y="221103"/>
                  <a:pt x="111807" y="223289"/>
                  <a:pt x="119016" y="223289"/>
                </a:cubicBezTo>
                <a:cubicBezTo>
                  <a:pt x="126225" y="223289"/>
                  <a:pt x="133341" y="221149"/>
                  <a:pt x="139061" y="216731"/>
                </a:cubicBezTo>
                <a:cubicBezTo>
                  <a:pt x="161199" y="199848"/>
                  <a:pt x="196453" y="168269"/>
                  <a:pt x="218405" y="133945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2800573" y="6191250"/>
            <a:ext cx="1889125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Rising lifestyle-related health concerns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910584" y="5762625"/>
            <a:ext cx="2071688" cy="1000125"/>
          </a:xfrm>
          <a:custGeom>
            <a:rect b="b" l="l" r="r" t="t"/>
            <a:pathLst>
              <a:path extrusionOk="0" h="1000125" w="2071688">
                <a:moveTo>
                  <a:pt x="95252" y="0"/>
                </a:moveTo>
                <a:lnTo>
                  <a:pt x="1976436" y="0"/>
                </a:lnTo>
                <a:cubicBezTo>
                  <a:pt x="2029042" y="0"/>
                  <a:pt x="2071688" y="42646"/>
                  <a:pt x="2071688" y="95252"/>
                </a:cubicBezTo>
                <a:lnTo>
                  <a:pt x="2071688" y="904873"/>
                </a:lnTo>
                <a:cubicBezTo>
                  <a:pt x="2071688" y="957479"/>
                  <a:pt x="2029042" y="1000125"/>
                  <a:pt x="1976436" y="1000125"/>
                </a:cubicBezTo>
                <a:lnTo>
                  <a:pt x="95252" y="1000125"/>
                </a:lnTo>
                <a:cubicBezTo>
                  <a:pt x="42646" y="1000125"/>
                  <a:pt x="0" y="957479"/>
                  <a:pt x="0" y="904873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FF8F0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830714" y="5889625"/>
            <a:ext cx="238125" cy="238125"/>
          </a:xfrm>
          <a:custGeom>
            <a:rect b="b" l="l" r="r" t="t"/>
            <a:pathLst>
              <a:path extrusionOk="0" h="238125" w="238125">
                <a:moveTo>
                  <a:pt x="119062" y="0"/>
                </a:moveTo>
                <a:cubicBezTo>
                  <a:pt x="184775" y="0"/>
                  <a:pt x="238125" y="53350"/>
                  <a:pt x="238125" y="119062"/>
                </a:cubicBezTo>
                <a:cubicBezTo>
                  <a:pt x="238125" y="184775"/>
                  <a:pt x="184775" y="238125"/>
                  <a:pt x="119062" y="238125"/>
                </a:cubicBezTo>
                <a:cubicBezTo>
                  <a:pt x="53350" y="238125"/>
                  <a:pt x="0" y="184775"/>
                  <a:pt x="0" y="119063"/>
                </a:cubicBezTo>
                <a:cubicBezTo>
                  <a:pt x="0" y="53350"/>
                  <a:pt x="53350" y="0"/>
                  <a:pt x="119062" y="0"/>
                </a:cubicBezTo>
                <a:close/>
                <a:moveTo>
                  <a:pt x="107900" y="55811"/>
                </a:moveTo>
                <a:lnTo>
                  <a:pt x="107900" y="119062"/>
                </a:lnTo>
                <a:cubicBezTo>
                  <a:pt x="107900" y="122783"/>
                  <a:pt x="109761" y="126271"/>
                  <a:pt x="112877" y="128364"/>
                </a:cubicBezTo>
                <a:lnTo>
                  <a:pt x="157525" y="158130"/>
                </a:lnTo>
                <a:cubicBezTo>
                  <a:pt x="162641" y="161572"/>
                  <a:pt x="169571" y="160176"/>
                  <a:pt x="173013" y="155014"/>
                </a:cubicBezTo>
                <a:cubicBezTo>
                  <a:pt x="176454" y="149851"/>
                  <a:pt x="175059" y="142968"/>
                  <a:pt x="169897" y="139526"/>
                </a:cubicBezTo>
                <a:lnTo>
                  <a:pt x="130225" y="113109"/>
                </a:lnTo>
                <a:lnTo>
                  <a:pt x="130225" y="55811"/>
                </a:lnTo>
                <a:cubicBezTo>
                  <a:pt x="130225" y="49625"/>
                  <a:pt x="125248" y="44648"/>
                  <a:pt x="119062" y="44648"/>
                </a:cubicBezTo>
                <a:cubicBezTo>
                  <a:pt x="112877" y="44648"/>
                  <a:pt x="107900" y="49625"/>
                  <a:pt x="107900" y="55811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001865" y="6191250"/>
            <a:ext cx="1889125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Increasing urban work hours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7397750" y="1111250"/>
            <a:ext cx="4476750" cy="5048250"/>
          </a:xfrm>
          <a:custGeom>
            <a:rect b="b" l="l" r="r" t="t"/>
            <a:pathLst>
              <a:path extrusionOk="0" h="5048250" w="4476750">
                <a:moveTo>
                  <a:pt x="63500" y="0"/>
                </a:moveTo>
                <a:lnTo>
                  <a:pt x="4286264" y="0"/>
                </a:lnTo>
                <a:cubicBezTo>
                  <a:pt x="4391396" y="0"/>
                  <a:pt x="4476750" y="85354"/>
                  <a:pt x="4476750" y="190486"/>
                </a:cubicBezTo>
                <a:lnTo>
                  <a:pt x="4476750" y="4857764"/>
                </a:lnTo>
                <a:cubicBezTo>
                  <a:pt x="4476750" y="4962967"/>
                  <a:pt x="4391467" y="5048250"/>
                  <a:pt x="4286264" y="5048250"/>
                </a:cubicBezTo>
                <a:lnTo>
                  <a:pt x="63500" y="5048250"/>
                </a:lnTo>
                <a:cubicBezTo>
                  <a:pt x="28453" y="5048250"/>
                  <a:pt x="0" y="5019797"/>
                  <a:pt x="0" y="49847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98438" rotWithShape="0" algn="bl" dir="5400000" dist="15875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7397750" y="1111250"/>
            <a:ext cx="63500" cy="5048250"/>
          </a:xfrm>
          <a:custGeom>
            <a:rect b="b" l="l" r="r" t="t"/>
            <a:pathLst>
              <a:path extrusionOk="0" h="5048250" w="63500">
                <a:moveTo>
                  <a:pt x="63500" y="0"/>
                </a:moveTo>
                <a:lnTo>
                  <a:pt x="63500" y="0"/>
                </a:lnTo>
                <a:lnTo>
                  <a:pt x="63500" y="5048250"/>
                </a:lnTo>
                <a:lnTo>
                  <a:pt x="63500" y="5048250"/>
                </a:lnTo>
                <a:cubicBezTo>
                  <a:pt x="28453" y="5048250"/>
                  <a:pt x="0" y="5019797"/>
                  <a:pt x="0" y="49847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7683500" y="1365250"/>
            <a:ext cx="444500" cy="444500"/>
          </a:xfrm>
          <a:custGeom>
            <a:rect b="b" l="l" r="r" t="t"/>
            <a:pathLst>
              <a:path extrusionOk="0" h="444500" w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7810500" y="1492250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8223250" y="1444625"/>
            <a:ext cx="1762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A1A2E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If Unaddressed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7683500" y="2000250"/>
            <a:ext cx="3937000" cy="1143000"/>
          </a:xfrm>
          <a:custGeom>
            <a:rect b="b" l="l" r="r" t="t"/>
            <a:pathLst>
              <a:path extrusionOk="0" h="1143000" w="3937000">
                <a:moveTo>
                  <a:pt x="126999" y="0"/>
                </a:moveTo>
                <a:lnTo>
                  <a:pt x="3810001" y="0"/>
                </a:lnTo>
                <a:cubicBezTo>
                  <a:pt x="3880141" y="0"/>
                  <a:pt x="3937000" y="56859"/>
                  <a:pt x="3937000" y="126999"/>
                </a:cubicBezTo>
                <a:lnTo>
                  <a:pt x="3937000" y="1016001"/>
                </a:lnTo>
                <a:cubicBezTo>
                  <a:pt x="3937000" y="1086141"/>
                  <a:pt x="3880141" y="1143000"/>
                  <a:pt x="3810001" y="1143000"/>
                </a:cubicBezTo>
                <a:lnTo>
                  <a:pt x="126999" y="1143000"/>
                </a:lnTo>
                <a:cubicBezTo>
                  <a:pt x="56859" y="1143000"/>
                  <a:pt x="0" y="1086141"/>
                  <a:pt x="0" y="1016001"/>
                </a:cubicBezTo>
                <a:lnTo>
                  <a:pt x="0" y="126999"/>
                </a:lnTo>
                <a:cubicBezTo>
                  <a:pt x="0" y="56906"/>
                  <a:pt x="56906" y="0"/>
                  <a:pt x="126999" y="0"/>
                </a:cubicBezTo>
                <a:close/>
              </a:path>
            </a:pathLst>
          </a:custGeom>
          <a:solidFill>
            <a:srgbClr val="E85D04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7754938" y="2190750"/>
            <a:ext cx="37941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rgbClr val="E85D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15–20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7834313" y="2730500"/>
            <a:ext cx="3635375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minutes lost daily deciding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7683500" y="3143250"/>
            <a:ext cx="3937000" cy="920750"/>
          </a:xfrm>
          <a:custGeom>
            <a:rect b="b" l="l" r="r" t="t"/>
            <a:pathLst>
              <a:path extrusionOk="0" h="920750" w="3937000">
                <a:moveTo>
                  <a:pt x="126999" y="0"/>
                </a:moveTo>
                <a:lnTo>
                  <a:pt x="3810001" y="0"/>
                </a:lnTo>
                <a:cubicBezTo>
                  <a:pt x="3880141" y="0"/>
                  <a:pt x="3937000" y="56859"/>
                  <a:pt x="3937000" y="126999"/>
                </a:cubicBezTo>
                <a:lnTo>
                  <a:pt x="3937000" y="793751"/>
                </a:lnTo>
                <a:cubicBezTo>
                  <a:pt x="3937000" y="863891"/>
                  <a:pt x="3880141" y="920750"/>
                  <a:pt x="3810001" y="920750"/>
                </a:cubicBezTo>
                <a:lnTo>
                  <a:pt x="126999" y="920750"/>
                </a:lnTo>
                <a:cubicBezTo>
                  <a:pt x="56859" y="920750"/>
                  <a:pt x="0" y="863891"/>
                  <a:pt x="0" y="793751"/>
                </a:cubicBezTo>
                <a:lnTo>
                  <a:pt x="0" y="126999"/>
                </a:lnTo>
                <a:cubicBezTo>
                  <a:pt x="0" y="56906"/>
                  <a:pt x="56906" y="0"/>
                  <a:pt x="126999" y="0"/>
                </a:cubicBezTo>
                <a:close/>
              </a:path>
            </a:pathLst>
          </a:custGeom>
          <a:solidFill>
            <a:srgbClr val="2D6A4F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7826375" y="3333750"/>
            <a:ext cx="36512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Increased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7834313" y="3651250"/>
            <a:ext cx="3635375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E85D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impulse food spending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7683500" y="4064000"/>
            <a:ext cx="3937000" cy="920750"/>
          </a:xfrm>
          <a:custGeom>
            <a:rect b="b" l="l" r="r" t="t"/>
            <a:pathLst>
              <a:path extrusionOk="0" h="920750" w="3937000">
                <a:moveTo>
                  <a:pt x="126999" y="0"/>
                </a:moveTo>
                <a:lnTo>
                  <a:pt x="3810001" y="0"/>
                </a:lnTo>
                <a:cubicBezTo>
                  <a:pt x="3880141" y="0"/>
                  <a:pt x="3937000" y="56859"/>
                  <a:pt x="3937000" y="126999"/>
                </a:cubicBezTo>
                <a:lnTo>
                  <a:pt x="3937000" y="793751"/>
                </a:lnTo>
                <a:cubicBezTo>
                  <a:pt x="3937000" y="863891"/>
                  <a:pt x="3880141" y="920750"/>
                  <a:pt x="3810001" y="920750"/>
                </a:cubicBezTo>
                <a:lnTo>
                  <a:pt x="126999" y="920750"/>
                </a:lnTo>
                <a:cubicBezTo>
                  <a:pt x="56859" y="920750"/>
                  <a:pt x="0" y="863891"/>
                  <a:pt x="0" y="793751"/>
                </a:cubicBezTo>
                <a:lnTo>
                  <a:pt x="0" y="126999"/>
                </a:lnTo>
                <a:cubicBezTo>
                  <a:pt x="0" y="56906"/>
                  <a:pt x="56906" y="0"/>
                  <a:pt x="126999" y="0"/>
                </a:cubicBezTo>
                <a:close/>
              </a:path>
            </a:pathLst>
          </a:custGeom>
          <a:solidFill>
            <a:srgbClr val="F48C06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7826375" y="4254500"/>
            <a:ext cx="36512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7834313" y="4572000"/>
            <a:ext cx="3635375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2D6A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dietary consistency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7683500" y="4984750"/>
            <a:ext cx="3937000" cy="920750"/>
          </a:xfrm>
          <a:custGeom>
            <a:rect b="b" l="l" r="r" t="t"/>
            <a:pathLst>
              <a:path extrusionOk="0" h="920750" w="3937000">
                <a:moveTo>
                  <a:pt x="126999" y="0"/>
                </a:moveTo>
                <a:lnTo>
                  <a:pt x="3810001" y="0"/>
                </a:lnTo>
                <a:cubicBezTo>
                  <a:pt x="3880141" y="0"/>
                  <a:pt x="3937000" y="56859"/>
                  <a:pt x="3937000" y="126999"/>
                </a:cubicBezTo>
                <a:lnTo>
                  <a:pt x="3937000" y="793751"/>
                </a:lnTo>
                <a:cubicBezTo>
                  <a:pt x="3937000" y="863891"/>
                  <a:pt x="3880141" y="920750"/>
                  <a:pt x="3810001" y="920750"/>
                </a:cubicBezTo>
                <a:lnTo>
                  <a:pt x="126999" y="920750"/>
                </a:lnTo>
                <a:cubicBezTo>
                  <a:pt x="56859" y="920750"/>
                  <a:pt x="0" y="863891"/>
                  <a:pt x="0" y="793751"/>
                </a:cubicBezTo>
                <a:lnTo>
                  <a:pt x="0" y="126999"/>
                </a:lnTo>
                <a:cubicBezTo>
                  <a:pt x="0" y="56906"/>
                  <a:pt x="56906" y="0"/>
                  <a:pt x="126999" y="0"/>
                </a:cubicBezTo>
                <a:close/>
              </a:path>
            </a:pathLst>
          </a:custGeom>
          <a:solidFill>
            <a:srgbClr val="1A1A2E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7826375" y="5175250"/>
            <a:ext cx="36512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Accumulated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7834313" y="5492750"/>
            <a:ext cx="3635375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E85D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micro-stress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7366000" y="6350000"/>
            <a:ext cx="4508500" cy="603250"/>
          </a:xfrm>
          <a:custGeom>
            <a:rect b="b" l="l" r="r" t="t"/>
            <a:pathLst>
              <a:path extrusionOk="0" h="603250" w="4508500">
                <a:moveTo>
                  <a:pt x="127002" y="0"/>
                </a:moveTo>
                <a:lnTo>
                  <a:pt x="4381498" y="0"/>
                </a:lnTo>
                <a:cubicBezTo>
                  <a:pt x="4451639" y="0"/>
                  <a:pt x="4508500" y="56861"/>
                  <a:pt x="4508500" y="127002"/>
                </a:cubicBezTo>
                <a:lnTo>
                  <a:pt x="4508500" y="476248"/>
                </a:lnTo>
                <a:cubicBezTo>
                  <a:pt x="4508500" y="546389"/>
                  <a:pt x="4451639" y="603250"/>
                  <a:pt x="4381498" y="603250"/>
                </a:cubicBezTo>
                <a:lnTo>
                  <a:pt x="127002" y="603250"/>
                </a:lnTo>
                <a:cubicBezTo>
                  <a:pt x="56861" y="603250"/>
                  <a:pt x="0" y="546389"/>
                  <a:pt x="0" y="476248"/>
                </a:cubicBezTo>
                <a:lnTo>
                  <a:pt x="0" y="127002"/>
                </a:lnTo>
                <a:cubicBezTo>
                  <a:pt x="0" y="56861"/>
                  <a:pt x="56861" y="0"/>
                  <a:pt x="127002" y="0"/>
                </a:cubicBezTo>
                <a:close/>
              </a:path>
            </a:pathLst>
          </a:custGeom>
          <a:solidFill>
            <a:srgbClr val="E85D0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7516813" y="6540500"/>
            <a:ext cx="4206875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Small daily friction → long-term behavioral impact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0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/>
          <p:nvPr/>
        </p:nvSpPr>
        <p:spPr>
          <a:xfrm>
            <a:off x="381000" y="438150"/>
            <a:ext cx="609600" cy="609600"/>
          </a:xfrm>
          <a:custGeom>
            <a:rect b="b" l="l" r="r" t="t"/>
            <a:pathLst>
              <a:path extrusionOk="0" h="609600" w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545306" y="600075"/>
            <a:ext cx="285750" cy="285750"/>
          </a:xfrm>
          <a:custGeom>
            <a:rect b="b" l="l" r="r" t="t"/>
            <a:pathLst>
              <a:path extrusionOk="0" h="285750" w="285750">
                <a:moveTo>
                  <a:pt x="125016" y="0"/>
                </a:moveTo>
                <a:lnTo>
                  <a:pt x="125016" y="35719"/>
                </a:lnTo>
                <a:cubicBezTo>
                  <a:pt x="125016" y="40630"/>
                  <a:pt x="129034" y="44648"/>
                  <a:pt x="133945" y="44648"/>
                </a:cubicBezTo>
                <a:lnTo>
                  <a:pt x="151805" y="44648"/>
                </a:lnTo>
                <a:cubicBezTo>
                  <a:pt x="156716" y="44648"/>
                  <a:pt x="160734" y="40630"/>
                  <a:pt x="160734" y="35719"/>
                </a:cubicBezTo>
                <a:lnTo>
                  <a:pt x="160734" y="0"/>
                </a:lnTo>
                <a:lnTo>
                  <a:pt x="178594" y="0"/>
                </a:lnTo>
                <a:cubicBezTo>
                  <a:pt x="198295" y="0"/>
                  <a:pt x="214313" y="16018"/>
                  <a:pt x="214313" y="35719"/>
                </a:cubicBezTo>
                <a:lnTo>
                  <a:pt x="214313" y="107156"/>
                </a:lnTo>
                <a:cubicBezTo>
                  <a:pt x="214313" y="110226"/>
                  <a:pt x="213922" y="113240"/>
                  <a:pt x="213196" y="116086"/>
                </a:cubicBezTo>
                <a:lnTo>
                  <a:pt x="72554" y="116086"/>
                </a:lnTo>
                <a:cubicBezTo>
                  <a:pt x="71828" y="113240"/>
                  <a:pt x="71438" y="110226"/>
                  <a:pt x="71438" y="107156"/>
                </a:cubicBezTo>
                <a:lnTo>
                  <a:pt x="71438" y="35719"/>
                </a:lnTo>
                <a:cubicBezTo>
                  <a:pt x="71438" y="16018"/>
                  <a:pt x="87455" y="0"/>
                  <a:pt x="107156" y="0"/>
                </a:cubicBezTo>
                <a:lnTo>
                  <a:pt x="125016" y="0"/>
                </a:lnTo>
                <a:close/>
                <a:moveTo>
                  <a:pt x="178594" y="285750"/>
                </a:moveTo>
                <a:cubicBezTo>
                  <a:pt x="172343" y="285750"/>
                  <a:pt x="166427" y="284131"/>
                  <a:pt x="161292" y="281285"/>
                </a:cubicBezTo>
                <a:cubicBezTo>
                  <a:pt x="166594" y="272076"/>
                  <a:pt x="169664" y="261417"/>
                  <a:pt x="169664" y="250031"/>
                </a:cubicBezTo>
                <a:lnTo>
                  <a:pt x="169664" y="178594"/>
                </a:lnTo>
                <a:cubicBezTo>
                  <a:pt x="169664" y="167208"/>
                  <a:pt x="166594" y="156549"/>
                  <a:pt x="161292" y="147340"/>
                </a:cubicBezTo>
                <a:cubicBezTo>
                  <a:pt x="166427" y="144494"/>
                  <a:pt x="172287" y="142875"/>
                  <a:pt x="178594" y="142875"/>
                </a:cubicBezTo>
                <a:lnTo>
                  <a:pt x="196453" y="142875"/>
                </a:lnTo>
                <a:lnTo>
                  <a:pt x="196453" y="178594"/>
                </a:lnTo>
                <a:cubicBezTo>
                  <a:pt x="196453" y="183505"/>
                  <a:pt x="200471" y="187523"/>
                  <a:pt x="205383" y="187523"/>
                </a:cubicBezTo>
                <a:lnTo>
                  <a:pt x="223242" y="187523"/>
                </a:lnTo>
                <a:cubicBezTo>
                  <a:pt x="228154" y="187523"/>
                  <a:pt x="232172" y="183505"/>
                  <a:pt x="232172" y="178594"/>
                </a:cubicBezTo>
                <a:lnTo>
                  <a:pt x="232172" y="142875"/>
                </a:lnTo>
                <a:lnTo>
                  <a:pt x="250031" y="142875"/>
                </a:lnTo>
                <a:cubicBezTo>
                  <a:pt x="269732" y="142875"/>
                  <a:pt x="285750" y="158893"/>
                  <a:pt x="285750" y="178594"/>
                </a:cubicBezTo>
                <a:lnTo>
                  <a:pt x="285750" y="250031"/>
                </a:lnTo>
                <a:cubicBezTo>
                  <a:pt x="285750" y="269732"/>
                  <a:pt x="269732" y="285750"/>
                  <a:pt x="250031" y="285750"/>
                </a:cubicBezTo>
                <a:lnTo>
                  <a:pt x="178594" y="285750"/>
                </a:lnTo>
                <a:close/>
                <a:moveTo>
                  <a:pt x="0" y="178594"/>
                </a:moveTo>
                <a:cubicBezTo>
                  <a:pt x="0" y="158893"/>
                  <a:pt x="16018" y="142875"/>
                  <a:pt x="35719" y="142875"/>
                </a:cubicBezTo>
                <a:lnTo>
                  <a:pt x="53578" y="142875"/>
                </a:lnTo>
                <a:lnTo>
                  <a:pt x="53578" y="178594"/>
                </a:lnTo>
                <a:cubicBezTo>
                  <a:pt x="53578" y="183505"/>
                  <a:pt x="57596" y="187523"/>
                  <a:pt x="62508" y="187523"/>
                </a:cubicBezTo>
                <a:lnTo>
                  <a:pt x="80367" y="187523"/>
                </a:lnTo>
                <a:cubicBezTo>
                  <a:pt x="85279" y="187523"/>
                  <a:pt x="89297" y="183505"/>
                  <a:pt x="89297" y="178594"/>
                </a:cubicBezTo>
                <a:lnTo>
                  <a:pt x="89297" y="142875"/>
                </a:lnTo>
                <a:lnTo>
                  <a:pt x="107156" y="142875"/>
                </a:lnTo>
                <a:cubicBezTo>
                  <a:pt x="126857" y="142875"/>
                  <a:pt x="142875" y="158893"/>
                  <a:pt x="142875" y="178594"/>
                </a:cubicBezTo>
                <a:lnTo>
                  <a:pt x="142875" y="250031"/>
                </a:lnTo>
                <a:cubicBezTo>
                  <a:pt x="142875" y="269732"/>
                  <a:pt x="126857" y="285750"/>
                  <a:pt x="107156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178594"/>
                </a:ln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1143000" y="381000"/>
            <a:ext cx="43719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D6A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EXISTING PRODUCTS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143000" y="647700"/>
            <a:ext cx="45053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Existing Alternatives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381000" y="1333500"/>
            <a:ext cx="1154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Partial but Incomplete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381000" y="1905000"/>
            <a:ext cx="3657600" cy="3581400"/>
          </a:xfrm>
          <a:custGeom>
            <a:rect b="b" l="l" r="r" t="t"/>
            <a:pathLst>
              <a:path extrusionOk="0" h="3581400" w="3657600">
                <a:moveTo>
                  <a:pt x="76200" y="0"/>
                </a:moveTo>
                <a:lnTo>
                  <a:pt x="3581400" y="0"/>
                </a:lnTo>
                <a:cubicBezTo>
                  <a:pt x="3623456" y="0"/>
                  <a:pt x="3657600" y="34144"/>
                  <a:pt x="3657600" y="76200"/>
                </a:cubicBezTo>
                <a:lnTo>
                  <a:pt x="3657600" y="3352799"/>
                </a:lnTo>
                <a:cubicBezTo>
                  <a:pt x="3657600" y="3479052"/>
                  <a:pt x="3555252" y="3581400"/>
                  <a:pt x="3428999" y="3581400"/>
                </a:cubicBezTo>
                <a:lnTo>
                  <a:pt x="228601" y="3581400"/>
                </a:lnTo>
                <a:cubicBezTo>
                  <a:pt x="102348" y="3581400"/>
                  <a:pt x="0" y="3479052"/>
                  <a:pt x="0" y="3352799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38125" rotWithShape="0" algn="bl" dir="5400000" dist="1905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381000" y="1905000"/>
            <a:ext cx="3657600" cy="76200"/>
          </a:xfrm>
          <a:custGeom>
            <a:rect b="b" l="l" r="r" t="t"/>
            <a:pathLst>
              <a:path extrusionOk="0" h="76200" w="3657600">
                <a:moveTo>
                  <a:pt x="76200" y="0"/>
                </a:moveTo>
                <a:lnTo>
                  <a:pt x="3581400" y="0"/>
                </a:lnTo>
                <a:cubicBezTo>
                  <a:pt x="3623456" y="0"/>
                  <a:pt x="3657600" y="34144"/>
                  <a:pt x="3657600" y="76200"/>
                </a:cubicBezTo>
                <a:lnTo>
                  <a:pt x="3657600" y="76200"/>
                </a:lnTo>
                <a:lnTo>
                  <a:pt x="0" y="76200"/>
                </a:ln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85D0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09600" y="2171700"/>
            <a:ext cx="533400" cy="533400"/>
          </a:xfrm>
          <a:custGeom>
            <a:rect b="b" l="l" r="r" t="t"/>
            <a:pathLst>
              <a:path extrusionOk="0" h="533400" w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E85D0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790575" y="2324100"/>
            <a:ext cx="171450" cy="228600"/>
          </a:xfrm>
          <a:custGeom>
            <a:rect b="b" l="l" r="r" t="t"/>
            <a:pathLst>
              <a:path extrusionOk="0" h="228600" w="17145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42863" y="28575"/>
                </a:moveTo>
                <a:lnTo>
                  <a:pt x="128588" y="28575"/>
                </a:lnTo>
                <a:cubicBezTo>
                  <a:pt x="136490" y="28575"/>
                  <a:pt x="142875" y="34960"/>
                  <a:pt x="142875" y="42863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42863" y="71438"/>
                </a:lnTo>
                <a:cubicBezTo>
                  <a:pt x="34960" y="71438"/>
                  <a:pt x="28575" y="65053"/>
                  <a:pt x="28575" y="57150"/>
                </a:cubicBezTo>
                <a:lnTo>
                  <a:pt x="28575" y="42863"/>
                </a:lnTo>
                <a:cubicBezTo>
                  <a:pt x="28575" y="34960"/>
                  <a:pt x="34960" y="28575"/>
                  <a:pt x="42863" y="28575"/>
                </a:cubicBezTo>
                <a:close/>
                <a:moveTo>
                  <a:pt x="50006" y="103584"/>
                </a:moveTo>
                <a:cubicBezTo>
                  <a:pt x="50006" y="109498"/>
                  <a:pt x="45205" y="114300"/>
                  <a:pt x="39291" y="114300"/>
                </a:cubicBezTo>
                <a:cubicBezTo>
                  <a:pt x="33377" y="114300"/>
                  <a:pt x="28575" y="109498"/>
                  <a:pt x="28575" y="103584"/>
                </a:cubicBezTo>
                <a:cubicBezTo>
                  <a:pt x="28575" y="97670"/>
                  <a:pt x="33377" y="92869"/>
                  <a:pt x="39291" y="92869"/>
                </a:cubicBezTo>
                <a:cubicBezTo>
                  <a:pt x="45205" y="92869"/>
                  <a:pt x="50006" y="97670"/>
                  <a:pt x="50006" y="103584"/>
                </a:cubicBezTo>
                <a:close/>
                <a:moveTo>
                  <a:pt x="85725" y="114300"/>
                </a:moveTo>
                <a:cubicBezTo>
                  <a:pt x="79811" y="114300"/>
                  <a:pt x="75009" y="109498"/>
                  <a:pt x="75009" y="103584"/>
                </a:cubicBezTo>
                <a:cubicBezTo>
                  <a:pt x="75009" y="97670"/>
                  <a:pt x="79811" y="92869"/>
                  <a:pt x="85725" y="92869"/>
                </a:cubicBezTo>
                <a:cubicBezTo>
                  <a:pt x="91639" y="92869"/>
                  <a:pt x="96441" y="97670"/>
                  <a:pt x="96441" y="103584"/>
                </a:cubicBezTo>
                <a:cubicBezTo>
                  <a:pt x="96441" y="109498"/>
                  <a:pt x="91639" y="114300"/>
                  <a:pt x="85725" y="114300"/>
                </a:cubicBezTo>
                <a:close/>
                <a:moveTo>
                  <a:pt x="142875" y="103584"/>
                </a:moveTo>
                <a:cubicBezTo>
                  <a:pt x="142875" y="109498"/>
                  <a:pt x="138073" y="114300"/>
                  <a:pt x="132159" y="114300"/>
                </a:cubicBezTo>
                <a:cubicBezTo>
                  <a:pt x="126245" y="114300"/>
                  <a:pt x="121444" y="109498"/>
                  <a:pt x="121444" y="103584"/>
                </a:cubicBezTo>
                <a:cubicBezTo>
                  <a:pt x="121444" y="97670"/>
                  <a:pt x="126245" y="92869"/>
                  <a:pt x="132159" y="92869"/>
                </a:cubicBezTo>
                <a:cubicBezTo>
                  <a:pt x="138073" y="92869"/>
                  <a:pt x="142875" y="97670"/>
                  <a:pt x="142875" y="103584"/>
                </a:cubicBezTo>
                <a:close/>
                <a:moveTo>
                  <a:pt x="39291" y="157163"/>
                </a:moveTo>
                <a:cubicBezTo>
                  <a:pt x="33377" y="157163"/>
                  <a:pt x="28575" y="152361"/>
                  <a:pt x="28575" y="146447"/>
                </a:cubicBezTo>
                <a:cubicBezTo>
                  <a:pt x="28575" y="140533"/>
                  <a:pt x="33377" y="135731"/>
                  <a:pt x="39291" y="135731"/>
                </a:cubicBezTo>
                <a:cubicBezTo>
                  <a:pt x="45205" y="135731"/>
                  <a:pt x="50006" y="140533"/>
                  <a:pt x="50006" y="146447"/>
                </a:cubicBezTo>
                <a:cubicBezTo>
                  <a:pt x="50006" y="152361"/>
                  <a:pt x="45205" y="157163"/>
                  <a:pt x="39291" y="157163"/>
                </a:cubicBezTo>
                <a:close/>
                <a:moveTo>
                  <a:pt x="96441" y="146447"/>
                </a:moveTo>
                <a:cubicBezTo>
                  <a:pt x="96441" y="152361"/>
                  <a:pt x="91639" y="157163"/>
                  <a:pt x="85725" y="157163"/>
                </a:cubicBezTo>
                <a:cubicBezTo>
                  <a:pt x="79811" y="157163"/>
                  <a:pt x="75009" y="152361"/>
                  <a:pt x="75009" y="146447"/>
                </a:cubicBezTo>
                <a:cubicBezTo>
                  <a:pt x="75009" y="140533"/>
                  <a:pt x="79811" y="135731"/>
                  <a:pt x="85725" y="135731"/>
                </a:cubicBezTo>
                <a:cubicBezTo>
                  <a:pt x="91639" y="135731"/>
                  <a:pt x="96441" y="140533"/>
                  <a:pt x="96441" y="146447"/>
                </a:cubicBezTo>
                <a:close/>
                <a:moveTo>
                  <a:pt x="132159" y="157163"/>
                </a:moveTo>
                <a:cubicBezTo>
                  <a:pt x="126245" y="157163"/>
                  <a:pt x="121444" y="152361"/>
                  <a:pt x="121444" y="146447"/>
                </a:cubicBezTo>
                <a:cubicBezTo>
                  <a:pt x="121444" y="140533"/>
                  <a:pt x="126245" y="135731"/>
                  <a:pt x="132159" y="135731"/>
                </a:cubicBezTo>
                <a:cubicBezTo>
                  <a:pt x="138073" y="135731"/>
                  <a:pt x="142875" y="140533"/>
                  <a:pt x="142875" y="146447"/>
                </a:cubicBezTo>
                <a:cubicBezTo>
                  <a:pt x="142875" y="152361"/>
                  <a:pt x="138073" y="157163"/>
                  <a:pt x="132159" y="157163"/>
                </a:cubicBezTo>
                <a:close/>
                <a:moveTo>
                  <a:pt x="28575" y="189309"/>
                </a:moveTo>
                <a:cubicBezTo>
                  <a:pt x="28575" y="183371"/>
                  <a:pt x="33352" y="178594"/>
                  <a:pt x="39291" y="178594"/>
                </a:cubicBezTo>
                <a:lnTo>
                  <a:pt x="89297" y="178594"/>
                </a:lnTo>
                <a:cubicBezTo>
                  <a:pt x="95235" y="178594"/>
                  <a:pt x="100013" y="183371"/>
                  <a:pt x="100013" y="189309"/>
                </a:cubicBezTo>
                <a:cubicBezTo>
                  <a:pt x="100013" y="195248"/>
                  <a:pt x="95235" y="200025"/>
                  <a:pt x="89297" y="200025"/>
                </a:cubicBezTo>
                <a:lnTo>
                  <a:pt x="39291" y="200025"/>
                </a:lnTo>
                <a:cubicBezTo>
                  <a:pt x="33352" y="200025"/>
                  <a:pt x="28575" y="195248"/>
                  <a:pt x="28575" y="189309"/>
                </a:cubicBezTo>
                <a:close/>
                <a:moveTo>
                  <a:pt x="132159" y="178594"/>
                </a:moveTo>
                <a:cubicBezTo>
                  <a:pt x="138098" y="178594"/>
                  <a:pt x="142875" y="183371"/>
                  <a:pt x="142875" y="189309"/>
                </a:cubicBezTo>
                <a:cubicBezTo>
                  <a:pt x="142875" y="195248"/>
                  <a:pt x="138098" y="200025"/>
                  <a:pt x="132159" y="200025"/>
                </a:cubicBezTo>
                <a:cubicBezTo>
                  <a:pt x="126221" y="200025"/>
                  <a:pt x="121444" y="195248"/>
                  <a:pt x="121444" y="189309"/>
                </a:cubicBezTo>
                <a:cubicBezTo>
                  <a:pt x="121444" y="183371"/>
                  <a:pt x="126221" y="178594"/>
                  <a:pt x="132159" y="178594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257300" y="2266950"/>
            <a:ext cx="1885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A1A2E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MyFitnessPal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09600" y="2962275"/>
            <a:ext cx="3200400" cy="990600"/>
          </a:xfrm>
          <a:custGeom>
            <a:rect b="b" l="l" r="r" t="t"/>
            <a:pathLst>
              <a:path extrusionOk="0" h="990600" w="3200400">
                <a:moveTo>
                  <a:pt x="152404" y="0"/>
                </a:moveTo>
                <a:lnTo>
                  <a:pt x="3047996" y="0"/>
                </a:lnTo>
                <a:cubicBezTo>
                  <a:pt x="3132166" y="0"/>
                  <a:pt x="3200400" y="68234"/>
                  <a:pt x="3200400" y="152404"/>
                </a:cubicBezTo>
                <a:lnTo>
                  <a:pt x="3200400" y="838196"/>
                </a:lnTo>
                <a:cubicBezTo>
                  <a:pt x="3200400" y="922366"/>
                  <a:pt x="3132166" y="990600"/>
                  <a:pt x="3047996" y="990600"/>
                </a:cubicBezTo>
                <a:lnTo>
                  <a:pt x="152404" y="990600"/>
                </a:lnTo>
                <a:cubicBezTo>
                  <a:pt x="68234" y="990600"/>
                  <a:pt x="0" y="922366"/>
                  <a:pt x="0" y="8381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2D6A4F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800100" y="3152775"/>
            <a:ext cx="2905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D6A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it does: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800100" y="3495675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Tracks calories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09600" y="4162425"/>
            <a:ext cx="3200400" cy="990600"/>
          </a:xfrm>
          <a:custGeom>
            <a:rect b="b" l="l" r="r" t="t"/>
            <a:pathLst>
              <a:path extrusionOk="0" h="990600" w="3200400">
                <a:moveTo>
                  <a:pt x="152404" y="0"/>
                </a:moveTo>
                <a:lnTo>
                  <a:pt x="3047996" y="0"/>
                </a:lnTo>
                <a:cubicBezTo>
                  <a:pt x="3132166" y="0"/>
                  <a:pt x="3200400" y="68234"/>
                  <a:pt x="3200400" y="152404"/>
                </a:cubicBezTo>
                <a:lnTo>
                  <a:pt x="3200400" y="838196"/>
                </a:lnTo>
                <a:cubicBezTo>
                  <a:pt x="3200400" y="922366"/>
                  <a:pt x="3132166" y="990600"/>
                  <a:pt x="3047996" y="990600"/>
                </a:cubicBezTo>
                <a:lnTo>
                  <a:pt x="152404" y="990600"/>
                </a:lnTo>
                <a:cubicBezTo>
                  <a:pt x="68234" y="990600"/>
                  <a:pt x="0" y="922366"/>
                  <a:pt x="0" y="8381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E85D04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800100" y="4352925"/>
            <a:ext cx="2905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E85D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Limitation: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800100" y="4695825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Requires heavy manual input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267200" y="1905000"/>
            <a:ext cx="3657600" cy="3581400"/>
          </a:xfrm>
          <a:custGeom>
            <a:rect b="b" l="l" r="r" t="t"/>
            <a:pathLst>
              <a:path extrusionOk="0" h="3581400" w="3657600">
                <a:moveTo>
                  <a:pt x="76200" y="0"/>
                </a:moveTo>
                <a:lnTo>
                  <a:pt x="3581400" y="0"/>
                </a:lnTo>
                <a:cubicBezTo>
                  <a:pt x="3623456" y="0"/>
                  <a:pt x="3657600" y="34144"/>
                  <a:pt x="3657600" y="76200"/>
                </a:cubicBezTo>
                <a:lnTo>
                  <a:pt x="3657600" y="3352799"/>
                </a:lnTo>
                <a:cubicBezTo>
                  <a:pt x="3657600" y="3479052"/>
                  <a:pt x="3555252" y="3581400"/>
                  <a:pt x="3428999" y="3581400"/>
                </a:cubicBezTo>
                <a:lnTo>
                  <a:pt x="228601" y="3581400"/>
                </a:lnTo>
                <a:cubicBezTo>
                  <a:pt x="102348" y="3581400"/>
                  <a:pt x="0" y="3479052"/>
                  <a:pt x="0" y="3352799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38125" rotWithShape="0" algn="bl" dir="5400000" dist="1905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267200" y="1905000"/>
            <a:ext cx="3657600" cy="76200"/>
          </a:xfrm>
          <a:custGeom>
            <a:rect b="b" l="l" r="r" t="t"/>
            <a:pathLst>
              <a:path extrusionOk="0" h="76200" w="3657600">
                <a:moveTo>
                  <a:pt x="76200" y="0"/>
                </a:moveTo>
                <a:lnTo>
                  <a:pt x="3581400" y="0"/>
                </a:lnTo>
                <a:cubicBezTo>
                  <a:pt x="3623456" y="0"/>
                  <a:pt x="3657600" y="34144"/>
                  <a:pt x="3657600" y="76200"/>
                </a:cubicBezTo>
                <a:lnTo>
                  <a:pt x="3657600" y="76200"/>
                </a:lnTo>
                <a:lnTo>
                  <a:pt x="0" y="76200"/>
                </a:ln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495800" y="2171700"/>
            <a:ext cx="533400" cy="533400"/>
          </a:xfrm>
          <a:custGeom>
            <a:rect b="b" l="l" r="r" t="t"/>
            <a:pathLst>
              <a:path extrusionOk="0" h="533400" w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648200" y="2324100"/>
            <a:ext cx="228600" cy="228600"/>
          </a:xfrm>
          <a:custGeom>
            <a:rect b="b" l="l" r="r" t="t"/>
            <a:pathLst>
              <a:path extrusionOk="0" h="228600" w="228600">
                <a:moveTo>
                  <a:pt x="28530" y="6429"/>
                </a:moveTo>
                <a:cubicBezTo>
                  <a:pt x="28173" y="2768"/>
                  <a:pt x="25092" y="0"/>
                  <a:pt x="21431" y="0"/>
                </a:cubicBezTo>
                <a:cubicBezTo>
                  <a:pt x="17770" y="0"/>
                  <a:pt x="14689" y="2768"/>
                  <a:pt x="14288" y="6385"/>
                </a:cubicBezTo>
                <a:lnTo>
                  <a:pt x="7992" y="66839"/>
                </a:lnTo>
                <a:cubicBezTo>
                  <a:pt x="7412" y="69518"/>
                  <a:pt x="7144" y="72241"/>
                  <a:pt x="7144" y="74965"/>
                </a:cubicBezTo>
                <a:cubicBezTo>
                  <a:pt x="7144" y="95458"/>
                  <a:pt x="22815" y="112291"/>
                  <a:pt x="42863" y="114121"/>
                </a:cubicBezTo>
                <a:lnTo>
                  <a:pt x="42863" y="214313"/>
                </a:lnTo>
                <a:cubicBezTo>
                  <a:pt x="42863" y="222215"/>
                  <a:pt x="49247" y="228600"/>
                  <a:pt x="57150" y="228600"/>
                </a:cubicBezTo>
                <a:cubicBezTo>
                  <a:pt x="65053" y="228600"/>
                  <a:pt x="71438" y="222215"/>
                  <a:pt x="71438" y="214313"/>
                </a:cubicBezTo>
                <a:lnTo>
                  <a:pt x="71438" y="114121"/>
                </a:lnTo>
                <a:cubicBezTo>
                  <a:pt x="91485" y="112291"/>
                  <a:pt x="107156" y="95458"/>
                  <a:pt x="107156" y="74965"/>
                </a:cubicBezTo>
                <a:cubicBezTo>
                  <a:pt x="107156" y="72241"/>
                  <a:pt x="106888" y="69518"/>
                  <a:pt x="106308" y="66839"/>
                </a:cubicBezTo>
                <a:lnTo>
                  <a:pt x="99968" y="6385"/>
                </a:lnTo>
                <a:cubicBezTo>
                  <a:pt x="99611" y="2768"/>
                  <a:pt x="96530" y="0"/>
                  <a:pt x="92869" y="0"/>
                </a:cubicBezTo>
                <a:cubicBezTo>
                  <a:pt x="89208" y="0"/>
                  <a:pt x="86127" y="2768"/>
                  <a:pt x="85770" y="6429"/>
                </a:cubicBezTo>
                <a:lnTo>
                  <a:pt x="79697" y="66928"/>
                </a:lnTo>
                <a:cubicBezTo>
                  <a:pt x="79430" y="69473"/>
                  <a:pt x="77286" y="71438"/>
                  <a:pt x="74741" y="71438"/>
                </a:cubicBezTo>
                <a:cubicBezTo>
                  <a:pt x="72152" y="71438"/>
                  <a:pt x="70009" y="69473"/>
                  <a:pt x="69741" y="66883"/>
                </a:cubicBezTo>
                <a:lnTo>
                  <a:pt x="64249" y="6519"/>
                </a:lnTo>
                <a:cubicBezTo>
                  <a:pt x="63937" y="2813"/>
                  <a:pt x="60856" y="0"/>
                  <a:pt x="57150" y="0"/>
                </a:cubicBezTo>
                <a:cubicBezTo>
                  <a:pt x="53444" y="0"/>
                  <a:pt x="50363" y="2813"/>
                  <a:pt x="50051" y="6519"/>
                </a:cubicBezTo>
                <a:lnTo>
                  <a:pt x="44559" y="66883"/>
                </a:lnTo>
                <a:cubicBezTo>
                  <a:pt x="44336" y="69473"/>
                  <a:pt x="42148" y="71438"/>
                  <a:pt x="39559" y="71438"/>
                </a:cubicBezTo>
                <a:cubicBezTo>
                  <a:pt x="36969" y="71438"/>
                  <a:pt x="34826" y="69473"/>
                  <a:pt x="34603" y="66928"/>
                </a:cubicBezTo>
                <a:lnTo>
                  <a:pt x="28530" y="6429"/>
                </a:lnTo>
                <a:close/>
                <a:moveTo>
                  <a:pt x="200025" y="0"/>
                </a:moveTo>
                <a:cubicBezTo>
                  <a:pt x="192881" y="0"/>
                  <a:pt x="142875" y="14288"/>
                  <a:pt x="142875" y="78581"/>
                </a:cubicBezTo>
                <a:lnTo>
                  <a:pt x="142875" y="128588"/>
                </a:lnTo>
                <a:cubicBezTo>
                  <a:pt x="142875" y="144348"/>
                  <a:pt x="155689" y="157163"/>
                  <a:pt x="171450" y="157163"/>
                </a:cubicBezTo>
                <a:lnTo>
                  <a:pt x="185738" y="157163"/>
                </a:lnTo>
                <a:lnTo>
                  <a:pt x="185738" y="214313"/>
                </a:lnTo>
                <a:cubicBezTo>
                  <a:pt x="185738" y="222215"/>
                  <a:pt x="192122" y="228600"/>
                  <a:pt x="200025" y="228600"/>
                </a:cubicBezTo>
                <a:cubicBezTo>
                  <a:pt x="207928" y="228600"/>
                  <a:pt x="214313" y="222215"/>
                  <a:pt x="214313" y="214313"/>
                </a:cubicBezTo>
                <a:lnTo>
                  <a:pt x="214313" y="14288"/>
                </a:lnTo>
                <a:cubicBezTo>
                  <a:pt x="214313" y="6385"/>
                  <a:pt x="207928" y="0"/>
                  <a:pt x="200025" y="0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5143500" y="2266950"/>
            <a:ext cx="1257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A1A2E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Mealime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495800" y="2962275"/>
            <a:ext cx="3200400" cy="990600"/>
          </a:xfrm>
          <a:custGeom>
            <a:rect b="b" l="l" r="r" t="t"/>
            <a:pathLst>
              <a:path extrusionOk="0" h="990600" w="3200400">
                <a:moveTo>
                  <a:pt x="152404" y="0"/>
                </a:moveTo>
                <a:lnTo>
                  <a:pt x="3047996" y="0"/>
                </a:lnTo>
                <a:cubicBezTo>
                  <a:pt x="3132166" y="0"/>
                  <a:pt x="3200400" y="68234"/>
                  <a:pt x="3200400" y="152404"/>
                </a:cubicBezTo>
                <a:lnTo>
                  <a:pt x="3200400" y="838196"/>
                </a:lnTo>
                <a:cubicBezTo>
                  <a:pt x="3200400" y="922366"/>
                  <a:pt x="3132166" y="990600"/>
                  <a:pt x="3047996" y="990600"/>
                </a:cubicBezTo>
                <a:lnTo>
                  <a:pt x="152404" y="990600"/>
                </a:lnTo>
                <a:cubicBezTo>
                  <a:pt x="68234" y="990600"/>
                  <a:pt x="0" y="922366"/>
                  <a:pt x="0" y="8381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2D6A4F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686300" y="3152775"/>
            <a:ext cx="2905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D6A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it does: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686300" y="3495675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Structured meal plans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495800" y="4162425"/>
            <a:ext cx="3200400" cy="990600"/>
          </a:xfrm>
          <a:custGeom>
            <a:rect b="b" l="l" r="r" t="t"/>
            <a:pathLst>
              <a:path extrusionOk="0" h="990600" w="3200400">
                <a:moveTo>
                  <a:pt x="152404" y="0"/>
                </a:moveTo>
                <a:lnTo>
                  <a:pt x="3047996" y="0"/>
                </a:lnTo>
                <a:cubicBezTo>
                  <a:pt x="3132166" y="0"/>
                  <a:pt x="3200400" y="68234"/>
                  <a:pt x="3200400" y="152404"/>
                </a:cubicBezTo>
                <a:lnTo>
                  <a:pt x="3200400" y="838196"/>
                </a:lnTo>
                <a:cubicBezTo>
                  <a:pt x="3200400" y="922366"/>
                  <a:pt x="3132166" y="990600"/>
                  <a:pt x="3047996" y="990600"/>
                </a:cubicBezTo>
                <a:lnTo>
                  <a:pt x="152404" y="990600"/>
                </a:lnTo>
                <a:cubicBezTo>
                  <a:pt x="68234" y="990600"/>
                  <a:pt x="0" y="922366"/>
                  <a:pt x="0" y="8381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E85D04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686300" y="4352925"/>
            <a:ext cx="2905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E85D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Limitation: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686300" y="4695825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Limited budget personalization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8153400" y="1905000"/>
            <a:ext cx="3657600" cy="3581400"/>
          </a:xfrm>
          <a:custGeom>
            <a:rect b="b" l="l" r="r" t="t"/>
            <a:pathLst>
              <a:path extrusionOk="0" h="3581400" w="3657600">
                <a:moveTo>
                  <a:pt x="76200" y="0"/>
                </a:moveTo>
                <a:lnTo>
                  <a:pt x="3581400" y="0"/>
                </a:lnTo>
                <a:cubicBezTo>
                  <a:pt x="3623456" y="0"/>
                  <a:pt x="3657600" y="34144"/>
                  <a:pt x="3657600" y="76200"/>
                </a:cubicBezTo>
                <a:lnTo>
                  <a:pt x="3657600" y="3352799"/>
                </a:lnTo>
                <a:cubicBezTo>
                  <a:pt x="3657600" y="3479052"/>
                  <a:pt x="3555252" y="3581400"/>
                  <a:pt x="3428999" y="3581400"/>
                </a:cubicBezTo>
                <a:lnTo>
                  <a:pt x="228601" y="3581400"/>
                </a:lnTo>
                <a:cubicBezTo>
                  <a:pt x="102348" y="3581400"/>
                  <a:pt x="0" y="3479052"/>
                  <a:pt x="0" y="3352799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38125" rotWithShape="0" algn="bl" dir="5400000" dist="1905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8153400" y="1905000"/>
            <a:ext cx="3657600" cy="76200"/>
          </a:xfrm>
          <a:custGeom>
            <a:rect b="b" l="l" r="r" t="t"/>
            <a:pathLst>
              <a:path extrusionOk="0" h="76200" w="3657600">
                <a:moveTo>
                  <a:pt x="76200" y="0"/>
                </a:moveTo>
                <a:lnTo>
                  <a:pt x="3581400" y="0"/>
                </a:lnTo>
                <a:cubicBezTo>
                  <a:pt x="3623456" y="0"/>
                  <a:pt x="3657600" y="34144"/>
                  <a:pt x="3657600" y="76200"/>
                </a:cubicBezTo>
                <a:lnTo>
                  <a:pt x="3657600" y="76200"/>
                </a:lnTo>
                <a:lnTo>
                  <a:pt x="0" y="76200"/>
                </a:ln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48C0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8382000" y="2171700"/>
            <a:ext cx="533400" cy="533400"/>
          </a:xfrm>
          <a:custGeom>
            <a:rect b="b" l="l" r="r" t="t"/>
            <a:pathLst>
              <a:path extrusionOk="0" h="533400" w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48C0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8534400" y="2324100"/>
            <a:ext cx="228600" cy="228600"/>
          </a:xfrm>
          <a:custGeom>
            <a:rect b="b" l="l" r="r" t="t"/>
            <a:pathLst>
              <a:path extrusionOk="0" h="228600" w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9029700" y="2266950"/>
            <a:ext cx="1200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A1A2E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Yummly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8382000" y="2895600"/>
            <a:ext cx="3200400" cy="990600"/>
          </a:xfrm>
          <a:custGeom>
            <a:rect b="b" l="l" r="r" t="t"/>
            <a:pathLst>
              <a:path extrusionOk="0" h="990600" w="3200400">
                <a:moveTo>
                  <a:pt x="152404" y="0"/>
                </a:moveTo>
                <a:lnTo>
                  <a:pt x="3047996" y="0"/>
                </a:lnTo>
                <a:cubicBezTo>
                  <a:pt x="3132166" y="0"/>
                  <a:pt x="3200400" y="68234"/>
                  <a:pt x="3200400" y="152404"/>
                </a:cubicBezTo>
                <a:lnTo>
                  <a:pt x="3200400" y="838196"/>
                </a:lnTo>
                <a:cubicBezTo>
                  <a:pt x="3200400" y="922366"/>
                  <a:pt x="3132166" y="990600"/>
                  <a:pt x="3047996" y="990600"/>
                </a:cubicBezTo>
                <a:lnTo>
                  <a:pt x="152404" y="990600"/>
                </a:lnTo>
                <a:cubicBezTo>
                  <a:pt x="68234" y="990600"/>
                  <a:pt x="0" y="922366"/>
                  <a:pt x="0" y="8381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2D6A4F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8572500" y="3086100"/>
            <a:ext cx="2905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D6A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it does: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8572500" y="342900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Recipe discovery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8382000" y="3962400"/>
            <a:ext cx="3200400" cy="1257300"/>
          </a:xfrm>
          <a:custGeom>
            <a:rect b="b" l="l" r="r" t="t"/>
            <a:pathLst>
              <a:path extrusionOk="0" h="1257300" w="3200400">
                <a:moveTo>
                  <a:pt x="152397" y="0"/>
                </a:moveTo>
                <a:lnTo>
                  <a:pt x="3048003" y="0"/>
                </a:lnTo>
                <a:cubicBezTo>
                  <a:pt x="3132169" y="0"/>
                  <a:pt x="3200400" y="68231"/>
                  <a:pt x="3200400" y="152397"/>
                </a:cubicBezTo>
                <a:lnTo>
                  <a:pt x="3200400" y="1104903"/>
                </a:lnTo>
                <a:cubicBezTo>
                  <a:pt x="3200400" y="1189069"/>
                  <a:pt x="3132169" y="1257300"/>
                  <a:pt x="3048003" y="1257300"/>
                </a:cubicBezTo>
                <a:lnTo>
                  <a:pt x="152397" y="1257300"/>
                </a:lnTo>
                <a:cubicBezTo>
                  <a:pt x="68231" y="1257300"/>
                  <a:pt x="0" y="1189069"/>
                  <a:pt x="0" y="1104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E85D04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8572500" y="4152900"/>
            <a:ext cx="2905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E85D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Limitation: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8572500" y="4495800"/>
            <a:ext cx="29146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Does not reduce daily decision repetition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381000" y="5715000"/>
            <a:ext cx="11430000" cy="762000"/>
          </a:xfrm>
          <a:custGeom>
            <a:rect b="b" l="l" r="r" t="t"/>
            <a:pathLst>
              <a:path extrusionOk="0" h="762000" w="11430000">
                <a:moveTo>
                  <a:pt x="152400" y="0"/>
                </a:moveTo>
                <a:lnTo>
                  <a:pt x="11277600" y="0"/>
                </a:lnTo>
                <a:cubicBezTo>
                  <a:pt x="11361712" y="0"/>
                  <a:pt x="11430000" y="68288"/>
                  <a:pt x="11430000" y="152400"/>
                </a:cubicBezTo>
                <a:lnTo>
                  <a:pt x="11430000" y="609600"/>
                </a:lnTo>
                <a:cubicBezTo>
                  <a:pt x="11430000" y="693712"/>
                  <a:pt x="11361712" y="762000"/>
                  <a:pt x="11277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>
            <a:gsLst>
              <a:gs pos="0">
                <a:srgbClr val="E85D04"/>
              </a:gs>
              <a:gs pos="100000">
                <a:srgbClr val="F48C06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2831455" y="5972175"/>
            <a:ext cx="228600" cy="228600"/>
          </a:xfrm>
          <a:custGeom>
            <a:rect b="b" l="l" r="r" t="t"/>
            <a:pathLst>
              <a:path extrusionOk="0" h="228600" w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895350" y="5943600"/>
            <a:ext cx="10744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These tools assist planning — but the cognitive burden remains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0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www.healthyfood.com/0061e784ed9b95d42bbf42d5ae3698beb94f8f5f.jpg" id="220" name="Google Shape;220;p9"/>
          <p:cNvPicPr preferRelativeResize="0"/>
          <p:nvPr/>
        </p:nvPicPr>
        <p:blipFill rotWithShape="1">
          <a:blip r:embed="rId3">
            <a:alphaModFix/>
          </a:blip>
          <a:srcRect b="15616" l="0" r="0" t="15616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21" name="Google Shape;221;p9"/>
          <p:cNvSpPr/>
          <p:nvPr/>
        </p:nvSpPr>
        <p:spPr>
          <a:xfrm>
            <a:off x="-15343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A2E">
                  <a:alpha val="85098"/>
                </a:srgbClr>
              </a:gs>
              <a:gs pos="50000">
                <a:srgbClr val="E85D04">
                  <a:alpha val="70196"/>
                </a:srgbClr>
              </a:gs>
              <a:gs pos="100000">
                <a:srgbClr val="2D6A4F">
                  <a:alpha val="8000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3910300" y="2319608"/>
            <a:ext cx="4591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FFF8F0"/>
                </a:solidFill>
                <a:latin typeface="Courgette"/>
                <a:ea typeface="Courgette"/>
                <a:cs typeface="Courgette"/>
                <a:sym typeface="Courgette"/>
              </a:rPr>
              <a:t>Phase 1:</a:t>
            </a:r>
            <a:endParaRPr sz="1600">
              <a:solidFill>
                <a:schemeClr val="dk1"/>
              </a:solidFill>
              <a:latin typeface="Courgette"/>
              <a:ea typeface="Courgette"/>
              <a:cs typeface="Courgette"/>
              <a:sym typeface="Courgette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2289689" y="3462600"/>
            <a:ext cx="758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 Viability Stress Test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0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/>
          <p:nvPr/>
        </p:nvSpPr>
        <p:spPr>
          <a:xfrm>
            <a:off x="545306" y="600075"/>
            <a:ext cx="285750" cy="285750"/>
          </a:xfrm>
          <a:custGeom>
            <a:rect b="b" l="l" r="r" t="t"/>
            <a:pathLst>
              <a:path extrusionOk="0" h="285750" w="285750">
                <a:moveTo>
                  <a:pt x="125016" y="0"/>
                </a:moveTo>
                <a:lnTo>
                  <a:pt x="125016" y="35719"/>
                </a:lnTo>
                <a:cubicBezTo>
                  <a:pt x="125016" y="40630"/>
                  <a:pt x="129034" y="44648"/>
                  <a:pt x="133945" y="44648"/>
                </a:cubicBezTo>
                <a:lnTo>
                  <a:pt x="151805" y="44648"/>
                </a:lnTo>
                <a:cubicBezTo>
                  <a:pt x="156716" y="44648"/>
                  <a:pt x="160734" y="40630"/>
                  <a:pt x="160734" y="35719"/>
                </a:cubicBezTo>
                <a:lnTo>
                  <a:pt x="160734" y="0"/>
                </a:lnTo>
                <a:lnTo>
                  <a:pt x="178594" y="0"/>
                </a:lnTo>
                <a:cubicBezTo>
                  <a:pt x="198295" y="0"/>
                  <a:pt x="214313" y="16018"/>
                  <a:pt x="214313" y="35719"/>
                </a:cubicBezTo>
                <a:lnTo>
                  <a:pt x="214313" y="107156"/>
                </a:lnTo>
                <a:cubicBezTo>
                  <a:pt x="214313" y="110226"/>
                  <a:pt x="213922" y="113240"/>
                  <a:pt x="213196" y="116086"/>
                </a:cubicBezTo>
                <a:lnTo>
                  <a:pt x="72554" y="116086"/>
                </a:lnTo>
                <a:cubicBezTo>
                  <a:pt x="71828" y="113240"/>
                  <a:pt x="71438" y="110226"/>
                  <a:pt x="71438" y="107156"/>
                </a:cubicBezTo>
                <a:lnTo>
                  <a:pt x="71438" y="35719"/>
                </a:lnTo>
                <a:cubicBezTo>
                  <a:pt x="71438" y="16018"/>
                  <a:pt x="87455" y="0"/>
                  <a:pt x="107156" y="0"/>
                </a:cubicBezTo>
                <a:lnTo>
                  <a:pt x="125016" y="0"/>
                </a:lnTo>
                <a:close/>
                <a:moveTo>
                  <a:pt x="178594" y="285750"/>
                </a:moveTo>
                <a:cubicBezTo>
                  <a:pt x="172343" y="285750"/>
                  <a:pt x="166427" y="284131"/>
                  <a:pt x="161292" y="281285"/>
                </a:cubicBezTo>
                <a:cubicBezTo>
                  <a:pt x="166594" y="272076"/>
                  <a:pt x="169664" y="261417"/>
                  <a:pt x="169664" y="250031"/>
                </a:cubicBezTo>
                <a:lnTo>
                  <a:pt x="169664" y="178594"/>
                </a:lnTo>
                <a:cubicBezTo>
                  <a:pt x="169664" y="167208"/>
                  <a:pt x="166594" y="156549"/>
                  <a:pt x="161292" y="147340"/>
                </a:cubicBezTo>
                <a:cubicBezTo>
                  <a:pt x="166427" y="144494"/>
                  <a:pt x="172287" y="142875"/>
                  <a:pt x="178594" y="142875"/>
                </a:cubicBezTo>
                <a:lnTo>
                  <a:pt x="196453" y="142875"/>
                </a:lnTo>
                <a:lnTo>
                  <a:pt x="196453" y="178594"/>
                </a:lnTo>
                <a:cubicBezTo>
                  <a:pt x="196453" y="183505"/>
                  <a:pt x="200471" y="187523"/>
                  <a:pt x="205383" y="187523"/>
                </a:cubicBezTo>
                <a:lnTo>
                  <a:pt x="223242" y="187523"/>
                </a:lnTo>
                <a:cubicBezTo>
                  <a:pt x="228154" y="187523"/>
                  <a:pt x="232172" y="183505"/>
                  <a:pt x="232172" y="178594"/>
                </a:cubicBezTo>
                <a:lnTo>
                  <a:pt x="232172" y="142875"/>
                </a:lnTo>
                <a:lnTo>
                  <a:pt x="250031" y="142875"/>
                </a:lnTo>
                <a:cubicBezTo>
                  <a:pt x="269732" y="142875"/>
                  <a:pt x="285750" y="158893"/>
                  <a:pt x="285750" y="178594"/>
                </a:cubicBezTo>
                <a:lnTo>
                  <a:pt x="285750" y="250031"/>
                </a:lnTo>
                <a:cubicBezTo>
                  <a:pt x="285750" y="269732"/>
                  <a:pt x="269732" y="285750"/>
                  <a:pt x="250031" y="285750"/>
                </a:cubicBezTo>
                <a:lnTo>
                  <a:pt x="178594" y="285750"/>
                </a:lnTo>
                <a:close/>
                <a:moveTo>
                  <a:pt x="0" y="178594"/>
                </a:moveTo>
                <a:cubicBezTo>
                  <a:pt x="0" y="158893"/>
                  <a:pt x="16018" y="142875"/>
                  <a:pt x="35719" y="142875"/>
                </a:cubicBezTo>
                <a:lnTo>
                  <a:pt x="53578" y="142875"/>
                </a:lnTo>
                <a:lnTo>
                  <a:pt x="53578" y="178594"/>
                </a:lnTo>
                <a:cubicBezTo>
                  <a:pt x="53578" y="183505"/>
                  <a:pt x="57596" y="187523"/>
                  <a:pt x="62508" y="187523"/>
                </a:cubicBezTo>
                <a:lnTo>
                  <a:pt x="80367" y="187523"/>
                </a:lnTo>
                <a:cubicBezTo>
                  <a:pt x="85279" y="187523"/>
                  <a:pt x="89297" y="183505"/>
                  <a:pt x="89297" y="178594"/>
                </a:cubicBezTo>
                <a:lnTo>
                  <a:pt x="89297" y="142875"/>
                </a:lnTo>
                <a:lnTo>
                  <a:pt x="107156" y="142875"/>
                </a:lnTo>
                <a:cubicBezTo>
                  <a:pt x="126857" y="142875"/>
                  <a:pt x="142875" y="158893"/>
                  <a:pt x="142875" y="178594"/>
                </a:cubicBezTo>
                <a:lnTo>
                  <a:pt x="142875" y="250031"/>
                </a:lnTo>
                <a:cubicBezTo>
                  <a:pt x="142875" y="269732"/>
                  <a:pt x="126857" y="285750"/>
                  <a:pt x="107156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178594"/>
                </a:ln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2831455" y="5972175"/>
            <a:ext cx="228600" cy="228600"/>
          </a:xfrm>
          <a:custGeom>
            <a:rect b="b" l="l" r="r" t="t"/>
            <a:pathLst>
              <a:path extrusionOk="0" h="228600" w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895350" y="5943600"/>
            <a:ext cx="10744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These tools assist planning — but the cognitive burden remains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65700"/>
            <a:ext cx="12192000" cy="6923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0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"/>
          <p:cNvSpPr/>
          <p:nvPr/>
        </p:nvSpPr>
        <p:spPr>
          <a:xfrm>
            <a:off x="545306" y="600075"/>
            <a:ext cx="285750" cy="285750"/>
          </a:xfrm>
          <a:custGeom>
            <a:rect b="b" l="l" r="r" t="t"/>
            <a:pathLst>
              <a:path extrusionOk="0" h="285750" w="285750">
                <a:moveTo>
                  <a:pt x="125016" y="0"/>
                </a:moveTo>
                <a:lnTo>
                  <a:pt x="125016" y="35719"/>
                </a:lnTo>
                <a:cubicBezTo>
                  <a:pt x="125016" y="40630"/>
                  <a:pt x="129034" y="44648"/>
                  <a:pt x="133945" y="44648"/>
                </a:cubicBezTo>
                <a:lnTo>
                  <a:pt x="151805" y="44648"/>
                </a:lnTo>
                <a:cubicBezTo>
                  <a:pt x="156716" y="44648"/>
                  <a:pt x="160734" y="40630"/>
                  <a:pt x="160734" y="35719"/>
                </a:cubicBezTo>
                <a:lnTo>
                  <a:pt x="160734" y="0"/>
                </a:lnTo>
                <a:lnTo>
                  <a:pt x="178594" y="0"/>
                </a:lnTo>
                <a:cubicBezTo>
                  <a:pt x="198295" y="0"/>
                  <a:pt x="214313" y="16018"/>
                  <a:pt x="214313" y="35719"/>
                </a:cubicBezTo>
                <a:lnTo>
                  <a:pt x="214313" y="107156"/>
                </a:lnTo>
                <a:cubicBezTo>
                  <a:pt x="214313" y="110226"/>
                  <a:pt x="213922" y="113240"/>
                  <a:pt x="213196" y="116086"/>
                </a:cubicBezTo>
                <a:lnTo>
                  <a:pt x="72554" y="116086"/>
                </a:lnTo>
                <a:cubicBezTo>
                  <a:pt x="71828" y="113240"/>
                  <a:pt x="71438" y="110226"/>
                  <a:pt x="71438" y="107156"/>
                </a:cubicBezTo>
                <a:lnTo>
                  <a:pt x="71438" y="35719"/>
                </a:lnTo>
                <a:cubicBezTo>
                  <a:pt x="71438" y="16018"/>
                  <a:pt x="87455" y="0"/>
                  <a:pt x="107156" y="0"/>
                </a:cubicBezTo>
                <a:lnTo>
                  <a:pt x="125016" y="0"/>
                </a:lnTo>
                <a:close/>
                <a:moveTo>
                  <a:pt x="178594" y="285750"/>
                </a:moveTo>
                <a:cubicBezTo>
                  <a:pt x="172343" y="285750"/>
                  <a:pt x="166427" y="284131"/>
                  <a:pt x="161292" y="281285"/>
                </a:cubicBezTo>
                <a:cubicBezTo>
                  <a:pt x="166594" y="272076"/>
                  <a:pt x="169664" y="261417"/>
                  <a:pt x="169664" y="250031"/>
                </a:cubicBezTo>
                <a:lnTo>
                  <a:pt x="169664" y="178594"/>
                </a:lnTo>
                <a:cubicBezTo>
                  <a:pt x="169664" y="167208"/>
                  <a:pt x="166594" y="156549"/>
                  <a:pt x="161292" y="147340"/>
                </a:cubicBezTo>
                <a:cubicBezTo>
                  <a:pt x="166427" y="144494"/>
                  <a:pt x="172287" y="142875"/>
                  <a:pt x="178594" y="142875"/>
                </a:cubicBezTo>
                <a:lnTo>
                  <a:pt x="196453" y="142875"/>
                </a:lnTo>
                <a:lnTo>
                  <a:pt x="196453" y="178594"/>
                </a:lnTo>
                <a:cubicBezTo>
                  <a:pt x="196453" y="183505"/>
                  <a:pt x="200471" y="187523"/>
                  <a:pt x="205383" y="187523"/>
                </a:cubicBezTo>
                <a:lnTo>
                  <a:pt x="223242" y="187523"/>
                </a:lnTo>
                <a:cubicBezTo>
                  <a:pt x="228154" y="187523"/>
                  <a:pt x="232172" y="183505"/>
                  <a:pt x="232172" y="178594"/>
                </a:cubicBezTo>
                <a:lnTo>
                  <a:pt x="232172" y="142875"/>
                </a:lnTo>
                <a:lnTo>
                  <a:pt x="250031" y="142875"/>
                </a:lnTo>
                <a:cubicBezTo>
                  <a:pt x="269732" y="142875"/>
                  <a:pt x="285750" y="158893"/>
                  <a:pt x="285750" y="178594"/>
                </a:cubicBezTo>
                <a:lnTo>
                  <a:pt x="285750" y="250031"/>
                </a:lnTo>
                <a:cubicBezTo>
                  <a:pt x="285750" y="269732"/>
                  <a:pt x="269732" y="285750"/>
                  <a:pt x="250031" y="285750"/>
                </a:cubicBezTo>
                <a:lnTo>
                  <a:pt x="178594" y="285750"/>
                </a:lnTo>
                <a:close/>
                <a:moveTo>
                  <a:pt x="0" y="178594"/>
                </a:moveTo>
                <a:cubicBezTo>
                  <a:pt x="0" y="158893"/>
                  <a:pt x="16018" y="142875"/>
                  <a:pt x="35719" y="142875"/>
                </a:cubicBezTo>
                <a:lnTo>
                  <a:pt x="53578" y="142875"/>
                </a:lnTo>
                <a:lnTo>
                  <a:pt x="53578" y="178594"/>
                </a:lnTo>
                <a:cubicBezTo>
                  <a:pt x="53578" y="183505"/>
                  <a:pt x="57596" y="187523"/>
                  <a:pt x="62508" y="187523"/>
                </a:cubicBezTo>
                <a:lnTo>
                  <a:pt x="80367" y="187523"/>
                </a:lnTo>
                <a:cubicBezTo>
                  <a:pt x="85279" y="187523"/>
                  <a:pt x="89297" y="183505"/>
                  <a:pt x="89297" y="178594"/>
                </a:cubicBezTo>
                <a:lnTo>
                  <a:pt x="89297" y="142875"/>
                </a:lnTo>
                <a:lnTo>
                  <a:pt x="107156" y="142875"/>
                </a:lnTo>
                <a:cubicBezTo>
                  <a:pt x="126857" y="142875"/>
                  <a:pt x="142875" y="158893"/>
                  <a:pt x="142875" y="178594"/>
                </a:cubicBezTo>
                <a:lnTo>
                  <a:pt x="142875" y="250031"/>
                </a:lnTo>
                <a:cubicBezTo>
                  <a:pt x="142875" y="269732"/>
                  <a:pt x="126857" y="285750"/>
                  <a:pt x="107156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178594"/>
                </a:ln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2831455" y="5972175"/>
            <a:ext cx="228600" cy="228600"/>
          </a:xfrm>
          <a:custGeom>
            <a:rect b="b" l="l" r="r" t="t"/>
            <a:pathLst>
              <a:path extrusionOk="0" h="228600" w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895350" y="5943600"/>
            <a:ext cx="10744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These tools assist planning — but the cognitive burden remains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381000" y="523380"/>
            <a:ext cx="114966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C78D4E"/>
                </a:solidFill>
                <a:latin typeface="Liter"/>
                <a:ea typeface="Liter"/>
                <a:cs typeface="Liter"/>
                <a:sym typeface="Liter"/>
              </a:rPr>
              <a:t>DELIVERABLE 1.1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381000" y="1039087"/>
            <a:ext cx="11572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A5741"/>
                </a:solidFill>
                <a:latin typeface="Oranienbaum"/>
                <a:ea typeface="Oranienbaum"/>
                <a:cs typeface="Oranienbaum"/>
                <a:sym typeface="Oranienbaum"/>
              </a:rPr>
              <a:t>Critical Analysis of Initial Lean Canvas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381000" y="1420087"/>
            <a:ext cx="115157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Five critical weaknesses identified through rigorous self-assessment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381000" y="1858237"/>
            <a:ext cx="2162175" cy="4210050"/>
          </a:xfrm>
          <a:custGeom>
            <a:rect b="b" l="l" r="r" t="t"/>
            <a:pathLst>
              <a:path extrusionOk="0" h="4210050" w="2162175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4133855"/>
                </a:lnTo>
                <a:cubicBezTo>
                  <a:pt x="2162175" y="4175936"/>
                  <a:pt x="2128061" y="4210050"/>
                  <a:pt x="2085980" y="4210050"/>
                </a:cubicBezTo>
                <a:lnTo>
                  <a:pt x="76195" y="4210050"/>
                </a:lnTo>
                <a:cubicBezTo>
                  <a:pt x="34114" y="4210050"/>
                  <a:pt x="0" y="4175936"/>
                  <a:pt x="0" y="413385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381000" y="1858237"/>
            <a:ext cx="2162175" cy="38100"/>
          </a:xfrm>
          <a:custGeom>
            <a:rect b="b" l="l" r="r" t="t"/>
            <a:pathLst>
              <a:path extrusionOk="0" h="38100" w="2162175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33400" y="2029687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E2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621506" y="2115412"/>
            <a:ext cx="133350" cy="133350"/>
          </a:xfrm>
          <a:custGeom>
            <a:rect b="b" l="l" r="r" t="t"/>
            <a:pathLst>
              <a:path extrusionOk="0" h="133350" w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E700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914400" y="2067775"/>
            <a:ext cx="14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Problem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533400" y="2454989"/>
            <a:ext cx="1924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E700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Too General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533400" y="2677375"/>
            <a:ext cx="19242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D3A36"/>
                </a:solidFill>
                <a:latin typeface="Liter"/>
                <a:ea typeface="Liter"/>
                <a:cs typeface="Liter"/>
                <a:sym typeface="Liter"/>
              </a:rPr>
              <a:t>• Described as "difficult" without emotional urgency</a:t>
            </a:r>
            <a:endParaRPr sz="1200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533400" y="3179665"/>
            <a:ext cx="19242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D3A36"/>
                </a:solidFill>
                <a:latin typeface="Liter"/>
                <a:ea typeface="Liter"/>
                <a:cs typeface="Liter"/>
                <a:sym typeface="Liter"/>
              </a:rPr>
              <a:t>• Missing context of when it happens</a:t>
            </a:r>
            <a:endParaRPr sz="1200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533400" y="3681955"/>
            <a:ext cx="19242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D3A36"/>
                </a:solidFill>
                <a:latin typeface="Liter"/>
                <a:ea typeface="Liter"/>
                <a:cs typeface="Liter"/>
                <a:sym typeface="Liter"/>
              </a:rPr>
              <a:t>• No mention of daily decision fatigue</a:t>
            </a:r>
            <a:endParaRPr sz="1200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533400" y="4184245"/>
            <a:ext cx="19242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D3A36"/>
                </a:solidFill>
                <a:latin typeface="Liter"/>
                <a:ea typeface="Liter"/>
                <a:cs typeface="Liter"/>
                <a:sym typeface="Liter"/>
              </a:rPr>
              <a:t>• Lacked stress/after-work scenarios</a:t>
            </a:r>
            <a:endParaRPr sz="1200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533400" y="5530125"/>
            <a:ext cx="1857375" cy="9525"/>
          </a:xfrm>
          <a:custGeom>
            <a:rect b="b" l="l" r="r" t="t"/>
            <a:pathLst>
              <a:path extrusionOk="0" h="9525" w="1857375">
                <a:moveTo>
                  <a:pt x="0" y="0"/>
                </a:moveTo>
                <a:lnTo>
                  <a:pt x="1857375" y="0"/>
                </a:lnTo>
                <a:lnTo>
                  <a:pt x="1857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533400" y="5611087"/>
            <a:ext cx="19145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Liter"/>
                <a:ea typeface="Liter"/>
                <a:cs typeface="Liter"/>
                <a:sym typeface="Liter"/>
              </a:rPr>
              <a:t>Impact: Failed to convey pain intensity</a:t>
            </a:r>
            <a:endParaRPr b="1" sz="1100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2697361" y="1858237"/>
            <a:ext cx="2162175" cy="4210050"/>
          </a:xfrm>
          <a:custGeom>
            <a:rect b="b" l="l" r="r" t="t"/>
            <a:pathLst>
              <a:path extrusionOk="0" h="4210050" w="2162175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4133855"/>
                </a:lnTo>
                <a:cubicBezTo>
                  <a:pt x="2162175" y="4175936"/>
                  <a:pt x="2128061" y="4210050"/>
                  <a:pt x="2085980" y="4210050"/>
                </a:cubicBezTo>
                <a:lnTo>
                  <a:pt x="76195" y="4210050"/>
                </a:lnTo>
                <a:cubicBezTo>
                  <a:pt x="34114" y="4210050"/>
                  <a:pt x="0" y="4175936"/>
                  <a:pt x="0" y="413385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2697361" y="1858237"/>
            <a:ext cx="2162175" cy="38100"/>
          </a:xfrm>
          <a:custGeom>
            <a:rect b="b" l="l" r="r" t="t"/>
            <a:pathLst>
              <a:path extrusionOk="0" h="38100" w="2162175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2849761" y="2029687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ED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2921198" y="2115412"/>
            <a:ext cx="166688" cy="133350"/>
          </a:xfrm>
          <a:custGeom>
            <a:rect b="b" l="l" r="r" t="t"/>
            <a:pathLst>
              <a:path extrusionOk="0" h="133350" w="166688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F549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3230761" y="2067787"/>
            <a:ext cx="14573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Customer Segments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2849761" y="2477140"/>
            <a:ext cx="1924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F549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Broad &amp; Unfocused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2849750" y="2677372"/>
            <a:ext cx="19242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D3A36"/>
                </a:solidFill>
                <a:latin typeface="Liter"/>
                <a:ea typeface="Liter"/>
                <a:cs typeface="Liter"/>
                <a:sym typeface="Liter"/>
              </a:rPr>
              <a:t>• Listed multiple groups simultaneously</a:t>
            </a:r>
            <a:endParaRPr sz="1200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2849750" y="3226446"/>
            <a:ext cx="19242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D3A36"/>
                </a:solidFill>
                <a:latin typeface="Liter"/>
                <a:ea typeface="Liter"/>
                <a:cs typeface="Liter"/>
                <a:sym typeface="Liter"/>
              </a:rPr>
              <a:t>• No clearly defined primary early adopter</a:t>
            </a:r>
            <a:endParaRPr sz="1200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2849750" y="3693290"/>
            <a:ext cx="19242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D3A36"/>
                </a:solidFill>
                <a:latin typeface="Liter"/>
                <a:ea typeface="Liter"/>
                <a:cs typeface="Liter"/>
                <a:sym typeface="Liter"/>
              </a:rPr>
              <a:t>• Students, professionals, families all equal</a:t>
            </a:r>
            <a:endParaRPr sz="1200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2849750" y="4324594"/>
            <a:ext cx="1924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D3A36"/>
                </a:solidFill>
                <a:latin typeface="Liter"/>
                <a:ea typeface="Liter"/>
                <a:cs typeface="Liter"/>
                <a:sym typeface="Liter"/>
              </a:rPr>
              <a:t>• Positioning direction unclear</a:t>
            </a:r>
            <a:endParaRPr sz="1200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2849849" y="5540114"/>
            <a:ext cx="1857375" cy="9525"/>
          </a:xfrm>
          <a:custGeom>
            <a:rect b="b" l="l" r="r" t="t"/>
            <a:pathLst>
              <a:path extrusionOk="0" h="9525" w="1857375">
                <a:moveTo>
                  <a:pt x="0" y="0"/>
                </a:moveTo>
                <a:lnTo>
                  <a:pt x="1857375" y="0"/>
                </a:lnTo>
                <a:lnTo>
                  <a:pt x="1857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2849761" y="5695451"/>
            <a:ext cx="1914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Liter"/>
                <a:ea typeface="Liter"/>
                <a:cs typeface="Liter"/>
                <a:sym typeface="Liter"/>
              </a:rPr>
              <a:t>Impact: Marketing message diluted</a:t>
            </a:r>
            <a:endParaRPr b="1" sz="1100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5013871" y="1858237"/>
            <a:ext cx="2162175" cy="4210050"/>
          </a:xfrm>
          <a:custGeom>
            <a:rect b="b" l="l" r="r" t="t"/>
            <a:pathLst>
              <a:path extrusionOk="0" h="4210050" w="2162175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4133855"/>
                </a:lnTo>
                <a:cubicBezTo>
                  <a:pt x="2162175" y="4175936"/>
                  <a:pt x="2128061" y="4210050"/>
                  <a:pt x="2085980" y="4210050"/>
                </a:cubicBezTo>
                <a:lnTo>
                  <a:pt x="76195" y="4210050"/>
                </a:lnTo>
                <a:cubicBezTo>
                  <a:pt x="34114" y="4210050"/>
                  <a:pt x="0" y="4175936"/>
                  <a:pt x="0" y="413385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5013871" y="1858237"/>
            <a:ext cx="2162175" cy="38100"/>
          </a:xfrm>
          <a:custGeom>
            <a:rect b="b" l="l" r="r" t="t"/>
            <a:pathLst>
              <a:path extrusionOk="0" h="38100" w="2162175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B1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5166271" y="2029687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EF9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5254377" y="2115412"/>
            <a:ext cx="133350" cy="133350"/>
          </a:xfrm>
          <a:custGeom>
            <a:rect b="b" l="l" r="r" t="t"/>
            <a:pathLst>
              <a:path extrusionOk="0" h="133350" w="133350">
                <a:moveTo>
                  <a:pt x="30394" y="8803"/>
                </a:moveTo>
                <a:cubicBezTo>
                  <a:pt x="31566" y="7214"/>
                  <a:pt x="33442" y="6251"/>
                  <a:pt x="35421" y="6251"/>
                </a:cubicBezTo>
                <a:lnTo>
                  <a:pt x="97929" y="6251"/>
                </a:lnTo>
                <a:cubicBezTo>
                  <a:pt x="99908" y="6251"/>
                  <a:pt x="101784" y="7188"/>
                  <a:pt x="102956" y="8803"/>
                </a:cubicBezTo>
                <a:lnTo>
                  <a:pt x="132126" y="48391"/>
                </a:lnTo>
                <a:cubicBezTo>
                  <a:pt x="133897" y="50788"/>
                  <a:pt x="133715" y="54095"/>
                  <a:pt x="131735" y="56309"/>
                </a:cubicBezTo>
                <a:lnTo>
                  <a:pt x="71311" y="122984"/>
                </a:lnTo>
                <a:cubicBezTo>
                  <a:pt x="70139" y="124286"/>
                  <a:pt x="68446" y="125042"/>
                  <a:pt x="66675" y="125042"/>
                </a:cubicBezTo>
                <a:cubicBezTo>
                  <a:pt x="64904" y="125042"/>
                  <a:pt x="63237" y="124286"/>
                  <a:pt x="62039" y="122984"/>
                </a:cubicBezTo>
                <a:lnTo>
                  <a:pt x="1615" y="56309"/>
                </a:lnTo>
                <a:cubicBezTo>
                  <a:pt x="-391" y="54095"/>
                  <a:pt x="-547" y="50788"/>
                  <a:pt x="1224" y="48391"/>
                </a:cubicBezTo>
                <a:lnTo>
                  <a:pt x="30394" y="8803"/>
                </a:lnTo>
                <a:close/>
                <a:moveTo>
                  <a:pt x="40422" y="19169"/>
                </a:moveTo>
                <a:cubicBezTo>
                  <a:pt x="39562" y="19820"/>
                  <a:pt x="39328" y="20992"/>
                  <a:pt x="39875" y="21904"/>
                </a:cubicBezTo>
                <a:lnTo>
                  <a:pt x="54825" y="46829"/>
                </a:lnTo>
                <a:lnTo>
                  <a:pt x="16486" y="50006"/>
                </a:lnTo>
                <a:cubicBezTo>
                  <a:pt x="15419" y="50084"/>
                  <a:pt x="14585" y="50996"/>
                  <a:pt x="14585" y="52090"/>
                </a:cubicBezTo>
                <a:cubicBezTo>
                  <a:pt x="14585" y="53184"/>
                  <a:pt x="15419" y="54069"/>
                  <a:pt x="16486" y="54173"/>
                </a:cubicBezTo>
                <a:lnTo>
                  <a:pt x="66493" y="58341"/>
                </a:lnTo>
                <a:cubicBezTo>
                  <a:pt x="66597" y="58341"/>
                  <a:pt x="66727" y="58341"/>
                  <a:pt x="66831" y="58341"/>
                </a:cubicBezTo>
                <a:lnTo>
                  <a:pt x="116838" y="54173"/>
                </a:lnTo>
                <a:cubicBezTo>
                  <a:pt x="117905" y="54095"/>
                  <a:pt x="118739" y="53184"/>
                  <a:pt x="118739" y="52090"/>
                </a:cubicBezTo>
                <a:cubicBezTo>
                  <a:pt x="118739" y="50996"/>
                  <a:pt x="117905" y="50110"/>
                  <a:pt x="116838" y="50006"/>
                </a:cubicBezTo>
                <a:lnTo>
                  <a:pt x="78499" y="46803"/>
                </a:lnTo>
                <a:lnTo>
                  <a:pt x="93449" y="21904"/>
                </a:lnTo>
                <a:cubicBezTo>
                  <a:pt x="93996" y="20992"/>
                  <a:pt x="93762" y="19794"/>
                  <a:pt x="92902" y="19169"/>
                </a:cubicBezTo>
                <a:cubicBezTo>
                  <a:pt x="92043" y="18544"/>
                  <a:pt x="90845" y="18648"/>
                  <a:pt x="90115" y="19430"/>
                </a:cubicBezTo>
                <a:lnTo>
                  <a:pt x="66675" y="44849"/>
                </a:lnTo>
                <a:lnTo>
                  <a:pt x="43209" y="19430"/>
                </a:lnTo>
                <a:cubicBezTo>
                  <a:pt x="42479" y="18648"/>
                  <a:pt x="41281" y="18544"/>
                  <a:pt x="40422" y="19169"/>
                </a:cubicBezTo>
                <a:close/>
              </a:path>
            </a:pathLst>
          </a:custGeom>
          <a:solidFill>
            <a:srgbClr val="D087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5547271" y="2067787"/>
            <a:ext cx="1257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Value Proposition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5166271" y="2466065"/>
            <a:ext cx="1924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D08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Lacked Differentiation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5166275" y="2677375"/>
            <a:ext cx="19242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D3A36"/>
                </a:solidFill>
                <a:latin typeface="Liter"/>
                <a:ea typeface="Liter"/>
                <a:cs typeface="Liter"/>
                <a:sym typeface="Liter"/>
              </a:rPr>
              <a:t>• Explained what app does, not why different</a:t>
            </a:r>
            <a:endParaRPr sz="1200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5166275" y="3182986"/>
            <a:ext cx="19242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D3A36"/>
                </a:solidFill>
                <a:latin typeface="Liter"/>
                <a:ea typeface="Liter"/>
                <a:cs typeface="Liter"/>
                <a:sym typeface="Liter"/>
              </a:rPr>
              <a:t>• Didn't emphasize integrated system</a:t>
            </a:r>
            <a:endParaRPr sz="1200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5166275" y="3688596"/>
            <a:ext cx="19242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D3A36"/>
                </a:solidFill>
                <a:latin typeface="Liter"/>
                <a:ea typeface="Liter"/>
                <a:cs typeface="Liter"/>
                <a:sym typeface="Liter"/>
              </a:rPr>
              <a:t>• Sounded similar to existing apps</a:t>
            </a:r>
            <a:endParaRPr sz="1200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5166275" y="4194207"/>
            <a:ext cx="19242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D3A36"/>
                </a:solidFill>
                <a:latin typeface="Liter"/>
                <a:ea typeface="Liter"/>
                <a:cs typeface="Liter"/>
                <a:sym typeface="Liter"/>
              </a:rPr>
              <a:t>• Missing pantry+budget+nutrition synergy</a:t>
            </a:r>
            <a:endParaRPr sz="1200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5166271" y="5530125"/>
            <a:ext cx="1857375" cy="9525"/>
          </a:xfrm>
          <a:custGeom>
            <a:rect b="b" l="l" r="r" t="t"/>
            <a:pathLst>
              <a:path extrusionOk="0" h="9525" w="1857375">
                <a:moveTo>
                  <a:pt x="0" y="0"/>
                </a:moveTo>
                <a:lnTo>
                  <a:pt x="1857375" y="0"/>
                </a:lnTo>
                <a:lnTo>
                  <a:pt x="1857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5166271" y="5611087"/>
            <a:ext cx="19145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Liter"/>
                <a:ea typeface="Liter"/>
                <a:cs typeface="Liter"/>
                <a:sym typeface="Liter"/>
              </a:rPr>
              <a:t>Impact: Competitive advantage unclear</a:t>
            </a:r>
            <a:endParaRPr b="1" sz="1100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7330380" y="1858237"/>
            <a:ext cx="2162175" cy="4210050"/>
          </a:xfrm>
          <a:custGeom>
            <a:rect b="b" l="l" r="r" t="t"/>
            <a:pathLst>
              <a:path extrusionOk="0" h="4210050" w="2162175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4133855"/>
                </a:lnTo>
                <a:cubicBezTo>
                  <a:pt x="2162175" y="4175936"/>
                  <a:pt x="2128061" y="4210050"/>
                  <a:pt x="2085980" y="4210050"/>
                </a:cubicBezTo>
                <a:lnTo>
                  <a:pt x="76195" y="4210050"/>
                </a:lnTo>
                <a:cubicBezTo>
                  <a:pt x="34114" y="4210050"/>
                  <a:pt x="0" y="4175936"/>
                  <a:pt x="0" y="413385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7330380" y="1858237"/>
            <a:ext cx="2162175" cy="38100"/>
          </a:xfrm>
          <a:custGeom>
            <a:rect b="b" l="l" r="r" t="t"/>
            <a:pathLst>
              <a:path extrusionOk="0" h="38100" w="2162175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7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7482780" y="2029687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7554218" y="2115412"/>
            <a:ext cx="166688" cy="133350"/>
          </a:xfrm>
          <a:custGeom>
            <a:rect b="b" l="l" r="r" t="t"/>
            <a:pathLst>
              <a:path extrusionOk="0" h="133350" w="166688">
                <a:moveTo>
                  <a:pt x="108321" y="54825"/>
                </a:moveTo>
                <a:cubicBezTo>
                  <a:pt x="111498" y="53965"/>
                  <a:pt x="114832" y="55476"/>
                  <a:pt x="116265" y="58419"/>
                </a:cubicBezTo>
                <a:lnTo>
                  <a:pt x="121109" y="68212"/>
                </a:lnTo>
                <a:cubicBezTo>
                  <a:pt x="123792" y="68576"/>
                  <a:pt x="126422" y="69306"/>
                  <a:pt x="128896" y="70321"/>
                </a:cubicBezTo>
                <a:lnTo>
                  <a:pt x="138012" y="64253"/>
                </a:lnTo>
                <a:cubicBezTo>
                  <a:pt x="140747" y="62430"/>
                  <a:pt x="144367" y="62794"/>
                  <a:pt x="146685" y="65112"/>
                </a:cubicBezTo>
                <a:lnTo>
                  <a:pt x="151686" y="70113"/>
                </a:lnTo>
                <a:cubicBezTo>
                  <a:pt x="154004" y="72431"/>
                  <a:pt x="154368" y="76077"/>
                  <a:pt x="152545" y="78786"/>
                </a:cubicBezTo>
                <a:lnTo>
                  <a:pt x="146477" y="87876"/>
                </a:lnTo>
                <a:cubicBezTo>
                  <a:pt x="146971" y="89100"/>
                  <a:pt x="147414" y="90376"/>
                  <a:pt x="147779" y="91704"/>
                </a:cubicBezTo>
                <a:cubicBezTo>
                  <a:pt x="148144" y="93032"/>
                  <a:pt x="148378" y="94335"/>
                  <a:pt x="148560" y="95663"/>
                </a:cubicBezTo>
                <a:lnTo>
                  <a:pt x="158379" y="100507"/>
                </a:lnTo>
                <a:cubicBezTo>
                  <a:pt x="161322" y="101966"/>
                  <a:pt x="162833" y="105300"/>
                  <a:pt x="161973" y="108451"/>
                </a:cubicBezTo>
                <a:lnTo>
                  <a:pt x="160150" y="115275"/>
                </a:lnTo>
                <a:cubicBezTo>
                  <a:pt x="159291" y="118426"/>
                  <a:pt x="156348" y="120562"/>
                  <a:pt x="153066" y="120354"/>
                </a:cubicBezTo>
                <a:lnTo>
                  <a:pt x="142127" y="119650"/>
                </a:lnTo>
                <a:cubicBezTo>
                  <a:pt x="140486" y="121760"/>
                  <a:pt x="138585" y="123713"/>
                  <a:pt x="136423" y="125380"/>
                </a:cubicBezTo>
                <a:lnTo>
                  <a:pt x="137127" y="136293"/>
                </a:lnTo>
                <a:cubicBezTo>
                  <a:pt x="137335" y="139575"/>
                  <a:pt x="135199" y="142544"/>
                  <a:pt x="132048" y="143377"/>
                </a:cubicBezTo>
                <a:lnTo>
                  <a:pt x="125224" y="145200"/>
                </a:lnTo>
                <a:cubicBezTo>
                  <a:pt x="122047" y="146060"/>
                  <a:pt x="118739" y="144549"/>
                  <a:pt x="117280" y="141606"/>
                </a:cubicBezTo>
                <a:lnTo>
                  <a:pt x="112436" y="131813"/>
                </a:lnTo>
                <a:cubicBezTo>
                  <a:pt x="109753" y="131449"/>
                  <a:pt x="107123" y="130719"/>
                  <a:pt x="104648" y="129704"/>
                </a:cubicBezTo>
                <a:lnTo>
                  <a:pt x="95533" y="135772"/>
                </a:lnTo>
                <a:cubicBezTo>
                  <a:pt x="92798" y="137595"/>
                  <a:pt x="89178" y="137231"/>
                  <a:pt x="86860" y="134913"/>
                </a:cubicBezTo>
                <a:lnTo>
                  <a:pt x="81859" y="129912"/>
                </a:lnTo>
                <a:cubicBezTo>
                  <a:pt x="79541" y="127594"/>
                  <a:pt x="79177" y="123974"/>
                  <a:pt x="81000" y="121239"/>
                </a:cubicBezTo>
                <a:lnTo>
                  <a:pt x="87068" y="112123"/>
                </a:lnTo>
                <a:cubicBezTo>
                  <a:pt x="86573" y="110899"/>
                  <a:pt x="86131" y="109623"/>
                  <a:pt x="85766" y="108295"/>
                </a:cubicBezTo>
                <a:cubicBezTo>
                  <a:pt x="85401" y="106966"/>
                  <a:pt x="85167" y="105638"/>
                  <a:pt x="84985" y="104336"/>
                </a:cubicBezTo>
                <a:lnTo>
                  <a:pt x="75166" y="99492"/>
                </a:lnTo>
                <a:cubicBezTo>
                  <a:pt x="72223" y="98033"/>
                  <a:pt x="70738" y="94699"/>
                  <a:pt x="71571" y="91548"/>
                </a:cubicBezTo>
                <a:lnTo>
                  <a:pt x="73395" y="84724"/>
                </a:lnTo>
                <a:cubicBezTo>
                  <a:pt x="74254" y="81573"/>
                  <a:pt x="77197" y="79437"/>
                  <a:pt x="80479" y="79645"/>
                </a:cubicBezTo>
                <a:lnTo>
                  <a:pt x="91392" y="80349"/>
                </a:lnTo>
                <a:cubicBezTo>
                  <a:pt x="93032" y="78239"/>
                  <a:pt x="94934" y="76286"/>
                  <a:pt x="97095" y="74619"/>
                </a:cubicBezTo>
                <a:lnTo>
                  <a:pt x="96392" y="63732"/>
                </a:lnTo>
                <a:cubicBezTo>
                  <a:pt x="96184" y="60450"/>
                  <a:pt x="98320" y="57481"/>
                  <a:pt x="101471" y="56648"/>
                </a:cubicBezTo>
                <a:lnTo>
                  <a:pt x="108295" y="54825"/>
                </a:lnTo>
                <a:close/>
                <a:moveTo>
                  <a:pt x="116785" y="88553"/>
                </a:moveTo>
                <a:cubicBezTo>
                  <a:pt x="110461" y="88560"/>
                  <a:pt x="105331" y="93701"/>
                  <a:pt x="105339" y="100026"/>
                </a:cubicBezTo>
                <a:cubicBezTo>
                  <a:pt x="105346" y="106350"/>
                  <a:pt x="110487" y="111479"/>
                  <a:pt x="116811" y="111472"/>
                </a:cubicBezTo>
                <a:cubicBezTo>
                  <a:pt x="123136" y="111465"/>
                  <a:pt x="128265" y="106324"/>
                  <a:pt x="128258" y="99999"/>
                </a:cubicBezTo>
                <a:cubicBezTo>
                  <a:pt x="128251" y="93675"/>
                  <a:pt x="123110" y="88546"/>
                  <a:pt x="116785" y="88553"/>
                </a:cubicBezTo>
                <a:close/>
                <a:moveTo>
                  <a:pt x="58575" y="-11850"/>
                </a:moveTo>
                <a:lnTo>
                  <a:pt x="65399" y="-10027"/>
                </a:lnTo>
                <a:cubicBezTo>
                  <a:pt x="68550" y="-9168"/>
                  <a:pt x="70686" y="-6199"/>
                  <a:pt x="70478" y="-2943"/>
                </a:cubicBezTo>
                <a:lnTo>
                  <a:pt x="69774" y="7944"/>
                </a:lnTo>
                <a:cubicBezTo>
                  <a:pt x="71936" y="9611"/>
                  <a:pt x="73837" y="11538"/>
                  <a:pt x="75478" y="13674"/>
                </a:cubicBezTo>
                <a:lnTo>
                  <a:pt x="86417" y="12970"/>
                </a:lnTo>
                <a:cubicBezTo>
                  <a:pt x="89673" y="12762"/>
                  <a:pt x="92642" y="14898"/>
                  <a:pt x="93501" y="18049"/>
                </a:cubicBezTo>
                <a:lnTo>
                  <a:pt x="95324" y="24873"/>
                </a:lnTo>
                <a:cubicBezTo>
                  <a:pt x="96158" y="28024"/>
                  <a:pt x="94673" y="31358"/>
                  <a:pt x="91730" y="32817"/>
                </a:cubicBezTo>
                <a:lnTo>
                  <a:pt x="81911" y="37661"/>
                </a:lnTo>
                <a:cubicBezTo>
                  <a:pt x="81729" y="38989"/>
                  <a:pt x="81469" y="40318"/>
                  <a:pt x="81130" y="41620"/>
                </a:cubicBezTo>
                <a:cubicBezTo>
                  <a:pt x="80791" y="42922"/>
                  <a:pt x="80323" y="44224"/>
                  <a:pt x="79828" y="45448"/>
                </a:cubicBezTo>
                <a:lnTo>
                  <a:pt x="85896" y="54564"/>
                </a:lnTo>
                <a:cubicBezTo>
                  <a:pt x="87719" y="57299"/>
                  <a:pt x="87355" y="60919"/>
                  <a:pt x="85037" y="63237"/>
                </a:cubicBezTo>
                <a:lnTo>
                  <a:pt x="80036" y="68238"/>
                </a:lnTo>
                <a:cubicBezTo>
                  <a:pt x="77718" y="70556"/>
                  <a:pt x="74098" y="70920"/>
                  <a:pt x="71363" y="69097"/>
                </a:cubicBezTo>
                <a:lnTo>
                  <a:pt x="62247" y="63029"/>
                </a:lnTo>
                <a:cubicBezTo>
                  <a:pt x="59773" y="64044"/>
                  <a:pt x="57143" y="64774"/>
                  <a:pt x="54460" y="65138"/>
                </a:cubicBezTo>
                <a:lnTo>
                  <a:pt x="49616" y="74931"/>
                </a:lnTo>
                <a:cubicBezTo>
                  <a:pt x="48157" y="77874"/>
                  <a:pt x="44823" y="79359"/>
                  <a:pt x="41672" y="78525"/>
                </a:cubicBezTo>
                <a:lnTo>
                  <a:pt x="34848" y="76702"/>
                </a:lnTo>
                <a:cubicBezTo>
                  <a:pt x="31671" y="75843"/>
                  <a:pt x="29561" y="72874"/>
                  <a:pt x="29769" y="69618"/>
                </a:cubicBezTo>
                <a:lnTo>
                  <a:pt x="30473" y="58705"/>
                </a:lnTo>
                <a:cubicBezTo>
                  <a:pt x="28311" y="57038"/>
                  <a:pt x="26410" y="55111"/>
                  <a:pt x="24769" y="52975"/>
                </a:cubicBezTo>
                <a:lnTo>
                  <a:pt x="13830" y="53679"/>
                </a:lnTo>
                <a:cubicBezTo>
                  <a:pt x="10574" y="53887"/>
                  <a:pt x="7605" y="51751"/>
                  <a:pt x="6746" y="48600"/>
                </a:cubicBezTo>
                <a:lnTo>
                  <a:pt x="4922" y="41776"/>
                </a:lnTo>
                <a:cubicBezTo>
                  <a:pt x="4089" y="38625"/>
                  <a:pt x="5574" y="35291"/>
                  <a:pt x="8517" y="33832"/>
                </a:cubicBezTo>
                <a:lnTo>
                  <a:pt x="18336" y="28988"/>
                </a:lnTo>
                <a:cubicBezTo>
                  <a:pt x="18518" y="27660"/>
                  <a:pt x="18778" y="26357"/>
                  <a:pt x="19117" y="25029"/>
                </a:cubicBezTo>
                <a:cubicBezTo>
                  <a:pt x="19482" y="23701"/>
                  <a:pt x="19898" y="22425"/>
                  <a:pt x="20419" y="21201"/>
                </a:cubicBezTo>
                <a:lnTo>
                  <a:pt x="14351" y="12111"/>
                </a:lnTo>
                <a:cubicBezTo>
                  <a:pt x="12528" y="9376"/>
                  <a:pt x="12892" y="5756"/>
                  <a:pt x="15210" y="3438"/>
                </a:cubicBezTo>
                <a:lnTo>
                  <a:pt x="20211" y="-1563"/>
                </a:lnTo>
                <a:cubicBezTo>
                  <a:pt x="22529" y="-3881"/>
                  <a:pt x="26149" y="-4245"/>
                  <a:pt x="28884" y="-2422"/>
                </a:cubicBezTo>
                <a:lnTo>
                  <a:pt x="38000" y="3646"/>
                </a:lnTo>
                <a:cubicBezTo>
                  <a:pt x="40474" y="2631"/>
                  <a:pt x="43104" y="1901"/>
                  <a:pt x="45787" y="1537"/>
                </a:cubicBezTo>
                <a:lnTo>
                  <a:pt x="50631" y="-8256"/>
                </a:lnTo>
                <a:cubicBezTo>
                  <a:pt x="52090" y="-11199"/>
                  <a:pt x="55398" y="-12684"/>
                  <a:pt x="58575" y="-11850"/>
                </a:cubicBezTo>
                <a:close/>
                <a:moveTo>
                  <a:pt x="50110" y="21878"/>
                </a:moveTo>
                <a:cubicBezTo>
                  <a:pt x="43786" y="21878"/>
                  <a:pt x="38651" y="27013"/>
                  <a:pt x="38651" y="33337"/>
                </a:cubicBezTo>
                <a:cubicBezTo>
                  <a:pt x="38651" y="39662"/>
                  <a:pt x="43786" y="44797"/>
                  <a:pt x="50110" y="44797"/>
                </a:cubicBezTo>
                <a:cubicBezTo>
                  <a:pt x="56435" y="44797"/>
                  <a:pt x="61570" y="39662"/>
                  <a:pt x="61570" y="33337"/>
                </a:cubicBezTo>
                <a:cubicBezTo>
                  <a:pt x="61570" y="27013"/>
                  <a:pt x="56435" y="21878"/>
                  <a:pt x="50110" y="21878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7863771" y="2067775"/>
            <a:ext cx="110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Solution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7482780" y="2410687"/>
            <a:ext cx="19240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55D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 List Only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7482775" y="2677372"/>
            <a:ext cx="19242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D3A36"/>
                </a:solidFill>
                <a:latin typeface="Liter"/>
                <a:ea typeface="Liter"/>
                <a:cs typeface="Liter"/>
                <a:sym typeface="Liter"/>
              </a:rPr>
              <a:t>• AI meals, pantry tracking mentioned</a:t>
            </a:r>
            <a:endParaRPr sz="1200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7482775" y="3246301"/>
            <a:ext cx="1924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D3A36"/>
                </a:solidFill>
                <a:latin typeface="Liter"/>
                <a:ea typeface="Liter"/>
                <a:cs typeface="Liter"/>
                <a:sym typeface="Liter"/>
              </a:rPr>
              <a:t>• Integration logic not explained</a:t>
            </a:r>
            <a:endParaRPr sz="1200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7482775" y="3626861"/>
            <a:ext cx="19242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D3A36"/>
                </a:solidFill>
                <a:latin typeface="Liter"/>
                <a:ea typeface="Liter"/>
                <a:cs typeface="Liter"/>
                <a:sym typeface="Liter"/>
              </a:rPr>
              <a:t>• Didn't communicate cognitive load reduction</a:t>
            </a:r>
            <a:endParaRPr sz="1200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7482775" y="4093002"/>
            <a:ext cx="19242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D3A36"/>
                </a:solidFill>
                <a:latin typeface="Liter"/>
                <a:ea typeface="Liter"/>
                <a:cs typeface="Liter"/>
                <a:sym typeface="Liter"/>
              </a:rPr>
              <a:t>• How features work together unclear</a:t>
            </a:r>
            <a:endParaRPr sz="1200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7482780" y="5543870"/>
            <a:ext cx="1857375" cy="9525"/>
          </a:xfrm>
          <a:custGeom>
            <a:rect b="b" l="l" r="r" t="t"/>
            <a:pathLst>
              <a:path extrusionOk="0" h="9525" w="1857375">
                <a:moveTo>
                  <a:pt x="0" y="0"/>
                </a:moveTo>
                <a:lnTo>
                  <a:pt x="1857375" y="0"/>
                </a:lnTo>
                <a:lnTo>
                  <a:pt x="1857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7482780" y="5722666"/>
            <a:ext cx="1914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Liter"/>
                <a:ea typeface="Liter"/>
                <a:cs typeface="Liter"/>
                <a:sym typeface="Liter"/>
              </a:rPr>
              <a:t>Impact: User benefit not compelling</a:t>
            </a:r>
            <a:endParaRPr b="1" sz="1100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9646890" y="1858237"/>
            <a:ext cx="2162175" cy="4210050"/>
          </a:xfrm>
          <a:custGeom>
            <a:rect b="b" l="l" r="r" t="t"/>
            <a:pathLst>
              <a:path extrusionOk="0" h="4210050" w="2162175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4133855"/>
                </a:lnTo>
                <a:cubicBezTo>
                  <a:pt x="2162175" y="4175936"/>
                  <a:pt x="2128061" y="4210050"/>
                  <a:pt x="2085980" y="4210050"/>
                </a:cubicBezTo>
                <a:lnTo>
                  <a:pt x="76195" y="4210050"/>
                </a:lnTo>
                <a:cubicBezTo>
                  <a:pt x="34114" y="4210050"/>
                  <a:pt x="0" y="4175936"/>
                  <a:pt x="0" y="413385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9646890" y="1858237"/>
            <a:ext cx="2162175" cy="38100"/>
          </a:xfrm>
          <a:custGeom>
            <a:rect b="b" l="l" r="r" t="t"/>
            <a:pathLst>
              <a:path extrusionOk="0" h="38100" w="2162175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D46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9799290" y="2029687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3E8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9887396" y="2115412"/>
            <a:ext cx="133350" cy="133350"/>
          </a:xfrm>
          <a:custGeom>
            <a:rect b="b" l="l" r="r" t="t"/>
            <a:pathLst>
              <a:path extrusionOk="0" h="133350" w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981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10180306" y="2067775"/>
            <a:ext cx="136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Key Metrics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9799290" y="2410687"/>
            <a:ext cx="19240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9810F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Usage-Focused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9799300" y="2677372"/>
            <a:ext cx="19242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D3A36"/>
                </a:solidFill>
                <a:latin typeface="Liter"/>
                <a:ea typeface="Liter"/>
                <a:cs typeface="Liter"/>
                <a:sym typeface="Liter"/>
              </a:rPr>
              <a:t>• Focused on downloads, subscriptions</a:t>
            </a:r>
            <a:endParaRPr sz="1200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9799300" y="3130533"/>
            <a:ext cx="19242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D3A36"/>
                </a:solidFill>
                <a:latin typeface="Liter"/>
                <a:ea typeface="Liter"/>
                <a:cs typeface="Liter"/>
                <a:sym typeface="Liter"/>
              </a:rPr>
              <a:t>• Didn't measure behavioral outcomes</a:t>
            </a:r>
            <a:endParaRPr sz="1200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9799300" y="3741301"/>
            <a:ext cx="1924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D3A36"/>
                </a:solidFill>
                <a:latin typeface="Liter"/>
                <a:ea typeface="Liter"/>
                <a:cs typeface="Liter"/>
                <a:sym typeface="Liter"/>
              </a:rPr>
              <a:t>• Missing: food waste reduction</a:t>
            </a:r>
            <a:endParaRPr sz="1200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9799300" y="4092775"/>
            <a:ext cx="19242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D3A36"/>
                </a:solidFill>
                <a:latin typeface="Liter"/>
                <a:ea typeface="Liter"/>
                <a:cs typeface="Liter"/>
                <a:sym typeface="Liter"/>
              </a:rPr>
              <a:t>• Missing: spending control, nutrition consistency</a:t>
            </a:r>
            <a:endParaRPr sz="1200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9799290" y="5555927"/>
            <a:ext cx="1857375" cy="9525"/>
          </a:xfrm>
          <a:custGeom>
            <a:rect b="b" l="l" r="r" t="t"/>
            <a:pathLst>
              <a:path extrusionOk="0" h="9525" w="1857375">
                <a:moveTo>
                  <a:pt x="0" y="0"/>
                </a:moveTo>
                <a:lnTo>
                  <a:pt x="1857375" y="0"/>
                </a:lnTo>
                <a:lnTo>
                  <a:pt x="1857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9799290" y="5722666"/>
            <a:ext cx="1914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Liter"/>
                <a:ea typeface="Liter"/>
                <a:cs typeface="Liter"/>
                <a:sym typeface="Liter"/>
              </a:rPr>
              <a:t>Impact: Success metrics misaligned</a:t>
            </a:r>
            <a:endParaRPr b="1" sz="1100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0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"/>
          <p:cNvSpPr/>
          <p:nvPr/>
        </p:nvSpPr>
        <p:spPr>
          <a:xfrm>
            <a:off x="545306" y="600075"/>
            <a:ext cx="285750" cy="285750"/>
          </a:xfrm>
          <a:custGeom>
            <a:rect b="b" l="l" r="r" t="t"/>
            <a:pathLst>
              <a:path extrusionOk="0" h="285750" w="285750">
                <a:moveTo>
                  <a:pt x="125016" y="0"/>
                </a:moveTo>
                <a:lnTo>
                  <a:pt x="125016" y="35719"/>
                </a:lnTo>
                <a:cubicBezTo>
                  <a:pt x="125016" y="40630"/>
                  <a:pt x="129034" y="44648"/>
                  <a:pt x="133945" y="44648"/>
                </a:cubicBezTo>
                <a:lnTo>
                  <a:pt x="151805" y="44648"/>
                </a:lnTo>
                <a:cubicBezTo>
                  <a:pt x="156716" y="44648"/>
                  <a:pt x="160734" y="40630"/>
                  <a:pt x="160734" y="35719"/>
                </a:cubicBezTo>
                <a:lnTo>
                  <a:pt x="160734" y="0"/>
                </a:lnTo>
                <a:lnTo>
                  <a:pt x="178594" y="0"/>
                </a:lnTo>
                <a:cubicBezTo>
                  <a:pt x="198295" y="0"/>
                  <a:pt x="214313" y="16018"/>
                  <a:pt x="214313" y="35719"/>
                </a:cubicBezTo>
                <a:lnTo>
                  <a:pt x="214313" y="107156"/>
                </a:lnTo>
                <a:cubicBezTo>
                  <a:pt x="214313" y="110226"/>
                  <a:pt x="213922" y="113240"/>
                  <a:pt x="213196" y="116086"/>
                </a:cubicBezTo>
                <a:lnTo>
                  <a:pt x="72554" y="116086"/>
                </a:lnTo>
                <a:cubicBezTo>
                  <a:pt x="71828" y="113240"/>
                  <a:pt x="71438" y="110226"/>
                  <a:pt x="71438" y="107156"/>
                </a:cubicBezTo>
                <a:lnTo>
                  <a:pt x="71438" y="35719"/>
                </a:lnTo>
                <a:cubicBezTo>
                  <a:pt x="71438" y="16018"/>
                  <a:pt x="87455" y="0"/>
                  <a:pt x="107156" y="0"/>
                </a:cubicBezTo>
                <a:lnTo>
                  <a:pt x="125016" y="0"/>
                </a:lnTo>
                <a:close/>
                <a:moveTo>
                  <a:pt x="178594" y="285750"/>
                </a:moveTo>
                <a:cubicBezTo>
                  <a:pt x="172343" y="285750"/>
                  <a:pt x="166427" y="284131"/>
                  <a:pt x="161292" y="281285"/>
                </a:cubicBezTo>
                <a:cubicBezTo>
                  <a:pt x="166594" y="272076"/>
                  <a:pt x="169664" y="261417"/>
                  <a:pt x="169664" y="250031"/>
                </a:cubicBezTo>
                <a:lnTo>
                  <a:pt x="169664" y="178594"/>
                </a:lnTo>
                <a:cubicBezTo>
                  <a:pt x="169664" y="167208"/>
                  <a:pt x="166594" y="156549"/>
                  <a:pt x="161292" y="147340"/>
                </a:cubicBezTo>
                <a:cubicBezTo>
                  <a:pt x="166427" y="144494"/>
                  <a:pt x="172287" y="142875"/>
                  <a:pt x="178594" y="142875"/>
                </a:cubicBezTo>
                <a:lnTo>
                  <a:pt x="196453" y="142875"/>
                </a:lnTo>
                <a:lnTo>
                  <a:pt x="196453" y="178594"/>
                </a:lnTo>
                <a:cubicBezTo>
                  <a:pt x="196453" y="183505"/>
                  <a:pt x="200471" y="187523"/>
                  <a:pt x="205383" y="187523"/>
                </a:cubicBezTo>
                <a:lnTo>
                  <a:pt x="223242" y="187523"/>
                </a:lnTo>
                <a:cubicBezTo>
                  <a:pt x="228154" y="187523"/>
                  <a:pt x="232172" y="183505"/>
                  <a:pt x="232172" y="178594"/>
                </a:cubicBezTo>
                <a:lnTo>
                  <a:pt x="232172" y="142875"/>
                </a:lnTo>
                <a:lnTo>
                  <a:pt x="250031" y="142875"/>
                </a:lnTo>
                <a:cubicBezTo>
                  <a:pt x="269732" y="142875"/>
                  <a:pt x="285750" y="158893"/>
                  <a:pt x="285750" y="178594"/>
                </a:cubicBezTo>
                <a:lnTo>
                  <a:pt x="285750" y="250031"/>
                </a:lnTo>
                <a:cubicBezTo>
                  <a:pt x="285750" y="269732"/>
                  <a:pt x="269732" y="285750"/>
                  <a:pt x="250031" y="285750"/>
                </a:cubicBezTo>
                <a:lnTo>
                  <a:pt x="178594" y="285750"/>
                </a:lnTo>
                <a:close/>
                <a:moveTo>
                  <a:pt x="0" y="178594"/>
                </a:moveTo>
                <a:cubicBezTo>
                  <a:pt x="0" y="158893"/>
                  <a:pt x="16018" y="142875"/>
                  <a:pt x="35719" y="142875"/>
                </a:cubicBezTo>
                <a:lnTo>
                  <a:pt x="53578" y="142875"/>
                </a:lnTo>
                <a:lnTo>
                  <a:pt x="53578" y="178594"/>
                </a:lnTo>
                <a:cubicBezTo>
                  <a:pt x="53578" y="183505"/>
                  <a:pt x="57596" y="187523"/>
                  <a:pt x="62508" y="187523"/>
                </a:cubicBezTo>
                <a:lnTo>
                  <a:pt x="80367" y="187523"/>
                </a:lnTo>
                <a:cubicBezTo>
                  <a:pt x="85279" y="187523"/>
                  <a:pt x="89297" y="183505"/>
                  <a:pt x="89297" y="178594"/>
                </a:cubicBezTo>
                <a:lnTo>
                  <a:pt x="89297" y="142875"/>
                </a:lnTo>
                <a:lnTo>
                  <a:pt x="107156" y="142875"/>
                </a:lnTo>
                <a:cubicBezTo>
                  <a:pt x="126857" y="142875"/>
                  <a:pt x="142875" y="158893"/>
                  <a:pt x="142875" y="178594"/>
                </a:cubicBezTo>
                <a:lnTo>
                  <a:pt x="142875" y="250031"/>
                </a:lnTo>
                <a:cubicBezTo>
                  <a:pt x="142875" y="269732"/>
                  <a:pt x="126857" y="285750"/>
                  <a:pt x="107156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178594"/>
                </a:ln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2831455" y="5972175"/>
            <a:ext cx="228600" cy="228600"/>
          </a:xfrm>
          <a:custGeom>
            <a:rect b="b" l="l" r="r" t="t"/>
            <a:pathLst>
              <a:path extrusionOk="0" h="228600" w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895350" y="5943600"/>
            <a:ext cx="10744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These tools assist planning — but the cognitive burden remains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0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"/>
          <p:cNvSpPr/>
          <p:nvPr/>
        </p:nvSpPr>
        <p:spPr>
          <a:xfrm>
            <a:off x="310700" y="866125"/>
            <a:ext cx="53922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17">
                <a:solidFill>
                  <a:srgbClr val="C78D4E"/>
                </a:solidFill>
                <a:latin typeface="Liter"/>
                <a:ea typeface="Liter"/>
                <a:cs typeface="Liter"/>
                <a:sym typeface="Liter"/>
              </a:rPr>
              <a:t>DELIVERABLE 2.1</a:t>
            </a:r>
            <a:endParaRPr sz="230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310700" y="1278178"/>
            <a:ext cx="7756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23">
                <a:solidFill>
                  <a:srgbClr val="4A5741"/>
                </a:solidFill>
                <a:latin typeface="Oranienbaum"/>
                <a:ea typeface="Oranienbaum"/>
                <a:cs typeface="Oranienbaum"/>
                <a:sym typeface="Oranienbaum"/>
              </a:rPr>
              <a:t>Seven Strategic Vulnerabilities Identified</a:t>
            </a:r>
            <a:endParaRPr sz="230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310700" y="1964933"/>
            <a:ext cx="70056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5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Skeptical evaluation of the Lean Model Canvas reveals critical internal mismatches</a:t>
            </a:r>
            <a:endParaRPr sz="230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8224534" y="774900"/>
            <a:ext cx="3798332" cy="1601986"/>
          </a:xfrm>
          <a:custGeom>
            <a:rect b="b" l="l" r="r" t="t"/>
            <a:pathLst>
              <a:path extrusionOk="0" h="2143125" w="3714750">
                <a:moveTo>
                  <a:pt x="38100" y="0"/>
                </a:moveTo>
                <a:lnTo>
                  <a:pt x="3638540" y="0"/>
                </a:lnTo>
                <a:cubicBezTo>
                  <a:pt x="3680630" y="0"/>
                  <a:pt x="3714750" y="34120"/>
                  <a:pt x="3714750" y="76210"/>
                </a:cubicBezTo>
                <a:lnTo>
                  <a:pt x="3714750" y="2066915"/>
                </a:lnTo>
                <a:cubicBezTo>
                  <a:pt x="3714750" y="2109005"/>
                  <a:pt x="3680630" y="2143125"/>
                  <a:pt x="3638540" y="2143125"/>
                </a:cubicBezTo>
                <a:lnTo>
                  <a:pt x="38100" y="2143125"/>
                </a:lnTo>
                <a:cubicBezTo>
                  <a:pt x="17072" y="2143125"/>
                  <a:pt x="0" y="2126053"/>
                  <a:pt x="0" y="2105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8498" rotWithShape="0" algn="bl" dir="5400000" dist="38999">
              <a:srgbClr val="000000">
                <a:alpha val="10196"/>
              </a:srgbClr>
            </a:outerShdw>
          </a:effectLst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8224533" y="774900"/>
            <a:ext cx="48768" cy="1601986"/>
          </a:xfrm>
          <a:custGeom>
            <a:rect b="b" l="l" r="r" t="t"/>
            <a:pathLst>
              <a:path extrusionOk="0" h="2143125" w="38100">
                <a:moveTo>
                  <a:pt x="38100" y="0"/>
                </a:moveTo>
                <a:lnTo>
                  <a:pt x="38100" y="0"/>
                </a:lnTo>
                <a:lnTo>
                  <a:pt x="38100" y="2143125"/>
                </a:lnTo>
                <a:lnTo>
                  <a:pt x="38100" y="2143125"/>
                </a:lnTo>
                <a:cubicBezTo>
                  <a:pt x="17072" y="2143125"/>
                  <a:pt x="0" y="2126053"/>
                  <a:pt x="0" y="2105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>
            <a:noFill/>
          </a:ln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8361029" y="891895"/>
            <a:ext cx="311658" cy="311658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E2E2"/>
          </a:solidFill>
          <a:ln>
            <a:noFill/>
          </a:ln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8322030" y="891895"/>
            <a:ext cx="3900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8">
                <a:solidFill>
                  <a:srgbClr val="E700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sz="16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8751015" y="930893"/>
            <a:ext cx="22620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8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Customer vs Channel Mismatch</a:t>
            </a:r>
            <a:endParaRPr sz="16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8361029" y="1564620"/>
            <a:ext cx="36171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10007"/>
                </a:solidFill>
                <a:highlight>
                  <a:srgbClr val="FFE2E2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Mismatch: </a:t>
            </a:r>
            <a:r>
              <a:rPr lang="en-US" sz="12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Busy parents not aligned with university channels; budget users less responsive to influencers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8361029" y="1976055"/>
            <a:ext cx="3545110" cy="9739"/>
          </a:xfrm>
          <a:custGeom>
            <a:rect b="b" l="l" r="r" t="t"/>
            <a:pathLst>
              <a:path extrusionOk="0" h="9525" w="3467100">
                <a:moveTo>
                  <a:pt x="0" y="0"/>
                </a:moveTo>
                <a:lnTo>
                  <a:pt x="3467100" y="0"/>
                </a:lnTo>
                <a:lnTo>
                  <a:pt x="34671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E2E2"/>
          </a:solidFill>
          <a:ln>
            <a:noFill/>
          </a:ln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8361029" y="2105726"/>
            <a:ext cx="36075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E700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Risk: Inefficient targeting, wasted acquisition spend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8224534" y="2597546"/>
            <a:ext cx="3798332" cy="1601986"/>
          </a:xfrm>
          <a:custGeom>
            <a:rect b="b" l="l" r="r" t="t"/>
            <a:pathLst>
              <a:path extrusionOk="0" h="2143125" w="3714750">
                <a:moveTo>
                  <a:pt x="38100" y="0"/>
                </a:moveTo>
                <a:lnTo>
                  <a:pt x="3638540" y="0"/>
                </a:lnTo>
                <a:cubicBezTo>
                  <a:pt x="3680630" y="0"/>
                  <a:pt x="3714750" y="34120"/>
                  <a:pt x="3714750" y="76210"/>
                </a:cubicBezTo>
                <a:lnTo>
                  <a:pt x="3714750" y="2066915"/>
                </a:lnTo>
                <a:cubicBezTo>
                  <a:pt x="3714750" y="2109005"/>
                  <a:pt x="3680630" y="2143125"/>
                  <a:pt x="3638540" y="2143125"/>
                </a:cubicBezTo>
                <a:lnTo>
                  <a:pt x="38100" y="2143125"/>
                </a:lnTo>
                <a:cubicBezTo>
                  <a:pt x="17072" y="2143125"/>
                  <a:pt x="0" y="2126053"/>
                  <a:pt x="0" y="2105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8498" rotWithShape="0" algn="bl" dir="5400000" dist="38999">
              <a:srgbClr val="000000">
                <a:alpha val="10196"/>
              </a:srgbClr>
            </a:outerShdw>
          </a:effectLst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8224533" y="2597546"/>
            <a:ext cx="48768" cy="1601986"/>
          </a:xfrm>
          <a:custGeom>
            <a:rect b="b" l="l" r="r" t="t"/>
            <a:pathLst>
              <a:path extrusionOk="0" h="2143125" w="38100">
                <a:moveTo>
                  <a:pt x="38100" y="0"/>
                </a:moveTo>
                <a:lnTo>
                  <a:pt x="38100" y="0"/>
                </a:lnTo>
                <a:lnTo>
                  <a:pt x="38100" y="2143125"/>
                </a:lnTo>
                <a:lnTo>
                  <a:pt x="38100" y="2143125"/>
                </a:lnTo>
                <a:cubicBezTo>
                  <a:pt x="17072" y="2143125"/>
                  <a:pt x="0" y="2126053"/>
                  <a:pt x="0" y="2105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7FFF"/>
          </a:solidFill>
          <a:ln>
            <a:noFill/>
          </a:ln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8361029" y="2714541"/>
            <a:ext cx="311658" cy="311658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8322030" y="2714541"/>
            <a:ext cx="3900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8">
                <a:solidFill>
                  <a:srgbClr val="2B7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sz="1637">
              <a:solidFill>
                <a:srgbClr val="2B7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8751015" y="2753539"/>
            <a:ext cx="22620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8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Cost Structure Scaling Risk</a:t>
            </a:r>
            <a:endParaRPr b="1" sz="1228">
              <a:solidFill>
                <a:srgbClr val="4A574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8361029" y="3387266"/>
            <a:ext cx="36171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447E6"/>
                </a:solidFill>
                <a:highlight>
                  <a:srgbClr val="DBEAFE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Risk: </a:t>
            </a:r>
            <a:r>
              <a:rPr lang="en-US" sz="12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If revenue/user remains low (budget-conscious segments), costs scale faster than monetization</a:t>
            </a:r>
            <a:endParaRPr sz="1200">
              <a:solidFill>
                <a:srgbClr val="C10007"/>
              </a:solidFill>
              <a:highlight>
                <a:srgbClr val="FFE2E2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8361029" y="3798701"/>
            <a:ext cx="3545110" cy="9739"/>
          </a:xfrm>
          <a:custGeom>
            <a:rect b="b" l="l" r="r" t="t"/>
            <a:pathLst>
              <a:path extrusionOk="0" h="9525" w="3467100">
                <a:moveTo>
                  <a:pt x="0" y="0"/>
                </a:moveTo>
                <a:lnTo>
                  <a:pt x="3467100" y="0"/>
                </a:lnTo>
                <a:lnTo>
                  <a:pt x="34671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DBEAFE"/>
          </a:solidFill>
          <a:ln>
            <a:noFill/>
          </a:ln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8361029" y="3928372"/>
            <a:ext cx="36075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55D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Risk: Margin compression, unsustainable unit economics</a:t>
            </a:r>
            <a:endParaRPr b="1" sz="1100">
              <a:solidFill>
                <a:srgbClr val="E7000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137825" y="2573428"/>
            <a:ext cx="3798332" cy="1601986"/>
          </a:xfrm>
          <a:custGeom>
            <a:rect b="b" l="l" r="r" t="t"/>
            <a:pathLst>
              <a:path extrusionOk="0" h="2143125" w="3714750">
                <a:moveTo>
                  <a:pt x="38100" y="0"/>
                </a:moveTo>
                <a:lnTo>
                  <a:pt x="3638540" y="0"/>
                </a:lnTo>
                <a:cubicBezTo>
                  <a:pt x="3680630" y="0"/>
                  <a:pt x="3714750" y="34120"/>
                  <a:pt x="3714750" y="76210"/>
                </a:cubicBezTo>
                <a:lnTo>
                  <a:pt x="3714750" y="2066915"/>
                </a:lnTo>
                <a:cubicBezTo>
                  <a:pt x="3714750" y="2109005"/>
                  <a:pt x="3680630" y="2143125"/>
                  <a:pt x="3638540" y="2143125"/>
                </a:cubicBezTo>
                <a:lnTo>
                  <a:pt x="38100" y="2143125"/>
                </a:lnTo>
                <a:cubicBezTo>
                  <a:pt x="17072" y="2143125"/>
                  <a:pt x="0" y="2126053"/>
                  <a:pt x="0" y="2105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8498" rotWithShape="0" algn="bl" dir="5400000" dist="38999">
              <a:srgbClr val="000000">
                <a:alpha val="10196"/>
              </a:srgbClr>
            </a:outerShdw>
          </a:effectLst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137824" y="2573428"/>
            <a:ext cx="48768" cy="1601986"/>
          </a:xfrm>
          <a:custGeom>
            <a:rect b="b" l="l" r="r" t="t"/>
            <a:pathLst>
              <a:path extrusionOk="0" h="2143125" w="38100">
                <a:moveTo>
                  <a:pt x="38100" y="0"/>
                </a:moveTo>
                <a:lnTo>
                  <a:pt x="38100" y="0"/>
                </a:lnTo>
                <a:lnTo>
                  <a:pt x="38100" y="2143125"/>
                </a:lnTo>
                <a:lnTo>
                  <a:pt x="38100" y="2143125"/>
                </a:lnTo>
                <a:cubicBezTo>
                  <a:pt x="17072" y="2143125"/>
                  <a:pt x="0" y="2126053"/>
                  <a:pt x="0" y="2105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274320" y="2690423"/>
            <a:ext cx="311658" cy="311658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EDD4"/>
          </a:solidFill>
          <a:ln>
            <a:noFill/>
          </a:ln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242879" y="2690423"/>
            <a:ext cx="3900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8">
                <a:solidFill>
                  <a:srgbClr val="E700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16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274320" y="3774583"/>
            <a:ext cx="3545110" cy="9739"/>
          </a:xfrm>
          <a:custGeom>
            <a:rect b="b" l="l" r="r" t="t"/>
            <a:pathLst>
              <a:path extrusionOk="0" h="9525" w="3467100">
                <a:moveTo>
                  <a:pt x="0" y="0"/>
                </a:moveTo>
                <a:lnTo>
                  <a:pt x="3467100" y="0"/>
                </a:lnTo>
                <a:lnTo>
                  <a:pt x="34671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EDD4"/>
          </a:solidFill>
          <a:ln>
            <a:noFill/>
          </a:ln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108576" y="4481121"/>
            <a:ext cx="3798332" cy="1601986"/>
          </a:xfrm>
          <a:custGeom>
            <a:rect b="b" l="l" r="r" t="t"/>
            <a:pathLst>
              <a:path extrusionOk="0" h="2143125" w="3714750">
                <a:moveTo>
                  <a:pt x="38100" y="0"/>
                </a:moveTo>
                <a:lnTo>
                  <a:pt x="3638540" y="0"/>
                </a:lnTo>
                <a:cubicBezTo>
                  <a:pt x="3680630" y="0"/>
                  <a:pt x="3714750" y="34120"/>
                  <a:pt x="3714750" y="76210"/>
                </a:cubicBezTo>
                <a:lnTo>
                  <a:pt x="3714750" y="2066915"/>
                </a:lnTo>
                <a:cubicBezTo>
                  <a:pt x="3714750" y="2109005"/>
                  <a:pt x="3680630" y="2143125"/>
                  <a:pt x="3638540" y="2143125"/>
                </a:cubicBezTo>
                <a:lnTo>
                  <a:pt x="38100" y="2143125"/>
                </a:lnTo>
                <a:cubicBezTo>
                  <a:pt x="17072" y="2143125"/>
                  <a:pt x="0" y="2126053"/>
                  <a:pt x="0" y="2105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8498" rotWithShape="0" algn="bl" dir="5400000" dist="38999">
              <a:srgbClr val="000000">
                <a:alpha val="10196"/>
              </a:srgbClr>
            </a:outerShdw>
          </a:effectLst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108575" y="4481121"/>
            <a:ext cx="48768" cy="1601986"/>
          </a:xfrm>
          <a:custGeom>
            <a:rect b="b" l="l" r="r" t="t"/>
            <a:pathLst>
              <a:path extrusionOk="0" h="2143125" w="38100">
                <a:moveTo>
                  <a:pt x="38100" y="0"/>
                </a:moveTo>
                <a:lnTo>
                  <a:pt x="38100" y="0"/>
                </a:lnTo>
                <a:lnTo>
                  <a:pt x="38100" y="2143125"/>
                </a:lnTo>
                <a:lnTo>
                  <a:pt x="38100" y="2143125"/>
                </a:lnTo>
                <a:cubicBezTo>
                  <a:pt x="17072" y="2143125"/>
                  <a:pt x="0" y="2126053"/>
                  <a:pt x="0" y="2105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D46FF"/>
          </a:solidFill>
          <a:ln>
            <a:noFill/>
          </a:ln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245071" y="4598116"/>
            <a:ext cx="311658" cy="311658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3E8FF"/>
          </a:solidFill>
          <a:ln>
            <a:noFill/>
          </a:ln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206073" y="4598116"/>
            <a:ext cx="3900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8">
                <a:solidFill>
                  <a:srgbClr val="AD46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sz="1637">
              <a:solidFill>
                <a:srgbClr val="AD46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635057" y="4637114"/>
            <a:ext cx="22620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8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"Unfair Advantage" Not Defensible</a:t>
            </a:r>
            <a:endParaRPr b="1" sz="1228">
              <a:solidFill>
                <a:srgbClr val="4A574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245071" y="5270841"/>
            <a:ext cx="36171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200DB"/>
                </a:solidFill>
                <a:highlight>
                  <a:srgbClr val="F3E8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Risk: </a:t>
            </a:r>
            <a:r>
              <a:rPr lang="en-US" sz="12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proprietary data, partnerships, or switching costs = structurally weak moat</a:t>
            </a:r>
            <a:endParaRPr sz="1200">
              <a:solidFill>
                <a:srgbClr val="C10007"/>
              </a:solidFill>
              <a:highlight>
                <a:srgbClr val="FFE2E2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245071" y="5682276"/>
            <a:ext cx="3545110" cy="9739"/>
          </a:xfrm>
          <a:custGeom>
            <a:rect b="b" l="l" r="r" t="t"/>
            <a:pathLst>
              <a:path extrusionOk="0" h="9525" w="3467100">
                <a:moveTo>
                  <a:pt x="0" y="0"/>
                </a:moveTo>
                <a:lnTo>
                  <a:pt x="3467100" y="0"/>
                </a:lnTo>
                <a:lnTo>
                  <a:pt x="34671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E8FF"/>
          </a:solidFill>
          <a:ln>
            <a:noFill/>
          </a:ln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245071" y="5811947"/>
            <a:ext cx="36075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810F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Risk: Larger competitors quickly replicate features</a:t>
            </a:r>
            <a:endParaRPr b="1" sz="1100">
              <a:solidFill>
                <a:srgbClr val="E7000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4163267" y="2574656"/>
            <a:ext cx="3798332" cy="1601986"/>
          </a:xfrm>
          <a:custGeom>
            <a:rect b="b" l="l" r="r" t="t"/>
            <a:pathLst>
              <a:path extrusionOk="0" h="2143125" w="3714750">
                <a:moveTo>
                  <a:pt x="38100" y="0"/>
                </a:moveTo>
                <a:lnTo>
                  <a:pt x="3638540" y="0"/>
                </a:lnTo>
                <a:cubicBezTo>
                  <a:pt x="3680630" y="0"/>
                  <a:pt x="3714750" y="34120"/>
                  <a:pt x="3714750" y="76210"/>
                </a:cubicBezTo>
                <a:lnTo>
                  <a:pt x="3714750" y="2066915"/>
                </a:lnTo>
                <a:cubicBezTo>
                  <a:pt x="3714750" y="2109005"/>
                  <a:pt x="3680630" y="2143125"/>
                  <a:pt x="3638540" y="2143125"/>
                </a:cubicBezTo>
                <a:lnTo>
                  <a:pt x="38100" y="2143125"/>
                </a:lnTo>
                <a:cubicBezTo>
                  <a:pt x="17072" y="2143125"/>
                  <a:pt x="0" y="2126053"/>
                  <a:pt x="0" y="2105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8498" rotWithShape="0" algn="bl" dir="5400000" dist="38999">
              <a:srgbClr val="000000">
                <a:alpha val="10196"/>
              </a:srgbClr>
            </a:outerShdw>
          </a:effectLst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4163266" y="2574656"/>
            <a:ext cx="48768" cy="1601986"/>
          </a:xfrm>
          <a:custGeom>
            <a:rect b="b" l="l" r="r" t="t"/>
            <a:pathLst>
              <a:path extrusionOk="0" h="2143125" w="38100">
                <a:moveTo>
                  <a:pt x="38100" y="0"/>
                </a:moveTo>
                <a:lnTo>
                  <a:pt x="38100" y="0"/>
                </a:lnTo>
                <a:lnTo>
                  <a:pt x="38100" y="2143125"/>
                </a:lnTo>
                <a:lnTo>
                  <a:pt x="38100" y="2143125"/>
                </a:lnTo>
                <a:cubicBezTo>
                  <a:pt x="17072" y="2143125"/>
                  <a:pt x="0" y="2126053"/>
                  <a:pt x="0" y="2105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08B10"/>
          </a:solidFill>
          <a:ln>
            <a:noFill/>
          </a:ln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4299762" y="2691651"/>
            <a:ext cx="311658" cy="311658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EF9C2"/>
          </a:solidFill>
          <a:ln>
            <a:noFill/>
          </a:ln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4260763" y="2691651"/>
            <a:ext cx="3900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8">
                <a:solidFill>
                  <a:srgbClr val="C78D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sz="1637">
              <a:solidFill>
                <a:srgbClr val="C78D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4689748" y="2730649"/>
            <a:ext cx="22620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8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Customer vs Channel Mismatch</a:t>
            </a:r>
            <a:endParaRPr sz="16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4299762" y="3775811"/>
            <a:ext cx="3545110" cy="9739"/>
          </a:xfrm>
          <a:custGeom>
            <a:rect b="b" l="l" r="r" t="t"/>
            <a:pathLst>
              <a:path extrusionOk="0" h="9525" w="3467100">
                <a:moveTo>
                  <a:pt x="0" y="0"/>
                </a:moveTo>
                <a:lnTo>
                  <a:pt x="3467100" y="0"/>
                </a:lnTo>
                <a:lnTo>
                  <a:pt x="34671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EF9C2"/>
          </a:solidFill>
          <a:ln>
            <a:noFill/>
          </a:ln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4164431" y="4481121"/>
            <a:ext cx="3798332" cy="1601986"/>
          </a:xfrm>
          <a:custGeom>
            <a:rect b="b" l="l" r="r" t="t"/>
            <a:pathLst>
              <a:path extrusionOk="0" h="2143125" w="3714750">
                <a:moveTo>
                  <a:pt x="38100" y="0"/>
                </a:moveTo>
                <a:lnTo>
                  <a:pt x="3638540" y="0"/>
                </a:lnTo>
                <a:cubicBezTo>
                  <a:pt x="3680630" y="0"/>
                  <a:pt x="3714750" y="34120"/>
                  <a:pt x="3714750" y="76210"/>
                </a:cubicBezTo>
                <a:lnTo>
                  <a:pt x="3714750" y="2066915"/>
                </a:lnTo>
                <a:cubicBezTo>
                  <a:pt x="3714750" y="2109005"/>
                  <a:pt x="3680630" y="2143125"/>
                  <a:pt x="3638540" y="2143125"/>
                </a:cubicBezTo>
                <a:lnTo>
                  <a:pt x="38100" y="2143125"/>
                </a:lnTo>
                <a:cubicBezTo>
                  <a:pt x="17072" y="2143125"/>
                  <a:pt x="0" y="2126053"/>
                  <a:pt x="0" y="2105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8498" rotWithShape="0" algn="bl" dir="5400000" dist="38999">
              <a:srgbClr val="000000">
                <a:alpha val="10196"/>
              </a:srgbClr>
            </a:outerShdw>
          </a:effectLst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4164430" y="4481121"/>
            <a:ext cx="48768" cy="1601986"/>
          </a:xfrm>
          <a:custGeom>
            <a:rect b="b" l="l" r="r" t="t"/>
            <a:pathLst>
              <a:path extrusionOk="0" h="2143125" w="38100">
                <a:moveTo>
                  <a:pt x="38100" y="0"/>
                </a:moveTo>
                <a:lnTo>
                  <a:pt x="38100" y="0"/>
                </a:lnTo>
                <a:lnTo>
                  <a:pt x="38100" y="2143125"/>
                </a:lnTo>
                <a:lnTo>
                  <a:pt x="38100" y="2143125"/>
                </a:lnTo>
                <a:cubicBezTo>
                  <a:pt x="17072" y="2143125"/>
                  <a:pt x="0" y="2126053"/>
                  <a:pt x="0" y="2105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60076"/>
          </a:solidFill>
          <a:ln>
            <a:noFill/>
          </a:ln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4300926" y="4598116"/>
            <a:ext cx="311658" cy="311658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CE7F3"/>
          </a:solidFill>
          <a:ln>
            <a:noFill/>
          </a:ln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4261928" y="4598116"/>
            <a:ext cx="3900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8">
                <a:solidFill>
                  <a:srgbClr val="E6007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sz="1637">
              <a:solidFill>
                <a:srgbClr val="E600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4690912" y="4637114"/>
            <a:ext cx="22620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8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Solution Scope Too Broad</a:t>
            </a:r>
            <a:endParaRPr b="1" sz="1228">
              <a:solidFill>
                <a:srgbClr val="4A574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4300926" y="5270841"/>
            <a:ext cx="36171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6005C"/>
                </a:solidFill>
                <a:highlight>
                  <a:srgbClr val="FCE7F3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Risk: </a:t>
            </a:r>
            <a:r>
              <a:rPr lang="en-US" sz="12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development complexity, slower MVP, onboarding friction, feature overload</a:t>
            </a:r>
            <a:endParaRPr sz="1200">
              <a:solidFill>
                <a:srgbClr val="C10007"/>
              </a:solidFill>
              <a:highlight>
                <a:srgbClr val="FFE2E2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4300926" y="5682276"/>
            <a:ext cx="3545110" cy="9739"/>
          </a:xfrm>
          <a:custGeom>
            <a:rect b="b" l="l" r="r" t="t"/>
            <a:pathLst>
              <a:path extrusionOk="0" h="9525" w="3467100">
                <a:moveTo>
                  <a:pt x="0" y="0"/>
                </a:moveTo>
                <a:lnTo>
                  <a:pt x="3467100" y="0"/>
                </a:lnTo>
                <a:lnTo>
                  <a:pt x="34671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CE7F3"/>
          </a:solidFill>
          <a:ln>
            <a:noFill/>
          </a:ln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4300926" y="5811947"/>
            <a:ext cx="36075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E6007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Risk: Solving too many problems before validating one</a:t>
            </a:r>
            <a:endParaRPr b="1" sz="1100">
              <a:solidFill>
                <a:srgbClr val="E7000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8224534" y="4481095"/>
            <a:ext cx="3798332" cy="1601986"/>
          </a:xfrm>
          <a:custGeom>
            <a:rect b="b" l="l" r="r" t="t"/>
            <a:pathLst>
              <a:path extrusionOk="0" h="2143125" w="3714750">
                <a:moveTo>
                  <a:pt x="38100" y="0"/>
                </a:moveTo>
                <a:lnTo>
                  <a:pt x="3638540" y="0"/>
                </a:lnTo>
                <a:cubicBezTo>
                  <a:pt x="3680630" y="0"/>
                  <a:pt x="3714750" y="34120"/>
                  <a:pt x="3714750" y="76210"/>
                </a:cubicBezTo>
                <a:lnTo>
                  <a:pt x="3714750" y="2066915"/>
                </a:lnTo>
                <a:cubicBezTo>
                  <a:pt x="3714750" y="2109005"/>
                  <a:pt x="3680630" y="2143125"/>
                  <a:pt x="3638540" y="2143125"/>
                </a:cubicBezTo>
                <a:lnTo>
                  <a:pt x="38100" y="2143125"/>
                </a:lnTo>
                <a:cubicBezTo>
                  <a:pt x="17072" y="2143125"/>
                  <a:pt x="0" y="2126053"/>
                  <a:pt x="0" y="2105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8498" rotWithShape="0" algn="bl" dir="5400000" dist="38999">
              <a:srgbClr val="000000">
                <a:alpha val="10196"/>
              </a:srgbClr>
            </a:outerShdw>
          </a:effectLst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8224533" y="4481095"/>
            <a:ext cx="48768" cy="1601986"/>
          </a:xfrm>
          <a:custGeom>
            <a:rect b="b" l="l" r="r" t="t"/>
            <a:pathLst>
              <a:path extrusionOk="0" h="2143125" w="38100">
                <a:moveTo>
                  <a:pt x="38100" y="0"/>
                </a:moveTo>
                <a:lnTo>
                  <a:pt x="38100" y="0"/>
                </a:lnTo>
                <a:lnTo>
                  <a:pt x="38100" y="2143125"/>
                </a:lnTo>
                <a:lnTo>
                  <a:pt x="38100" y="2143125"/>
                </a:lnTo>
                <a:cubicBezTo>
                  <a:pt x="17072" y="2143125"/>
                  <a:pt x="0" y="2126053"/>
                  <a:pt x="0" y="2105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5"/>
          </a:solidFill>
          <a:ln>
            <a:noFill/>
          </a:ln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8361029" y="5154183"/>
            <a:ext cx="36171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4153"/>
                </a:solidFill>
                <a:highlight>
                  <a:srgbClr val="F3F4F6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Concern: </a:t>
            </a:r>
            <a:r>
              <a:rPr lang="en-US" sz="12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proof of measurable behavior change; self-reported food waste insufficient for enterprise buyers</a:t>
            </a:r>
            <a:endParaRPr sz="1200">
              <a:solidFill>
                <a:srgbClr val="C10007"/>
              </a:solidFill>
              <a:highlight>
                <a:srgbClr val="FFE2E2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8361029" y="5682250"/>
            <a:ext cx="3545110" cy="9739"/>
          </a:xfrm>
          <a:custGeom>
            <a:rect b="b" l="l" r="r" t="t"/>
            <a:pathLst>
              <a:path extrusionOk="0" h="9525" w="3467100">
                <a:moveTo>
                  <a:pt x="0" y="0"/>
                </a:moveTo>
                <a:lnTo>
                  <a:pt x="3467100" y="0"/>
                </a:lnTo>
                <a:lnTo>
                  <a:pt x="34671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8361029" y="5772937"/>
            <a:ext cx="37224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64153"/>
                </a:solidFill>
                <a:highlight>
                  <a:srgbClr val="F3F4F6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Limitation: </a:t>
            </a: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data monetization strategy beyond affiliate links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1100">
              <a:solidFill>
                <a:srgbClr val="E7000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287320" y="3292463"/>
            <a:ext cx="36171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A3500"/>
                </a:solidFill>
                <a:highlight>
                  <a:srgbClr val="FFEDD4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Gap: </a:t>
            </a:r>
            <a:r>
              <a:rPr lang="en-US" sz="12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Free alternatives exist (Pinterest, ChatGPT, free planners); subscription fatigue concern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313319" y="3878134"/>
            <a:ext cx="36075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549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Risk: Low conversion, "helpful but not essential" perception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640658" y="2729421"/>
            <a:ext cx="2525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8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Revenue vs Willingness-to-Pay Gap</a:t>
            </a:r>
            <a:endParaRPr sz="16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4309512" y="3907223"/>
            <a:ext cx="36075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D08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Risk: Measuring usage, not problem solution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8361029" y="4559910"/>
            <a:ext cx="3900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8">
                <a:solidFill>
                  <a:srgbClr val="4A556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sz="16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8790014" y="4598909"/>
            <a:ext cx="1589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8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Enterprise Skepticism</a:t>
            </a:r>
            <a:endParaRPr sz="16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4325761" y="3265345"/>
            <a:ext cx="36171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65F00"/>
                </a:solidFill>
                <a:highlight>
                  <a:srgbClr val="FEF9C2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Gap: </a:t>
            </a:r>
            <a:r>
              <a:rPr lang="en-US" sz="12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Food waste self-reported &amp; unvalidated; no proof cognitive overload actually reduced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8375654" y="4559910"/>
            <a:ext cx="311658" cy="311658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 anchorCtr="0" anchor="t" bIns="46775" lIns="93575" spcFirstLastPara="1" rIns="93575" wrap="square" tIns="4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 txBox="1"/>
          <p:nvPr/>
        </p:nvSpPr>
        <p:spPr>
          <a:xfrm>
            <a:off x="8336655" y="4526900"/>
            <a:ext cx="3900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3575" lIns="93575" spcFirstLastPara="1" rIns="93575" wrap="square" tIns="9357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8">
                <a:solidFill>
                  <a:srgbClr val="4A556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sz="16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0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4"/>
          <p:cNvSpPr/>
          <p:nvPr/>
        </p:nvSpPr>
        <p:spPr>
          <a:xfrm>
            <a:off x="472275" y="812865"/>
            <a:ext cx="56997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C78D4E"/>
                </a:solidFill>
                <a:latin typeface="Liter"/>
                <a:ea typeface="Liter"/>
                <a:cs typeface="Liter"/>
                <a:sym typeface="Liter"/>
              </a:rPr>
              <a:t>DELIVERABLE 2.2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472275" y="1350100"/>
            <a:ext cx="51000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4A5741"/>
                </a:solidFill>
                <a:latin typeface="Oranienbaum"/>
                <a:ea typeface="Oranienbaum"/>
                <a:cs typeface="Oranienbaum"/>
                <a:sym typeface="Oranienbaum"/>
              </a:rPr>
              <a:t>Where the Idea Could Fail: Failure Mode Analysis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311525" y="2334338"/>
            <a:ext cx="5730875" cy="1402557"/>
          </a:xfrm>
          <a:custGeom>
            <a:rect b="b" l="l" r="r" t="t"/>
            <a:pathLst>
              <a:path extrusionOk="0" h="2262188" w="5730875">
                <a:moveTo>
                  <a:pt x="31750" y="0"/>
                </a:moveTo>
                <a:lnTo>
                  <a:pt x="5699125" y="0"/>
                </a:lnTo>
                <a:cubicBezTo>
                  <a:pt x="5716660" y="0"/>
                  <a:pt x="5730875" y="14215"/>
                  <a:pt x="5730875" y="31750"/>
                </a:cubicBezTo>
                <a:lnTo>
                  <a:pt x="5730875" y="2198688"/>
                </a:lnTo>
                <a:cubicBezTo>
                  <a:pt x="5730875" y="2233758"/>
                  <a:pt x="5702445" y="2262188"/>
                  <a:pt x="5667375" y="2262188"/>
                </a:cubicBezTo>
                <a:lnTo>
                  <a:pt x="63500" y="2262188"/>
                </a:lnTo>
                <a:cubicBezTo>
                  <a:pt x="28430" y="2262188"/>
                  <a:pt x="0" y="2233758"/>
                  <a:pt x="0" y="2198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7625" rotWithShape="0" algn="bl" dir="5400000" dist="3175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311525" y="2334332"/>
            <a:ext cx="5730875" cy="31750"/>
          </a:xfrm>
          <a:custGeom>
            <a:rect b="b" l="l" r="r" t="t"/>
            <a:pathLst>
              <a:path extrusionOk="0" h="31750" w="5730875">
                <a:moveTo>
                  <a:pt x="31750" y="0"/>
                </a:moveTo>
                <a:lnTo>
                  <a:pt x="5699125" y="0"/>
                </a:lnTo>
                <a:cubicBezTo>
                  <a:pt x="5716648" y="0"/>
                  <a:pt x="5730875" y="14227"/>
                  <a:pt x="5730875" y="31750"/>
                </a:cubicBezTo>
                <a:lnTo>
                  <a:pt x="573087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B2C3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438525" y="2498854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E2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549650" y="2609979"/>
            <a:ext cx="158750" cy="158750"/>
          </a:xfrm>
          <a:custGeom>
            <a:rect b="b" l="l" r="r" t="t"/>
            <a:pathLst>
              <a:path extrusionOk="0" h="158750" w="158750">
                <a:moveTo>
                  <a:pt x="41269" y="9922"/>
                </a:moveTo>
                <a:cubicBezTo>
                  <a:pt x="46633" y="9922"/>
                  <a:pt x="51873" y="10976"/>
                  <a:pt x="56741" y="12929"/>
                </a:cubicBezTo>
                <a:lnTo>
                  <a:pt x="73732" y="39346"/>
                </a:lnTo>
                <a:lnTo>
                  <a:pt x="50354" y="62725"/>
                </a:lnTo>
                <a:cubicBezTo>
                  <a:pt x="49888" y="63190"/>
                  <a:pt x="49609" y="63841"/>
                  <a:pt x="49640" y="64523"/>
                </a:cubicBezTo>
                <a:cubicBezTo>
                  <a:pt x="49671" y="65205"/>
                  <a:pt x="49950" y="65825"/>
                  <a:pt x="50447" y="66291"/>
                </a:cubicBezTo>
                <a:lnTo>
                  <a:pt x="85173" y="98537"/>
                </a:lnTo>
                <a:cubicBezTo>
                  <a:pt x="86072" y="99374"/>
                  <a:pt x="87468" y="99436"/>
                  <a:pt x="88429" y="98630"/>
                </a:cubicBezTo>
                <a:cubicBezTo>
                  <a:pt x="89390" y="97823"/>
                  <a:pt x="89607" y="96459"/>
                  <a:pt x="88956" y="95405"/>
                </a:cubicBezTo>
                <a:lnTo>
                  <a:pt x="70228" y="64988"/>
                </a:lnTo>
                <a:lnTo>
                  <a:pt x="98351" y="41548"/>
                </a:lnTo>
                <a:cubicBezTo>
                  <a:pt x="99157" y="40897"/>
                  <a:pt x="99436" y="39781"/>
                  <a:pt x="99095" y="38819"/>
                </a:cubicBezTo>
                <a:lnTo>
                  <a:pt x="91901" y="18790"/>
                </a:lnTo>
                <a:cubicBezTo>
                  <a:pt x="99095" y="13115"/>
                  <a:pt x="108086" y="9922"/>
                  <a:pt x="117481" y="9922"/>
                </a:cubicBezTo>
                <a:cubicBezTo>
                  <a:pt x="140271" y="9922"/>
                  <a:pt x="158750" y="28401"/>
                  <a:pt x="158750" y="51191"/>
                </a:cubicBezTo>
                <a:lnTo>
                  <a:pt x="158750" y="51997"/>
                </a:lnTo>
                <a:cubicBezTo>
                  <a:pt x="158750" y="86785"/>
                  <a:pt x="115373" y="127186"/>
                  <a:pt x="92739" y="144456"/>
                </a:cubicBezTo>
                <a:cubicBezTo>
                  <a:pt x="88894" y="147371"/>
                  <a:pt x="84181" y="148828"/>
                  <a:pt x="79375" y="148828"/>
                </a:cubicBezTo>
                <a:cubicBezTo>
                  <a:pt x="74569" y="148828"/>
                  <a:pt x="69825" y="147402"/>
                  <a:pt x="66011" y="144456"/>
                </a:cubicBezTo>
                <a:cubicBezTo>
                  <a:pt x="43377" y="127186"/>
                  <a:pt x="0" y="86785"/>
                  <a:pt x="0" y="51997"/>
                </a:cubicBezTo>
                <a:lnTo>
                  <a:pt x="0" y="51191"/>
                </a:lnTo>
                <a:cubicBezTo>
                  <a:pt x="0" y="28401"/>
                  <a:pt x="18479" y="9922"/>
                  <a:pt x="41269" y="9922"/>
                </a:cubicBezTo>
                <a:close/>
              </a:path>
            </a:pathLst>
          </a:custGeom>
          <a:solidFill>
            <a:srgbClr val="E700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914775" y="2498854"/>
            <a:ext cx="17940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25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Scenario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914775" y="2721104"/>
            <a:ext cx="17781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839350" y="2787279"/>
            <a:ext cx="55404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Users find the problem annoying but not worth paying for.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415038" y="3266210"/>
            <a:ext cx="5476875" cy="7938"/>
          </a:xfrm>
          <a:custGeom>
            <a:rect b="b" l="l" r="r" t="t"/>
            <a:pathLst>
              <a:path extrusionOk="0" h="7938" w="5476875">
                <a:moveTo>
                  <a:pt x="0" y="0"/>
                </a:moveTo>
                <a:lnTo>
                  <a:pt x="5476875" y="0"/>
                </a:lnTo>
                <a:lnTo>
                  <a:pt x="5476875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FE2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6143625" y="1190625"/>
            <a:ext cx="5730875" cy="1493044"/>
          </a:xfrm>
          <a:custGeom>
            <a:rect b="b" l="l" r="r" t="t"/>
            <a:pathLst>
              <a:path extrusionOk="0" h="2262188" w="5730875">
                <a:moveTo>
                  <a:pt x="31750" y="0"/>
                </a:moveTo>
                <a:lnTo>
                  <a:pt x="5699125" y="0"/>
                </a:lnTo>
                <a:cubicBezTo>
                  <a:pt x="5716660" y="0"/>
                  <a:pt x="5730875" y="14215"/>
                  <a:pt x="5730875" y="31750"/>
                </a:cubicBezTo>
                <a:lnTo>
                  <a:pt x="5730875" y="2198688"/>
                </a:lnTo>
                <a:cubicBezTo>
                  <a:pt x="5730875" y="2233758"/>
                  <a:pt x="5702445" y="2262188"/>
                  <a:pt x="5667375" y="2262188"/>
                </a:cubicBezTo>
                <a:lnTo>
                  <a:pt x="63500" y="2262188"/>
                </a:lnTo>
                <a:cubicBezTo>
                  <a:pt x="28430" y="2262188"/>
                  <a:pt x="0" y="2233758"/>
                  <a:pt x="0" y="2198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7625" rotWithShape="0" algn="bl" dir="5400000" dist="3175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6143625" y="1190625"/>
            <a:ext cx="5730875" cy="31750"/>
          </a:xfrm>
          <a:custGeom>
            <a:rect b="b" l="l" r="r" t="t"/>
            <a:pathLst>
              <a:path extrusionOk="0" h="31750" w="5730875">
                <a:moveTo>
                  <a:pt x="31750" y="0"/>
                </a:moveTo>
                <a:lnTo>
                  <a:pt x="5699125" y="0"/>
                </a:lnTo>
                <a:cubicBezTo>
                  <a:pt x="5716648" y="0"/>
                  <a:pt x="5730875" y="14227"/>
                  <a:pt x="5730875" y="31750"/>
                </a:cubicBezTo>
                <a:lnTo>
                  <a:pt x="573087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6270625" y="133350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ED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6411516" y="1444625"/>
            <a:ext cx="99219" cy="158750"/>
          </a:xfrm>
          <a:custGeom>
            <a:rect b="b" l="l" r="r" t="t"/>
            <a:pathLst>
              <a:path extrusionOk="0" h="158750" w="99219">
                <a:moveTo>
                  <a:pt x="42168" y="7441"/>
                </a:moveTo>
                <a:cubicBezTo>
                  <a:pt x="42168" y="3318"/>
                  <a:pt x="45486" y="0"/>
                  <a:pt x="49609" y="0"/>
                </a:cubicBezTo>
                <a:cubicBezTo>
                  <a:pt x="53733" y="0"/>
                  <a:pt x="57051" y="3318"/>
                  <a:pt x="57051" y="7441"/>
                </a:cubicBezTo>
                <a:lnTo>
                  <a:pt x="57051" y="19844"/>
                </a:lnTo>
                <a:lnTo>
                  <a:pt x="74414" y="19844"/>
                </a:lnTo>
                <a:cubicBezTo>
                  <a:pt x="79902" y="19844"/>
                  <a:pt x="84336" y="24278"/>
                  <a:pt x="84336" y="29766"/>
                </a:cubicBezTo>
                <a:cubicBezTo>
                  <a:pt x="84336" y="35254"/>
                  <a:pt x="79902" y="39688"/>
                  <a:pt x="74414" y="39688"/>
                </a:cubicBezTo>
                <a:lnTo>
                  <a:pt x="38788" y="39688"/>
                </a:lnTo>
                <a:cubicBezTo>
                  <a:pt x="31068" y="39688"/>
                  <a:pt x="24805" y="45951"/>
                  <a:pt x="24805" y="53671"/>
                </a:cubicBezTo>
                <a:cubicBezTo>
                  <a:pt x="24805" y="60647"/>
                  <a:pt x="29921" y="66539"/>
                  <a:pt x="36804" y="67531"/>
                </a:cubicBezTo>
                <a:lnTo>
                  <a:pt x="65205" y="71593"/>
                </a:lnTo>
                <a:cubicBezTo>
                  <a:pt x="81886" y="73980"/>
                  <a:pt x="94258" y="88243"/>
                  <a:pt x="94258" y="105079"/>
                </a:cubicBezTo>
                <a:cubicBezTo>
                  <a:pt x="94258" y="123775"/>
                  <a:pt x="79096" y="138906"/>
                  <a:pt x="60430" y="138906"/>
                </a:cubicBezTo>
                <a:lnTo>
                  <a:pt x="57051" y="138906"/>
                </a:lnTo>
                <a:lnTo>
                  <a:pt x="57051" y="151309"/>
                </a:lnTo>
                <a:cubicBezTo>
                  <a:pt x="57051" y="155432"/>
                  <a:pt x="53733" y="158750"/>
                  <a:pt x="49609" y="158750"/>
                </a:cubicBezTo>
                <a:cubicBezTo>
                  <a:pt x="45486" y="158750"/>
                  <a:pt x="42168" y="155432"/>
                  <a:pt x="42168" y="151309"/>
                </a:cubicBezTo>
                <a:lnTo>
                  <a:pt x="42168" y="138906"/>
                </a:lnTo>
                <a:lnTo>
                  <a:pt x="19844" y="138906"/>
                </a:lnTo>
                <a:cubicBezTo>
                  <a:pt x="14356" y="138906"/>
                  <a:pt x="9922" y="134472"/>
                  <a:pt x="9922" y="128984"/>
                </a:cubicBezTo>
                <a:cubicBezTo>
                  <a:pt x="9922" y="123496"/>
                  <a:pt x="14356" y="119062"/>
                  <a:pt x="19844" y="119062"/>
                </a:cubicBezTo>
                <a:lnTo>
                  <a:pt x="60430" y="119062"/>
                </a:lnTo>
                <a:cubicBezTo>
                  <a:pt x="68151" y="119062"/>
                  <a:pt x="74414" y="112799"/>
                  <a:pt x="74414" y="105079"/>
                </a:cubicBezTo>
                <a:cubicBezTo>
                  <a:pt x="74414" y="98103"/>
                  <a:pt x="69298" y="92211"/>
                  <a:pt x="62415" y="91219"/>
                </a:cubicBezTo>
                <a:lnTo>
                  <a:pt x="34013" y="87157"/>
                </a:lnTo>
                <a:cubicBezTo>
                  <a:pt x="17332" y="84801"/>
                  <a:pt x="4961" y="70507"/>
                  <a:pt x="4961" y="53671"/>
                </a:cubicBezTo>
                <a:cubicBezTo>
                  <a:pt x="4961" y="35006"/>
                  <a:pt x="20123" y="19844"/>
                  <a:pt x="38788" y="19844"/>
                </a:cubicBezTo>
                <a:lnTo>
                  <a:pt x="42168" y="19844"/>
                </a:lnTo>
                <a:lnTo>
                  <a:pt x="42168" y="7441"/>
                </a:lnTo>
                <a:close/>
              </a:path>
            </a:pathLst>
          </a:custGeom>
          <a:solidFill>
            <a:srgbClr val="F549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6760800" y="1822450"/>
            <a:ext cx="55404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Price-sensitive users choose free or manual alternatives.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6274600" y="2224103"/>
            <a:ext cx="5476875" cy="7938"/>
          </a:xfrm>
          <a:custGeom>
            <a:rect b="b" l="l" r="r" t="t"/>
            <a:pathLst>
              <a:path extrusionOk="0" h="7938" w="5476875">
                <a:moveTo>
                  <a:pt x="0" y="0"/>
                </a:moveTo>
                <a:lnTo>
                  <a:pt x="5476875" y="0"/>
                </a:lnTo>
                <a:lnTo>
                  <a:pt x="5476875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FED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6760794" y="2145722"/>
            <a:ext cx="5369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A35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Flexible Pricing: Offer tiered plans and value-based discounts.</a:t>
            </a:r>
            <a:endParaRPr b="1">
              <a:solidFill>
                <a:srgbClr val="CA35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311525" y="4026776"/>
            <a:ext cx="5730875" cy="1490464"/>
          </a:xfrm>
          <a:custGeom>
            <a:rect b="b" l="l" r="r" t="t"/>
            <a:pathLst>
              <a:path extrusionOk="0" h="2055813" w="5730875">
                <a:moveTo>
                  <a:pt x="31750" y="0"/>
                </a:moveTo>
                <a:lnTo>
                  <a:pt x="5699125" y="0"/>
                </a:lnTo>
                <a:cubicBezTo>
                  <a:pt x="5716648" y="0"/>
                  <a:pt x="5730875" y="14227"/>
                  <a:pt x="5730875" y="31750"/>
                </a:cubicBezTo>
                <a:lnTo>
                  <a:pt x="5730875" y="1992308"/>
                </a:lnTo>
                <a:cubicBezTo>
                  <a:pt x="5730875" y="2027381"/>
                  <a:pt x="5702443" y="2055813"/>
                  <a:pt x="5667371" y="2055812"/>
                </a:cubicBezTo>
                <a:lnTo>
                  <a:pt x="63504" y="2055813"/>
                </a:lnTo>
                <a:cubicBezTo>
                  <a:pt x="28432" y="2055812"/>
                  <a:pt x="0" y="2027381"/>
                  <a:pt x="0" y="199230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7625" rotWithShape="0" algn="bl" dir="5400000" dist="3175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311525" y="4026767"/>
            <a:ext cx="5730875" cy="31750"/>
          </a:xfrm>
          <a:custGeom>
            <a:rect b="b" l="l" r="r" t="t"/>
            <a:pathLst>
              <a:path extrusionOk="0" h="31750" w="5730875">
                <a:moveTo>
                  <a:pt x="31750" y="0"/>
                </a:moveTo>
                <a:lnTo>
                  <a:pt x="5699125" y="0"/>
                </a:lnTo>
                <a:cubicBezTo>
                  <a:pt x="5716648" y="0"/>
                  <a:pt x="5730875" y="14227"/>
                  <a:pt x="5730875" y="31750"/>
                </a:cubicBezTo>
                <a:lnTo>
                  <a:pt x="573087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0B1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438525" y="4169642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EF9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559572" y="4280767"/>
            <a:ext cx="138906" cy="158750"/>
          </a:xfrm>
          <a:custGeom>
            <a:rect b="b" l="l" r="r" t="t"/>
            <a:pathLst>
              <a:path extrusionOk="0" h="158750" w="138906"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49609"/>
                </a:lnTo>
                <a:cubicBezTo>
                  <a:pt x="0" y="60554"/>
                  <a:pt x="8899" y="69453"/>
                  <a:pt x="19844" y="69453"/>
                </a:cubicBezTo>
                <a:lnTo>
                  <a:pt x="119062" y="69453"/>
                </a:lnTo>
                <a:cubicBezTo>
                  <a:pt x="130008" y="69453"/>
                  <a:pt x="138906" y="60554"/>
                  <a:pt x="138906" y="49609"/>
                </a:cubicBezTo>
                <a:lnTo>
                  <a:pt x="138906" y="29766"/>
                </a:lnTo>
                <a:cubicBezTo>
                  <a:pt x="138906" y="18821"/>
                  <a:pt x="130008" y="9922"/>
                  <a:pt x="119062" y="9922"/>
                </a:cubicBezTo>
                <a:lnTo>
                  <a:pt x="19844" y="9922"/>
                </a:lnTo>
                <a:close/>
                <a:moveTo>
                  <a:pt x="86816" y="32246"/>
                </a:moveTo>
                <a:cubicBezTo>
                  <a:pt x="90923" y="32246"/>
                  <a:pt x="94258" y="35580"/>
                  <a:pt x="94258" y="39688"/>
                </a:cubicBezTo>
                <a:cubicBezTo>
                  <a:pt x="94258" y="43795"/>
                  <a:pt x="90923" y="47129"/>
                  <a:pt x="86816" y="47129"/>
                </a:cubicBezTo>
                <a:cubicBezTo>
                  <a:pt x="82709" y="47129"/>
                  <a:pt x="79375" y="43795"/>
                  <a:pt x="79375" y="39688"/>
                </a:cubicBezTo>
                <a:cubicBezTo>
                  <a:pt x="79375" y="35580"/>
                  <a:pt x="82709" y="32246"/>
                  <a:pt x="86816" y="32246"/>
                </a:cubicBezTo>
                <a:close/>
                <a:moveTo>
                  <a:pt x="104180" y="39688"/>
                </a:moveTo>
                <a:cubicBezTo>
                  <a:pt x="104180" y="35580"/>
                  <a:pt x="107514" y="32246"/>
                  <a:pt x="111621" y="32246"/>
                </a:cubicBezTo>
                <a:cubicBezTo>
                  <a:pt x="115728" y="32246"/>
                  <a:pt x="119062" y="35580"/>
                  <a:pt x="119062" y="39688"/>
                </a:cubicBezTo>
                <a:cubicBezTo>
                  <a:pt x="119062" y="43795"/>
                  <a:pt x="115728" y="47129"/>
                  <a:pt x="111621" y="47129"/>
                </a:cubicBezTo>
                <a:cubicBezTo>
                  <a:pt x="107514" y="47129"/>
                  <a:pt x="104180" y="43795"/>
                  <a:pt x="104180" y="39688"/>
                </a:cubicBezTo>
                <a:close/>
                <a:moveTo>
                  <a:pt x="19844" y="89297"/>
                </a:moveTo>
                <a:cubicBezTo>
                  <a:pt x="8899" y="89297"/>
                  <a:pt x="0" y="98196"/>
                  <a:pt x="0" y="109141"/>
                </a:cubicBezTo>
                <a:lnTo>
                  <a:pt x="0" y="128984"/>
                </a:lnTo>
                <a:cubicBezTo>
                  <a:pt x="0" y="139929"/>
                  <a:pt x="8899" y="148828"/>
                  <a:pt x="19844" y="148828"/>
                </a:cubicBezTo>
                <a:lnTo>
                  <a:pt x="119062" y="148828"/>
                </a:lnTo>
                <a:cubicBezTo>
                  <a:pt x="130008" y="148828"/>
                  <a:pt x="138906" y="139929"/>
                  <a:pt x="138906" y="128984"/>
                </a:cubicBezTo>
                <a:lnTo>
                  <a:pt x="138906" y="109141"/>
                </a:lnTo>
                <a:cubicBezTo>
                  <a:pt x="138906" y="98196"/>
                  <a:pt x="130008" y="89297"/>
                  <a:pt x="119062" y="89297"/>
                </a:cubicBezTo>
                <a:lnTo>
                  <a:pt x="19844" y="89297"/>
                </a:lnTo>
                <a:close/>
                <a:moveTo>
                  <a:pt x="86816" y="111621"/>
                </a:moveTo>
                <a:cubicBezTo>
                  <a:pt x="90923" y="111621"/>
                  <a:pt x="94258" y="114955"/>
                  <a:pt x="94258" y="119062"/>
                </a:cubicBezTo>
                <a:cubicBezTo>
                  <a:pt x="94258" y="123170"/>
                  <a:pt x="90923" y="126504"/>
                  <a:pt x="86816" y="126504"/>
                </a:cubicBezTo>
                <a:cubicBezTo>
                  <a:pt x="82709" y="126504"/>
                  <a:pt x="79375" y="123170"/>
                  <a:pt x="79375" y="119062"/>
                </a:cubicBezTo>
                <a:cubicBezTo>
                  <a:pt x="79375" y="114955"/>
                  <a:pt x="82709" y="111621"/>
                  <a:pt x="86816" y="111621"/>
                </a:cubicBezTo>
                <a:close/>
                <a:moveTo>
                  <a:pt x="104180" y="119062"/>
                </a:moveTo>
                <a:cubicBezTo>
                  <a:pt x="104180" y="114955"/>
                  <a:pt x="107514" y="111621"/>
                  <a:pt x="111621" y="111621"/>
                </a:cubicBezTo>
                <a:cubicBezTo>
                  <a:pt x="115728" y="111621"/>
                  <a:pt x="119062" y="114955"/>
                  <a:pt x="119062" y="119062"/>
                </a:cubicBezTo>
                <a:cubicBezTo>
                  <a:pt x="119062" y="123170"/>
                  <a:pt x="115728" y="126504"/>
                  <a:pt x="111621" y="126504"/>
                </a:cubicBezTo>
                <a:cubicBezTo>
                  <a:pt x="107514" y="126504"/>
                  <a:pt x="104180" y="123170"/>
                  <a:pt x="104180" y="119062"/>
                </a:cubicBezTo>
                <a:close/>
              </a:path>
            </a:pathLst>
          </a:custGeom>
          <a:solidFill>
            <a:srgbClr val="D087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887000" y="4588840"/>
            <a:ext cx="55404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API costs for personalization outpace per-user revenue.</a:t>
            </a:r>
            <a:endParaRPr b="1">
              <a:solidFill>
                <a:srgbClr val="3D3A3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414725" y="5121577"/>
            <a:ext cx="5476875" cy="7938"/>
          </a:xfrm>
          <a:custGeom>
            <a:rect b="b" l="l" r="r" t="t"/>
            <a:pathLst>
              <a:path extrusionOk="0" h="7938" w="5476875">
                <a:moveTo>
                  <a:pt x="0" y="0"/>
                </a:moveTo>
                <a:lnTo>
                  <a:pt x="5476875" y="0"/>
                </a:lnTo>
                <a:lnTo>
                  <a:pt x="5476875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EF9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896919" y="4879054"/>
            <a:ext cx="5369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A65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Efficiency First: Use caching and limit AI features by tier.</a:t>
            </a:r>
            <a:endParaRPr b="1">
              <a:solidFill>
                <a:srgbClr val="A65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6143625" y="3029687"/>
            <a:ext cx="5730875" cy="1361976"/>
          </a:xfrm>
          <a:custGeom>
            <a:rect b="b" l="l" r="r" t="t"/>
            <a:pathLst>
              <a:path extrusionOk="0" h="2055813" w="5730875">
                <a:moveTo>
                  <a:pt x="31750" y="0"/>
                </a:moveTo>
                <a:lnTo>
                  <a:pt x="5699125" y="0"/>
                </a:lnTo>
                <a:cubicBezTo>
                  <a:pt x="5716648" y="0"/>
                  <a:pt x="5730875" y="14227"/>
                  <a:pt x="5730875" y="31750"/>
                </a:cubicBezTo>
                <a:lnTo>
                  <a:pt x="5730875" y="1992308"/>
                </a:lnTo>
                <a:cubicBezTo>
                  <a:pt x="5730875" y="2027381"/>
                  <a:pt x="5702443" y="2055813"/>
                  <a:pt x="5667371" y="2055812"/>
                </a:cubicBezTo>
                <a:lnTo>
                  <a:pt x="63504" y="2055813"/>
                </a:lnTo>
                <a:cubicBezTo>
                  <a:pt x="28432" y="2055812"/>
                  <a:pt x="0" y="2027381"/>
                  <a:pt x="0" y="199230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7625" rotWithShape="0" algn="bl" dir="5400000" dist="3175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6143613" y="3010078"/>
            <a:ext cx="5730875" cy="31750"/>
          </a:xfrm>
          <a:custGeom>
            <a:rect b="b" l="l" r="r" t="t"/>
            <a:pathLst>
              <a:path extrusionOk="0" h="31750" w="5730875">
                <a:moveTo>
                  <a:pt x="31750" y="0"/>
                </a:moveTo>
                <a:lnTo>
                  <a:pt x="5699125" y="0"/>
                </a:lnTo>
                <a:cubicBezTo>
                  <a:pt x="5716648" y="0"/>
                  <a:pt x="5730875" y="14227"/>
                  <a:pt x="5730875" y="31750"/>
                </a:cubicBezTo>
                <a:lnTo>
                  <a:pt x="573087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B7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6284513" y="3159751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6405560" y="3270876"/>
            <a:ext cx="138906" cy="158750"/>
          </a:xfrm>
          <a:custGeom>
            <a:rect b="b" l="l" r="r" t="t"/>
            <a:pathLst>
              <a:path extrusionOk="0" h="158750" w="138906">
                <a:moveTo>
                  <a:pt x="59531" y="0"/>
                </a:moveTo>
                <a:cubicBezTo>
                  <a:pt x="48586" y="0"/>
                  <a:pt x="39688" y="8899"/>
                  <a:pt x="39688" y="19844"/>
                </a:cubicBezTo>
                <a:lnTo>
                  <a:pt x="39688" y="99219"/>
                </a:lnTo>
                <a:cubicBezTo>
                  <a:pt x="39688" y="110164"/>
                  <a:pt x="48586" y="119062"/>
                  <a:pt x="59531" y="119062"/>
                </a:cubicBezTo>
                <a:lnTo>
                  <a:pt x="119062" y="119062"/>
                </a:lnTo>
                <a:cubicBezTo>
                  <a:pt x="130008" y="119062"/>
                  <a:pt x="138906" y="110164"/>
                  <a:pt x="138906" y="99219"/>
                </a:cubicBezTo>
                <a:lnTo>
                  <a:pt x="138906" y="37021"/>
                </a:lnTo>
                <a:cubicBezTo>
                  <a:pt x="138906" y="31626"/>
                  <a:pt x="136705" y="26448"/>
                  <a:pt x="132798" y="22696"/>
                </a:cubicBezTo>
                <a:lnTo>
                  <a:pt x="114908" y="5519"/>
                </a:lnTo>
                <a:cubicBezTo>
                  <a:pt x="111218" y="1984"/>
                  <a:pt x="106288" y="0"/>
                  <a:pt x="101172" y="0"/>
                </a:cubicBezTo>
                <a:lnTo>
                  <a:pt x="59531" y="0"/>
                </a:lnTo>
                <a:close/>
                <a:moveTo>
                  <a:pt x="19844" y="39688"/>
                </a:moveTo>
                <a:cubicBezTo>
                  <a:pt x="8899" y="39688"/>
                  <a:pt x="0" y="48586"/>
                  <a:pt x="0" y="59531"/>
                </a:cubicBezTo>
                <a:lnTo>
                  <a:pt x="0" y="138906"/>
                </a:lnTo>
                <a:cubicBezTo>
                  <a:pt x="0" y="149851"/>
                  <a:pt x="8899" y="158750"/>
                  <a:pt x="19844" y="158750"/>
                </a:cubicBezTo>
                <a:lnTo>
                  <a:pt x="79375" y="158750"/>
                </a:lnTo>
                <a:cubicBezTo>
                  <a:pt x="90320" y="158750"/>
                  <a:pt x="99219" y="149851"/>
                  <a:pt x="99219" y="138906"/>
                </a:cubicBezTo>
                <a:lnTo>
                  <a:pt x="99219" y="133945"/>
                </a:lnTo>
                <a:lnTo>
                  <a:pt x="79375" y="133945"/>
                </a:lnTo>
                <a:lnTo>
                  <a:pt x="79375" y="138906"/>
                </a:lnTo>
                <a:lnTo>
                  <a:pt x="19844" y="138906"/>
                </a:lnTo>
                <a:lnTo>
                  <a:pt x="19844" y="59531"/>
                </a:lnTo>
                <a:lnTo>
                  <a:pt x="24805" y="59531"/>
                </a:lnTo>
                <a:lnTo>
                  <a:pt x="24805" y="39688"/>
                </a:lnTo>
                <a:lnTo>
                  <a:pt x="19844" y="39688"/>
                </a:ln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6760788" y="3528400"/>
            <a:ext cx="55404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Big players (MyFitnessPal) copy features easily.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6270625" y="3958881"/>
            <a:ext cx="5476875" cy="7938"/>
          </a:xfrm>
          <a:custGeom>
            <a:rect b="b" l="l" r="r" t="t"/>
            <a:pathLst>
              <a:path extrusionOk="0" h="7938" w="5476875">
                <a:moveTo>
                  <a:pt x="0" y="0"/>
                </a:moveTo>
                <a:lnTo>
                  <a:pt x="5476875" y="0"/>
                </a:lnTo>
                <a:lnTo>
                  <a:pt x="5476875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DBEAF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6760800" y="3866745"/>
            <a:ext cx="53697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447E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Depersonalization</a:t>
            </a:r>
            <a:r>
              <a:rPr b="1" lang="en-US">
                <a:solidFill>
                  <a:srgbClr val="1447E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Build high switching costs through proprietary data.</a:t>
            </a:r>
            <a:endParaRPr b="1">
              <a:solidFill>
                <a:srgbClr val="1447E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6143625" y="4696262"/>
            <a:ext cx="5836285" cy="1516063"/>
          </a:xfrm>
          <a:custGeom>
            <a:rect b="b" l="l" r="r" t="t"/>
            <a:pathLst>
              <a:path extrusionOk="0" h="1516063" w="11557000">
                <a:moveTo>
                  <a:pt x="31750" y="0"/>
                </a:moveTo>
                <a:lnTo>
                  <a:pt x="11525250" y="0"/>
                </a:lnTo>
                <a:cubicBezTo>
                  <a:pt x="11542785" y="0"/>
                  <a:pt x="11557000" y="14215"/>
                  <a:pt x="11557000" y="31750"/>
                </a:cubicBezTo>
                <a:lnTo>
                  <a:pt x="11557000" y="1452570"/>
                </a:lnTo>
                <a:cubicBezTo>
                  <a:pt x="11557000" y="1487636"/>
                  <a:pt x="11528573" y="1516062"/>
                  <a:pt x="11493507" y="1516063"/>
                </a:cubicBezTo>
                <a:lnTo>
                  <a:pt x="63493" y="1516063"/>
                </a:lnTo>
                <a:cubicBezTo>
                  <a:pt x="28427" y="1516063"/>
                  <a:pt x="0" y="1487636"/>
                  <a:pt x="0" y="145257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7625" rotWithShape="0" algn="bl" dir="5400000" dist="3175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6176475" y="4707924"/>
            <a:ext cx="5720715" cy="31750"/>
          </a:xfrm>
          <a:custGeom>
            <a:rect b="b" l="l" r="r" t="t"/>
            <a:pathLst>
              <a:path extrusionOk="0" h="31750" w="11557000">
                <a:moveTo>
                  <a:pt x="31750" y="0"/>
                </a:moveTo>
                <a:lnTo>
                  <a:pt x="11525250" y="0"/>
                </a:lnTo>
                <a:cubicBezTo>
                  <a:pt x="11542773" y="0"/>
                  <a:pt x="11557000" y="14227"/>
                  <a:pt x="11557000" y="31750"/>
                </a:cubicBezTo>
                <a:lnTo>
                  <a:pt x="11557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D46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6270613" y="4924563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3E8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6381750" y="5044985"/>
            <a:ext cx="158750" cy="158750"/>
          </a:xfrm>
          <a:custGeom>
            <a:rect b="b" l="l" r="r" t="t"/>
            <a:pathLst>
              <a:path extrusionOk="0" h="158750" w="158750">
                <a:moveTo>
                  <a:pt x="69453" y="0"/>
                </a:moveTo>
                <a:cubicBezTo>
                  <a:pt x="80398" y="0"/>
                  <a:pt x="89297" y="6666"/>
                  <a:pt x="89297" y="14883"/>
                </a:cubicBezTo>
                <a:cubicBezTo>
                  <a:pt x="89297" y="18107"/>
                  <a:pt x="87933" y="21084"/>
                  <a:pt x="85576" y="23533"/>
                </a:cubicBezTo>
                <a:cubicBezTo>
                  <a:pt x="83530" y="25673"/>
                  <a:pt x="81855" y="28277"/>
                  <a:pt x="81855" y="31254"/>
                </a:cubicBezTo>
                <a:cubicBezTo>
                  <a:pt x="81855" y="35905"/>
                  <a:pt x="85638" y="39688"/>
                  <a:pt x="90289" y="39688"/>
                </a:cubicBezTo>
                <a:lnTo>
                  <a:pt x="104180" y="39688"/>
                </a:lnTo>
                <a:cubicBezTo>
                  <a:pt x="112396" y="39688"/>
                  <a:pt x="119062" y="46354"/>
                  <a:pt x="119062" y="54570"/>
                </a:cubicBezTo>
                <a:lnTo>
                  <a:pt x="119062" y="68461"/>
                </a:lnTo>
                <a:cubicBezTo>
                  <a:pt x="119062" y="73112"/>
                  <a:pt x="122845" y="76895"/>
                  <a:pt x="127496" y="76895"/>
                </a:cubicBezTo>
                <a:cubicBezTo>
                  <a:pt x="130442" y="76895"/>
                  <a:pt x="133077" y="75220"/>
                  <a:pt x="135217" y="73174"/>
                </a:cubicBezTo>
                <a:cubicBezTo>
                  <a:pt x="137666" y="70848"/>
                  <a:pt x="140643" y="69453"/>
                  <a:pt x="143867" y="69453"/>
                </a:cubicBezTo>
                <a:cubicBezTo>
                  <a:pt x="152084" y="69453"/>
                  <a:pt x="158750" y="78352"/>
                  <a:pt x="158750" y="89297"/>
                </a:cubicBezTo>
                <a:cubicBezTo>
                  <a:pt x="158750" y="100242"/>
                  <a:pt x="152084" y="109141"/>
                  <a:pt x="143867" y="109141"/>
                </a:cubicBezTo>
                <a:cubicBezTo>
                  <a:pt x="140643" y="109141"/>
                  <a:pt x="137635" y="107776"/>
                  <a:pt x="135217" y="105420"/>
                </a:cubicBezTo>
                <a:cubicBezTo>
                  <a:pt x="133077" y="103374"/>
                  <a:pt x="130473" y="101699"/>
                  <a:pt x="127496" y="101699"/>
                </a:cubicBezTo>
                <a:cubicBezTo>
                  <a:pt x="122845" y="101699"/>
                  <a:pt x="119062" y="105482"/>
                  <a:pt x="119062" y="110133"/>
                </a:cubicBezTo>
                <a:lnTo>
                  <a:pt x="119062" y="143867"/>
                </a:lnTo>
                <a:cubicBezTo>
                  <a:pt x="119062" y="152084"/>
                  <a:pt x="112396" y="158750"/>
                  <a:pt x="104180" y="158750"/>
                </a:cubicBezTo>
                <a:lnTo>
                  <a:pt x="86568" y="158750"/>
                </a:lnTo>
                <a:cubicBezTo>
                  <a:pt x="82600" y="158750"/>
                  <a:pt x="79375" y="155525"/>
                  <a:pt x="79375" y="151557"/>
                </a:cubicBezTo>
                <a:cubicBezTo>
                  <a:pt x="79375" y="148704"/>
                  <a:pt x="81173" y="146193"/>
                  <a:pt x="83468" y="144487"/>
                </a:cubicBezTo>
                <a:cubicBezTo>
                  <a:pt x="87064" y="141790"/>
                  <a:pt x="89297" y="138069"/>
                  <a:pt x="89297" y="133945"/>
                </a:cubicBezTo>
                <a:cubicBezTo>
                  <a:pt x="89297" y="125729"/>
                  <a:pt x="80398" y="119062"/>
                  <a:pt x="69453" y="119062"/>
                </a:cubicBezTo>
                <a:cubicBezTo>
                  <a:pt x="58508" y="119062"/>
                  <a:pt x="49609" y="125729"/>
                  <a:pt x="49609" y="133945"/>
                </a:cubicBezTo>
                <a:cubicBezTo>
                  <a:pt x="49609" y="138069"/>
                  <a:pt x="51842" y="141790"/>
                  <a:pt x="55438" y="144487"/>
                </a:cubicBezTo>
                <a:cubicBezTo>
                  <a:pt x="57733" y="146193"/>
                  <a:pt x="59531" y="148673"/>
                  <a:pt x="59531" y="151557"/>
                </a:cubicBezTo>
                <a:cubicBezTo>
                  <a:pt x="59531" y="155525"/>
                  <a:pt x="56307" y="158750"/>
                  <a:pt x="52338" y="158750"/>
                </a:cubicBezTo>
                <a:lnTo>
                  <a:pt x="14883" y="158750"/>
                </a:lnTo>
                <a:cubicBezTo>
                  <a:pt x="6666" y="158750"/>
                  <a:pt x="0" y="152084"/>
                  <a:pt x="0" y="143867"/>
                </a:cubicBezTo>
                <a:lnTo>
                  <a:pt x="0" y="106412"/>
                </a:lnTo>
                <a:cubicBezTo>
                  <a:pt x="0" y="102443"/>
                  <a:pt x="3225" y="99219"/>
                  <a:pt x="7193" y="99219"/>
                </a:cubicBezTo>
                <a:cubicBezTo>
                  <a:pt x="10046" y="99219"/>
                  <a:pt x="12557" y="101017"/>
                  <a:pt x="14263" y="103312"/>
                </a:cubicBezTo>
                <a:cubicBezTo>
                  <a:pt x="16960" y="106908"/>
                  <a:pt x="20681" y="109141"/>
                  <a:pt x="24805" y="109141"/>
                </a:cubicBezTo>
                <a:cubicBezTo>
                  <a:pt x="33021" y="109141"/>
                  <a:pt x="39688" y="100242"/>
                  <a:pt x="39688" y="89297"/>
                </a:cubicBezTo>
                <a:cubicBezTo>
                  <a:pt x="39688" y="78352"/>
                  <a:pt x="33021" y="69453"/>
                  <a:pt x="24805" y="69453"/>
                </a:cubicBezTo>
                <a:cubicBezTo>
                  <a:pt x="20681" y="69453"/>
                  <a:pt x="16960" y="71686"/>
                  <a:pt x="14263" y="75282"/>
                </a:cubicBezTo>
                <a:cubicBezTo>
                  <a:pt x="12557" y="77577"/>
                  <a:pt x="10077" y="79375"/>
                  <a:pt x="7193" y="79375"/>
                </a:cubicBezTo>
                <a:cubicBezTo>
                  <a:pt x="3225" y="79375"/>
                  <a:pt x="0" y="76150"/>
                  <a:pt x="0" y="72182"/>
                </a:cubicBezTo>
                <a:lnTo>
                  <a:pt x="0" y="54570"/>
                </a:lnTo>
                <a:cubicBezTo>
                  <a:pt x="0" y="46354"/>
                  <a:pt x="6666" y="39688"/>
                  <a:pt x="14883" y="39688"/>
                </a:cubicBezTo>
                <a:lnTo>
                  <a:pt x="48617" y="39688"/>
                </a:lnTo>
                <a:cubicBezTo>
                  <a:pt x="53268" y="39688"/>
                  <a:pt x="57051" y="35905"/>
                  <a:pt x="57051" y="31254"/>
                </a:cubicBezTo>
                <a:cubicBezTo>
                  <a:pt x="57051" y="28308"/>
                  <a:pt x="55376" y="25673"/>
                  <a:pt x="53330" y="23533"/>
                </a:cubicBezTo>
                <a:cubicBezTo>
                  <a:pt x="51005" y="21084"/>
                  <a:pt x="49609" y="18107"/>
                  <a:pt x="49609" y="14883"/>
                </a:cubicBezTo>
                <a:cubicBezTo>
                  <a:pt x="49609" y="6666"/>
                  <a:pt x="58508" y="0"/>
                  <a:pt x="69453" y="0"/>
                </a:cubicBezTo>
                <a:close/>
              </a:path>
            </a:pathLst>
          </a:custGeom>
          <a:solidFill>
            <a:srgbClr val="981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6761700" y="5242013"/>
            <a:ext cx="55386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Complex features launch before validating the core loop.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/>
          <p:nvPr/>
        </p:nvSpPr>
        <p:spPr>
          <a:xfrm flipH="1" rot="10800000">
            <a:off x="6242844" y="5807097"/>
            <a:ext cx="5538470" cy="31752"/>
          </a:xfrm>
          <a:custGeom>
            <a:rect b="b" l="l" r="r" t="t"/>
            <a:pathLst>
              <a:path extrusionOk="0" h="7938" w="11303000">
                <a:moveTo>
                  <a:pt x="0" y="0"/>
                </a:moveTo>
                <a:lnTo>
                  <a:pt x="11303000" y="0"/>
                </a:lnTo>
                <a:lnTo>
                  <a:pt x="11303000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3E8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6760804" y="5621275"/>
            <a:ext cx="4985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8200D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MVP Focus: Start with one core AI loop, then expand.</a:t>
            </a:r>
            <a:endParaRPr b="1">
              <a:solidFill>
                <a:srgbClr val="8200D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819513" y="3182921"/>
            <a:ext cx="53697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E700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Show ROI Fast: Prove time/money savings in the first use.</a:t>
            </a:r>
            <a:endParaRPr b="1">
              <a:solidFill>
                <a:srgbClr val="E7000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6760800" y="1404904"/>
            <a:ext cx="17940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25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Scenario 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887000" y="4248992"/>
            <a:ext cx="17940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25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Scenario 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6760800" y="3227754"/>
            <a:ext cx="17940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25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Scenario 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6760800" y="5031167"/>
            <a:ext cx="17940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25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Scenario 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0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5"/>
          <p:cNvSpPr/>
          <p:nvPr/>
        </p:nvSpPr>
        <p:spPr>
          <a:xfrm>
            <a:off x="180175" y="159475"/>
            <a:ext cx="118212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23">
                <a:solidFill>
                  <a:srgbClr val="C78D4E"/>
                </a:solidFill>
                <a:latin typeface="Liter"/>
                <a:ea typeface="Liter"/>
                <a:cs typeface="Liter"/>
                <a:sym typeface="Liter"/>
              </a:rPr>
              <a:t>DELIVERABLE 3.1</a:t>
            </a:r>
            <a:endParaRPr sz="19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180175" y="421870"/>
            <a:ext cx="11894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3">
                <a:solidFill>
                  <a:srgbClr val="4A5741"/>
                </a:solidFill>
                <a:latin typeface="Oranienbaum"/>
                <a:ea typeface="Oranienbaum"/>
                <a:cs typeface="Oranienbaum"/>
                <a:sym typeface="Oranienbaum"/>
              </a:rPr>
              <a:t>Market Viability: Opportunities &amp; Risks</a:t>
            </a:r>
            <a:endParaRPr sz="19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180175" y="859194"/>
            <a:ext cx="11830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7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Six-dimensional assessment of market adoption potential and monetization feasibility</a:t>
            </a:r>
            <a:endParaRPr sz="19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180175" y="1274650"/>
            <a:ext cx="3854238" cy="2390314"/>
          </a:xfrm>
          <a:custGeom>
            <a:rect b="b" l="l" r="r" t="t"/>
            <a:pathLst>
              <a:path extrusionOk="0" h="2203054" w="3760232">
                <a:moveTo>
                  <a:pt x="35390" y="0"/>
                </a:moveTo>
                <a:lnTo>
                  <a:pt x="3724842" y="0"/>
                </a:lnTo>
                <a:cubicBezTo>
                  <a:pt x="3744387" y="0"/>
                  <a:pt x="3760232" y="15845"/>
                  <a:pt x="3760232" y="35390"/>
                </a:cubicBezTo>
                <a:lnTo>
                  <a:pt x="3760232" y="2132270"/>
                </a:lnTo>
                <a:cubicBezTo>
                  <a:pt x="3760232" y="2171363"/>
                  <a:pt x="3728541" y="2203054"/>
                  <a:pt x="3689448" y="2203054"/>
                </a:cubicBezTo>
                <a:lnTo>
                  <a:pt x="70784" y="2203054"/>
                </a:lnTo>
                <a:cubicBezTo>
                  <a:pt x="31691" y="2203054"/>
                  <a:pt x="0" y="2171363"/>
                  <a:pt x="0" y="2132270"/>
                </a:cubicBezTo>
                <a:lnTo>
                  <a:pt x="0" y="35390"/>
                </a:lnTo>
                <a:cubicBezTo>
                  <a:pt x="0" y="15858"/>
                  <a:pt x="15858" y="0"/>
                  <a:pt x="353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5714" rotWithShape="0" algn="bl" dir="5400000" dist="37142">
              <a:srgbClr val="000000">
                <a:alpha val="10196"/>
              </a:srgbClr>
            </a:outerShdw>
          </a:effectLst>
        </p:spPr>
        <p:txBody>
          <a:bodyPr anchorCtr="0" anchor="t" bIns="47975" lIns="95950" spcFirstLastPara="1" rIns="95950" wrap="square" tIns="47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180175" y="1274652"/>
            <a:ext cx="3854238" cy="43795"/>
          </a:xfrm>
          <a:custGeom>
            <a:rect b="b" l="l" r="r" t="t"/>
            <a:pathLst>
              <a:path extrusionOk="0" h="35390" w="3760232">
                <a:moveTo>
                  <a:pt x="35390" y="0"/>
                </a:moveTo>
                <a:lnTo>
                  <a:pt x="3724842" y="0"/>
                </a:lnTo>
                <a:cubicBezTo>
                  <a:pt x="3744387" y="0"/>
                  <a:pt x="3760232" y="15845"/>
                  <a:pt x="3760232" y="35390"/>
                </a:cubicBezTo>
                <a:lnTo>
                  <a:pt x="3760232" y="35390"/>
                </a:lnTo>
                <a:lnTo>
                  <a:pt x="0" y="35390"/>
                </a:lnTo>
                <a:lnTo>
                  <a:pt x="0" y="35390"/>
                </a:lnTo>
                <a:cubicBezTo>
                  <a:pt x="0" y="15858"/>
                  <a:pt x="15858" y="0"/>
                  <a:pt x="35390" y="0"/>
                </a:cubicBezTo>
                <a:close/>
              </a:path>
            </a:pathLst>
          </a:custGeom>
          <a:solidFill>
            <a:srgbClr val="4A5741"/>
          </a:solidFill>
          <a:ln>
            <a:noFill/>
          </a:ln>
        </p:spPr>
        <p:txBody>
          <a:bodyPr anchorCtr="0" anchor="t" bIns="47975" lIns="95950" spcFirstLastPara="1" rIns="95950" wrap="square" tIns="47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291144" y="1460514"/>
            <a:ext cx="204048" cy="197081"/>
          </a:xfrm>
          <a:custGeom>
            <a:rect b="b" l="l" r="r" t="t"/>
            <a:pathLst>
              <a:path extrusionOk="0" h="159257" w="199071">
                <a:moveTo>
                  <a:pt x="99536" y="4977"/>
                </a:moveTo>
                <a:cubicBezTo>
                  <a:pt x="117389" y="4977"/>
                  <a:pt x="131885" y="19472"/>
                  <a:pt x="131885" y="37326"/>
                </a:cubicBezTo>
                <a:cubicBezTo>
                  <a:pt x="131885" y="55180"/>
                  <a:pt x="117389" y="69675"/>
                  <a:pt x="99536" y="69675"/>
                </a:cubicBezTo>
                <a:cubicBezTo>
                  <a:pt x="81682" y="69675"/>
                  <a:pt x="67187" y="55180"/>
                  <a:pt x="67187" y="37326"/>
                </a:cubicBezTo>
                <a:cubicBezTo>
                  <a:pt x="67187" y="19472"/>
                  <a:pt x="81682" y="4977"/>
                  <a:pt x="99536" y="4977"/>
                </a:cubicBezTo>
                <a:close/>
                <a:moveTo>
                  <a:pt x="29861" y="27372"/>
                </a:moveTo>
                <a:cubicBezTo>
                  <a:pt x="42221" y="27372"/>
                  <a:pt x="52256" y="37407"/>
                  <a:pt x="52256" y="49768"/>
                </a:cubicBezTo>
                <a:cubicBezTo>
                  <a:pt x="52256" y="62128"/>
                  <a:pt x="42221" y="72163"/>
                  <a:pt x="29861" y="72163"/>
                </a:cubicBezTo>
                <a:cubicBezTo>
                  <a:pt x="17500" y="72163"/>
                  <a:pt x="7465" y="62128"/>
                  <a:pt x="7465" y="49768"/>
                </a:cubicBezTo>
                <a:cubicBezTo>
                  <a:pt x="7465" y="37407"/>
                  <a:pt x="17500" y="27372"/>
                  <a:pt x="29861" y="27372"/>
                </a:cubicBezTo>
                <a:close/>
                <a:moveTo>
                  <a:pt x="0" y="129396"/>
                </a:moveTo>
                <a:cubicBezTo>
                  <a:pt x="0" y="107405"/>
                  <a:pt x="17823" y="89582"/>
                  <a:pt x="39814" y="89582"/>
                </a:cubicBezTo>
                <a:cubicBezTo>
                  <a:pt x="43796" y="89582"/>
                  <a:pt x="47653" y="90173"/>
                  <a:pt x="51292" y="91262"/>
                </a:cubicBezTo>
                <a:cubicBezTo>
                  <a:pt x="41058" y="102708"/>
                  <a:pt x="34837" y="117825"/>
                  <a:pt x="34837" y="134373"/>
                </a:cubicBezTo>
                <a:lnTo>
                  <a:pt x="34837" y="139350"/>
                </a:lnTo>
                <a:cubicBezTo>
                  <a:pt x="34837" y="142896"/>
                  <a:pt x="35584" y="146255"/>
                  <a:pt x="36921" y="149303"/>
                </a:cubicBezTo>
                <a:lnTo>
                  <a:pt x="9954" y="149303"/>
                </a:lnTo>
                <a:cubicBezTo>
                  <a:pt x="4448" y="149303"/>
                  <a:pt x="0" y="144855"/>
                  <a:pt x="0" y="139350"/>
                </a:cubicBezTo>
                <a:lnTo>
                  <a:pt x="0" y="129396"/>
                </a:lnTo>
                <a:close/>
                <a:moveTo>
                  <a:pt x="162150" y="149303"/>
                </a:moveTo>
                <a:cubicBezTo>
                  <a:pt x="163487" y="146255"/>
                  <a:pt x="164234" y="142896"/>
                  <a:pt x="164234" y="139350"/>
                </a:cubicBezTo>
                <a:lnTo>
                  <a:pt x="164234" y="134373"/>
                </a:lnTo>
                <a:cubicBezTo>
                  <a:pt x="164234" y="117825"/>
                  <a:pt x="158013" y="102708"/>
                  <a:pt x="147779" y="91262"/>
                </a:cubicBezTo>
                <a:cubicBezTo>
                  <a:pt x="151418" y="90173"/>
                  <a:pt x="155275" y="89582"/>
                  <a:pt x="159257" y="89582"/>
                </a:cubicBezTo>
                <a:cubicBezTo>
                  <a:pt x="181248" y="89582"/>
                  <a:pt x="199071" y="107405"/>
                  <a:pt x="199071" y="129396"/>
                </a:cubicBezTo>
                <a:lnTo>
                  <a:pt x="199071" y="139350"/>
                </a:lnTo>
                <a:cubicBezTo>
                  <a:pt x="199071" y="144855"/>
                  <a:pt x="194623" y="149303"/>
                  <a:pt x="189118" y="149303"/>
                </a:cubicBezTo>
                <a:lnTo>
                  <a:pt x="162150" y="149303"/>
                </a:lnTo>
                <a:close/>
                <a:moveTo>
                  <a:pt x="146815" y="49768"/>
                </a:moveTo>
                <a:cubicBezTo>
                  <a:pt x="146815" y="37407"/>
                  <a:pt x="156850" y="27372"/>
                  <a:pt x="169210" y="27372"/>
                </a:cubicBezTo>
                <a:cubicBezTo>
                  <a:pt x="181571" y="27372"/>
                  <a:pt x="191606" y="37407"/>
                  <a:pt x="191606" y="49768"/>
                </a:cubicBezTo>
                <a:cubicBezTo>
                  <a:pt x="191606" y="62128"/>
                  <a:pt x="181571" y="72163"/>
                  <a:pt x="169210" y="72163"/>
                </a:cubicBezTo>
                <a:cubicBezTo>
                  <a:pt x="156850" y="72163"/>
                  <a:pt x="146815" y="62128"/>
                  <a:pt x="146815" y="49768"/>
                </a:cubicBezTo>
                <a:close/>
                <a:moveTo>
                  <a:pt x="49768" y="134373"/>
                </a:moveTo>
                <a:cubicBezTo>
                  <a:pt x="49768" y="106876"/>
                  <a:pt x="72039" y="84605"/>
                  <a:pt x="99536" y="84605"/>
                </a:cubicBezTo>
                <a:cubicBezTo>
                  <a:pt x="127032" y="84605"/>
                  <a:pt x="149303" y="106876"/>
                  <a:pt x="149303" y="134373"/>
                </a:cubicBezTo>
                <a:lnTo>
                  <a:pt x="149303" y="139350"/>
                </a:lnTo>
                <a:cubicBezTo>
                  <a:pt x="149303" y="144855"/>
                  <a:pt x="144855" y="149303"/>
                  <a:pt x="139350" y="149303"/>
                </a:cubicBezTo>
                <a:lnTo>
                  <a:pt x="59721" y="149303"/>
                </a:lnTo>
                <a:cubicBezTo>
                  <a:pt x="54216" y="149303"/>
                  <a:pt x="49768" y="144855"/>
                  <a:pt x="49768" y="139350"/>
                </a:cubicBezTo>
                <a:lnTo>
                  <a:pt x="49768" y="134373"/>
                </a:lnTo>
                <a:close/>
              </a:path>
            </a:pathLst>
          </a:custGeom>
          <a:solidFill>
            <a:srgbClr val="4A5741"/>
          </a:solidFill>
          <a:ln>
            <a:noFill/>
          </a:ln>
        </p:spPr>
        <p:txBody>
          <a:bodyPr anchorCtr="0" anchor="t" bIns="47975" lIns="95950" spcFirstLastPara="1" rIns="95950" wrap="square" tIns="47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565174" y="1427725"/>
            <a:ext cx="2907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70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Target Customer</a:t>
            </a:r>
            <a:endParaRPr b="1" sz="19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288775" y="1757075"/>
            <a:ext cx="37455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3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Budget-conscious young professionals, university students, health-conscious people</a:t>
            </a:r>
            <a:endParaRPr b="1" sz="20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338279" y="2424109"/>
            <a:ext cx="36960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solidFill>
                  <a:srgbClr val="008236"/>
                </a:solidFill>
                <a:highlight>
                  <a:srgbClr val="DCFCE7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✓: </a:t>
            </a:r>
            <a:r>
              <a:rPr lang="en-US" sz="1423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Fitness/nutrition apps demonstrate willingness to pay for health tools</a:t>
            </a:r>
            <a:endParaRPr sz="20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288879" y="2943520"/>
            <a:ext cx="36960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">
                <a:solidFill>
                  <a:srgbClr val="C10007"/>
                </a:solidFill>
                <a:highlight>
                  <a:srgbClr val="FFE2E2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✗: </a:t>
            </a:r>
            <a:r>
              <a:rPr lang="en-US" sz="1423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Budget-conscious users may have lower conversion rates</a:t>
            </a:r>
            <a:endParaRPr sz="20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4135000" y="1274650"/>
            <a:ext cx="3854238" cy="2390314"/>
          </a:xfrm>
          <a:custGeom>
            <a:rect b="b" l="l" r="r" t="t"/>
            <a:pathLst>
              <a:path extrusionOk="0" h="2203054" w="3760232">
                <a:moveTo>
                  <a:pt x="35390" y="0"/>
                </a:moveTo>
                <a:lnTo>
                  <a:pt x="3724842" y="0"/>
                </a:lnTo>
                <a:cubicBezTo>
                  <a:pt x="3744387" y="0"/>
                  <a:pt x="3760232" y="15845"/>
                  <a:pt x="3760232" y="35390"/>
                </a:cubicBezTo>
                <a:lnTo>
                  <a:pt x="3760232" y="2132270"/>
                </a:lnTo>
                <a:cubicBezTo>
                  <a:pt x="3760232" y="2171363"/>
                  <a:pt x="3728541" y="2203054"/>
                  <a:pt x="3689448" y="2203054"/>
                </a:cubicBezTo>
                <a:lnTo>
                  <a:pt x="70784" y="2203054"/>
                </a:lnTo>
                <a:cubicBezTo>
                  <a:pt x="31691" y="2203054"/>
                  <a:pt x="0" y="2171363"/>
                  <a:pt x="0" y="2132270"/>
                </a:cubicBezTo>
                <a:lnTo>
                  <a:pt x="0" y="35390"/>
                </a:lnTo>
                <a:cubicBezTo>
                  <a:pt x="0" y="15858"/>
                  <a:pt x="15858" y="0"/>
                  <a:pt x="353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5714" rotWithShape="0" algn="bl" dir="5400000" dist="37142">
              <a:srgbClr val="000000">
                <a:alpha val="10196"/>
              </a:srgbClr>
            </a:outerShdw>
          </a:effectLst>
        </p:spPr>
        <p:txBody>
          <a:bodyPr anchorCtr="0" anchor="t" bIns="47975" lIns="95950" spcFirstLastPara="1" rIns="95950" wrap="square" tIns="47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4134999" y="1274652"/>
            <a:ext cx="3854238" cy="43795"/>
          </a:xfrm>
          <a:custGeom>
            <a:rect b="b" l="l" r="r" t="t"/>
            <a:pathLst>
              <a:path extrusionOk="0" h="35390" w="3760232">
                <a:moveTo>
                  <a:pt x="35390" y="0"/>
                </a:moveTo>
                <a:lnTo>
                  <a:pt x="3724842" y="0"/>
                </a:lnTo>
                <a:cubicBezTo>
                  <a:pt x="3744387" y="0"/>
                  <a:pt x="3760232" y="15845"/>
                  <a:pt x="3760232" y="35390"/>
                </a:cubicBezTo>
                <a:lnTo>
                  <a:pt x="3760232" y="35390"/>
                </a:lnTo>
                <a:lnTo>
                  <a:pt x="0" y="35390"/>
                </a:lnTo>
                <a:lnTo>
                  <a:pt x="0" y="35390"/>
                </a:lnTo>
                <a:cubicBezTo>
                  <a:pt x="0" y="15858"/>
                  <a:pt x="15858" y="0"/>
                  <a:pt x="35390" y="0"/>
                </a:cubicBezTo>
                <a:close/>
              </a:path>
            </a:pathLst>
          </a:custGeom>
          <a:solidFill>
            <a:srgbClr val="C78D4E"/>
          </a:solidFill>
          <a:ln>
            <a:noFill/>
          </a:ln>
        </p:spPr>
        <p:txBody>
          <a:bodyPr anchorCtr="0" anchor="t" bIns="47975" lIns="95950" spcFirstLastPara="1" rIns="95950" wrap="square" tIns="47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4266350" y="1460514"/>
            <a:ext cx="163238" cy="197081"/>
          </a:xfrm>
          <a:custGeom>
            <a:rect b="b" l="l" r="r" t="t"/>
            <a:pathLst>
              <a:path extrusionOk="0" h="159257" w="159257">
                <a:moveTo>
                  <a:pt x="19907" y="19907"/>
                </a:moveTo>
                <a:cubicBezTo>
                  <a:pt x="19907" y="14402"/>
                  <a:pt x="15459" y="9954"/>
                  <a:pt x="9954" y="9954"/>
                </a:cubicBezTo>
                <a:cubicBezTo>
                  <a:pt x="4448" y="9954"/>
                  <a:pt x="0" y="14402"/>
                  <a:pt x="0" y="19907"/>
                </a:cubicBezTo>
                <a:lnTo>
                  <a:pt x="0" y="124419"/>
                </a:lnTo>
                <a:cubicBezTo>
                  <a:pt x="0" y="138168"/>
                  <a:pt x="11136" y="149303"/>
                  <a:pt x="24884" y="149303"/>
                </a:cubicBezTo>
                <a:lnTo>
                  <a:pt x="149303" y="149303"/>
                </a:lnTo>
                <a:cubicBezTo>
                  <a:pt x="154809" y="149303"/>
                  <a:pt x="159257" y="144855"/>
                  <a:pt x="159257" y="139350"/>
                </a:cubicBezTo>
                <a:cubicBezTo>
                  <a:pt x="159257" y="133844"/>
                  <a:pt x="154809" y="129396"/>
                  <a:pt x="149303" y="129396"/>
                </a:cubicBezTo>
                <a:lnTo>
                  <a:pt x="24884" y="129396"/>
                </a:lnTo>
                <a:cubicBezTo>
                  <a:pt x="22147" y="129396"/>
                  <a:pt x="19907" y="127157"/>
                  <a:pt x="19907" y="124419"/>
                </a:cubicBezTo>
                <a:lnTo>
                  <a:pt x="19907" y="19907"/>
                </a:lnTo>
                <a:close/>
                <a:moveTo>
                  <a:pt x="146379" y="46844"/>
                </a:moveTo>
                <a:cubicBezTo>
                  <a:pt x="150268" y="42956"/>
                  <a:pt x="150268" y="36642"/>
                  <a:pt x="146379" y="32753"/>
                </a:cubicBezTo>
                <a:cubicBezTo>
                  <a:pt x="142491" y="28865"/>
                  <a:pt x="136177" y="28865"/>
                  <a:pt x="132289" y="32753"/>
                </a:cubicBezTo>
                <a:lnTo>
                  <a:pt x="99536" y="65538"/>
                </a:lnTo>
                <a:lnTo>
                  <a:pt x="81681" y="47715"/>
                </a:lnTo>
                <a:cubicBezTo>
                  <a:pt x="77793" y="43827"/>
                  <a:pt x="71479" y="43827"/>
                  <a:pt x="67591" y="47715"/>
                </a:cubicBezTo>
                <a:lnTo>
                  <a:pt x="37730" y="77576"/>
                </a:lnTo>
                <a:cubicBezTo>
                  <a:pt x="33842" y="81464"/>
                  <a:pt x="33842" y="87778"/>
                  <a:pt x="37730" y="91666"/>
                </a:cubicBezTo>
                <a:cubicBezTo>
                  <a:pt x="41618" y="95554"/>
                  <a:pt x="47933" y="95554"/>
                  <a:pt x="51821" y="91666"/>
                </a:cubicBezTo>
                <a:lnTo>
                  <a:pt x="74652" y="68835"/>
                </a:lnTo>
                <a:lnTo>
                  <a:pt x="92506" y="86689"/>
                </a:lnTo>
                <a:cubicBezTo>
                  <a:pt x="96394" y="90577"/>
                  <a:pt x="102708" y="90577"/>
                  <a:pt x="106596" y="86689"/>
                </a:cubicBezTo>
                <a:lnTo>
                  <a:pt x="146411" y="46875"/>
                </a:lnTo>
                <a:close/>
              </a:path>
            </a:pathLst>
          </a:custGeom>
          <a:solidFill>
            <a:srgbClr val="C78D4E"/>
          </a:solidFill>
          <a:ln>
            <a:noFill/>
          </a:ln>
        </p:spPr>
        <p:txBody>
          <a:bodyPr anchorCtr="0" anchor="t" bIns="47975" lIns="95950" spcFirstLastPara="1" rIns="95950" wrap="square" tIns="47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4520007" y="1427725"/>
            <a:ext cx="1657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Market Size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4243700" y="1690225"/>
            <a:ext cx="36960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Nutrition tracking apps, meal planners, health platforms have millions of users worldwide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4214203" y="2424097"/>
            <a:ext cx="36960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8236"/>
                </a:solidFill>
                <a:highlight>
                  <a:srgbClr val="DCFCE7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✓: </a:t>
            </a:r>
            <a:r>
              <a:rPr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Sustained growth in health apps indicates behavioral interest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4214203" y="2959819"/>
            <a:ext cx="36960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10007"/>
                </a:solidFill>
                <a:highlight>
                  <a:srgbClr val="FFE2E2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✗: </a:t>
            </a:r>
            <a:r>
              <a:rPr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Overlap between budgeting &amp; nutrition users may be smaller than expected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8089975" y="1274650"/>
            <a:ext cx="3854238" cy="2390314"/>
          </a:xfrm>
          <a:custGeom>
            <a:rect b="b" l="l" r="r" t="t"/>
            <a:pathLst>
              <a:path extrusionOk="0" h="2203054" w="3760232">
                <a:moveTo>
                  <a:pt x="35390" y="0"/>
                </a:moveTo>
                <a:lnTo>
                  <a:pt x="3724842" y="0"/>
                </a:lnTo>
                <a:cubicBezTo>
                  <a:pt x="3744387" y="0"/>
                  <a:pt x="3760232" y="15845"/>
                  <a:pt x="3760232" y="35390"/>
                </a:cubicBezTo>
                <a:lnTo>
                  <a:pt x="3760232" y="2132270"/>
                </a:lnTo>
                <a:cubicBezTo>
                  <a:pt x="3760232" y="2171363"/>
                  <a:pt x="3728541" y="2203054"/>
                  <a:pt x="3689448" y="2203054"/>
                </a:cubicBezTo>
                <a:lnTo>
                  <a:pt x="70784" y="2203054"/>
                </a:lnTo>
                <a:cubicBezTo>
                  <a:pt x="31691" y="2203054"/>
                  <a:pt x="0" y="2171363"/>
                  <a:pt x="0" y="2132270"/>
                </a:cubicBezTo>
                <a:lnTo>
                  <a:pt x="0" y="35390"/>
                </a:lnTo>
                <a:cubicBezTo>
                  <a:pt x="0" y="15858"/>
                  <a:pt x="15858" y="0"/>
                  <a:pt x="353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5714" rotWithShape="0" algn="bl" dir="5400000" dist="37142">
              <a:srgbClr val="000000">
                <a:alpha val="10196"/>
              </a:srgbClr>
            </a:outerShdw>
          </a:effectLst>
        </p:spPr>
        <p:txBody>
          <a:bodyPr anchorCtr="0" anchor="t" bIns="47975" lIns="95950" spcFirstLastPara="1" rIns="95950" wrap="square" tIns="47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8089965" y="1274652"/>
            <a:ext cx="3854238" cy="43795"/>
          </a:xfrm>
          <a:custGeom>
            <a:rect b="b" l="l" r="r" t="t"/>
            <a:pathLst>
              <a:path extrusionOk="0" h="35390" w="3760232">
                <a:moveTo>
                  <a:pt x="35390" y="0"/>
                </a:moveTo>
                <a:lnTo>
                  <a:pt x="3724842" y="0"/>
                </a:lnTo>
                <a:cubicBezTo>
                  <a:pt x="3744387" y="0"/>
                  <a:pt x="3760232" y="15845"/>
                  <a:pt x="3760232" y="35390"/>
                </a:cubicBezTo>
                <a:lnTo>
                  <a:pt x="3760232" y="35390"/>
                </a:lnTo>
                <a:lnTo>
                  <a:pt x="0" y="35390"/>
                </a:lnTo>
                <a:lnTo>
                  <a:pt x="0" y="35390"/>
                </a:lnTo>
                <a:cubicBezTo>
                  <a:pt x="0" y="15858"/>
                  <a:pt x="15858" y="0"/>
                  <a:pt x="35390" y="0"/>
                </a:cubicBezTo>
                <a:close/>
              </a:path>
            </a:pathLst>
          </a:custGeom>
          <a:solidFill>
            <a:srgbClr val="B8B1A4"/>
          </a:solidFill>
          <a:ln>
            <a:noFill/>
          </a:ln>
        </p:spPr>
        <p:txBody>
          <a:bodyPr anchorCtr="0" anchor="t" bIns="47975" lIns="95950" spcFirstLastPara="1" rIns="95950" wrap="square" tIns="47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8221317" y="1460514"/>
            <a:ext cx="163238" cy="197081"/>
          </a:xfrm>
          <a:custGeom>
            <a:rect b="b" l="l" r="r" t="t"/>
            <a:pathLst>
              <a:path extrusionOk="0" h="159257" w="159257">
                <a:moveTo>
                  <a:pt x="79628" y="159257"/>
                </a:moveTo>
                <a:cubicBezTo>
                  <a:pt x="123577" y="159257"/>
                  <a:pt x="159257" y="123577"/>
                  <a:pt x="159257" y="79628"/>
                </a:cubicBezTo>
                <a:cubicBezTo>
                  <a:pt x="159257" y="35680"/>
                  <a:pt x="123577" y="0"/>
                  <a:pt x="79628" y="0"/>
                </a:cubicBezTo>
                <a:cubicBezTo>
                  <a:pt x="35680" y="0"/>
                  <a:pt x="0" y="35680"/>
                  <a:pt x="0" y="79628"/>
                </a:cubicBezTo>
                <a:cubicBezTo>
                  <a:pt x="0" y="123577"/>
                  <a:pt x="35680" y="159257"/>
                  <a:pt x="79628" y="159257"/>
                </a:cubicBezTo>
                <a:close/>
                <a:moveTo>
                  <a:pt x="79628" y="42303"/>
                </a:moveTo>
                <a:cubicBezTo>
                  <a:pt x="83765" y="42303"/>
                  <a:pt x="87094" y="45631"/>
                  <a:pt x="87094" y="49768"/>
                </a:cubicBezTo>
                <a:lnTo>
                  <a:pt x="87094" y="84605"/>
                </a:lnTo>
                <a:cubicBezTo>
                  <a:pt x="87094" y="88742"/>
                  <a:pt x="83765" y="92070"/>
                  <a:pt x="79628" y="92070"/>
                </a:cubicBezTo>
                <a:cubicBezTo>
                  <a:pt x="75492" y="92070"/>
                  <a:pt x="72163" y="88742"/>
                  <a:pt x="72163" y="84605"/>
                </a:cubicBezTo>
                <a:lnTo>
                  <a:pt x="72163" y="49768"/>
                </a:lnTo>
                <a:cubicBezTo>
                  <a:pt x="72163" y="45631"/>
                  <a:pt x="75492" y="42303"/>
                  <a:pt x="79628" y="42303"/>
                </a:cubicBezTo>
                <a:close/>
                <a:moveTo>
                  <a:pt x="71323" y="109489"/>
                </a:moveTo>
                <a:cubicBezTo>
                  <a:pt x="71135" y="106406"/>
                  <a:pt x="72672" y="103473"/>
                  <a:pt x="75315" y="101875"/>
                </a:cubicBezTo>
                <a:cubicBezTo>
                  <a:pt x="77957" y="100276"/>
                  <a:pt x="81269" y="100276"/>
                  <a:pt x="83911" y="101875"/>
                </a:cubicBezTo>
                <a:cubicBezTo>
                  <a:pt x="86554" y="103473"/>
                  <a:pt x="88091" y="106406"/>
                  <a:pt x="87902" y="109489"/>
                </a:cubicBezTo>
                <a:cubicBezTo>
                  <a:pt x="88091" y="112572"/>
                  <a:pt x="86554" y="115505"/>
                  <a:pt x="83911" y="117103"/>
                </a:cubicBezTo>
                <a:cubicBezTo>
                  <a:pt x="81269" y="118702"/>
                  <a:pt x="77957" y="118702"/>
                  <a:pt x="75315" y="117103"/>
                </a:cubicBezTo>
                <a:cubicBezTo>
                  <a:pt x="72672" y="115505"/>
                  <a:pt x="71135" y="112572"/>
                  <a:pt x="71323" y="109489"/>
                </a:cubicBezTo>
                <a:close/>
              </a:path>
            </a:pathLst>
          </a:custGeom>
          <a:solidFill>
            <a:srgbClr val="B8B1A4"/>
          </a:solidFill>
          <a:ln>
            <a:noFill/>
          </a:ln>
        </p:spPr>
        <p:txBody>
          <a:bodyPr anchorCtr="0" anchor="t" bIns="47975" lIns="95950" spcFirstLastPara="1" rIns="95950" wrap="square" tIns="47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8474936" y="1427725"/>
            <a:ext cx="2976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Problem Severity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8198670" y="1777575"/>
            <a:ext cx="36960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Frequency:</a:t>
            </a:r>
            <a:r>
              <a:rPr b="1"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HIGH — meal decisions 2-4× daily, weekly grocery shopping, monthly budgeting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8198670" y="2365884"/>
            <a:ext cx="36960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8236"/>
                </a:solidFill>
                <a:highlight>
                  <a:srgbClr val="DCFCE7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✓: </a:t>
            </a:r>
            <a:r>
              <a:rPr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Food delivery reliance, meal planning app churn indicate dissatisfaction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8198675" y="2861226"/>
            <a:ext cx="36960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10007"/>
                </a:solidFill>
                <a:highlight>
                  <a:srgbClr val="FFE2E2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✗: </a:t>
            </a:r>
            <a:r>
              <a:rPr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 decision fatigue painful enough to adopt dedicated product vs. existing habits?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180175" y="3817925"/>
            <a:ext cx="3854238" cy="2518249"/>
          </a:xfrm>
          <a:custGeom>
            <a:rect b="b" l="l" r="r" t="t"/>
            <a:pathLst>
              <a:path extrusionOk="0" h="2034949" w="3760232">
                <a:moveTo>
                  <a:pt x="35390" y="0"/>
                </a:moveTo>
                <a:lnTo>
                  <a:pt x="3724842" y="0"/>
                </a:lnTo>
                <a:cubicBezTo>
                  <a:pt x="3744387" y="0"/>
                  <a:pt x="3760232" y="15845"/>
                  <a:pt x="3760232" y="35390"/>
                </a:cubicBezTo>
                <a:lnTo>
                  <a:pt x="3760232" y="1964174"/>
                </a:lnTo>
                <a:cubicBezTo>
                  <a:pt x="3760232" y="2003262"/>
                  <a:pt x="3728545" y="2034949"/>
                  <a:pt x="3689457" y="2034949"/>
                </a:cubicBezTo>
                <a:lnTo>
                  <a:pt x="70776" y="2034949"/>
                </a:lnTo>
                <a:cubicBezTo>
                  <a:pt x="31687" y="2034949"/>
                  <a:pt x="0" y="2003262"/>
                  <a:pt x="0" y="1964174"/>
                </a:cubicBezTo>
                <a:lnTo>
                  <a:pt x="0" y="35390"/>
                </a:lnTo>
                <a:cubicBezTo>
                  <a:pt x="0" y="15858"/>
                  <a:pt x="15858" y="0"/>
                  <a:pt x="353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5714" rotWithShape="0" algn="bl" dir="5400000" dist="37142">
              <a:srgbClr val="000000">
                <a:alpha val="10196"/>
              </a:srgbClr>
            </a:outerShdw>
          </a:effectLst>
        </p:spPr>
        <p:txBody>
          <a:bodyPr anchorCtr="0" anchor="t" bIns="47975" lIns="95950" spcFirstLastPara="1" rIns="95950" wrap="square" tIns="47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180175" y="3817925"/>
            <a:ext cx="3854238" cy="43795"/>
          </a:xfrm>
          <a:custGeom>
            <a:rect b="b" l="l" r="r" t="t"/>
            <a:pathLst>
              <a:path extrusionOk="0" h="35390" w="3760232">
                <a:moveTo>
                  <a:pt x="35390" y="0"/>
                </a:moveTo>
                <a:lnTo>
                  <a:pt x="3724842" y="0"/>
                </a:lnTo>
                <a:cubicBezTo>
                  <a:pt x="3744387" y="0"/>
                  <a:pt x="3760232" y="15845"/>
                  <a:pt x="3760232" y="35390"/>
                </a:cubicBezTo>
                <a:lnTo>
                  <a:pt x="3760232" y="35390"/>
                </a:lnTo>
                <a:lnTo>
                  <a:pt x="0" y="35390"/>
                </a:lnTo>
                <a:lnTo>
                  <a:pt x="0" y="35390"/>
                </a:lnTo>
                <a:cubicBezTo>
                  <a:pt x="0" y="15858"/>
                  <a:pt x="15858" y="0"/>
                  <a:pt x="35390" y="0"/>
                </a:cubicBezTo>
                <a:close/>
              </a:path>
            </a:pathLst>
          </a:custGeom>
          <a:solidFill>
            <a:srgbClr val="FB2C36"/>
          </a:solidFill>
          <a:ln>
            <a:noFill/>
          </a:ln>
        </p:spPr>
        <p:txBody>
          <a:bodyPr anchorCtr="0" anchor="t" bIns="47975" lIns="95950" spcFirstLastPara="1" rIns="95950" wrap="square" tIns="47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311527" y="4004065"/>
            <a:ext cx="163238" cy="197081"/>
          </a:xfrm>
          <a:custGeom>
            <a:rect b="b" l="l" r="r" t="t"/>
            <a:pathLst>
              <a:path extrusionOk="0" h="159257" w="159257">
                <a:moveTo>
                  <a:pt x="52256" y="17419"/>
                </a:moveTo>
                <a:lnTo>
                  <a:pt x="52256" y="29861"/>
                </a:lnTo>
                <a:lnTo>
                  <a:pt x="27963" y="29861"/>
                </a:lnTo>
                <a:cubicBezTo>
                  <a:pt x="23515" y="29861"/>
                  <a:pt x="19907" y="33469"/>
                  <a:pt x="19907" y="37917"/>
                </a:cubicBezTo>
                <a:cubicBezTo>
                  <a:pt x="19907" y="39161"/>
                  <a:pt x="20187" y="40405"/>
                  <a:pt x="20747" y="41525"/>
                </a:cubicBezTo>
                <a:lnTo>
                  <a:pt x="31136" y="62303"/>
                </a:lnTo>
                <a:cubicBezTo>
                  <a:pt x="27590" y="62863"/>
                  <a:pt x="24853" y="65942"/>
                  <a:pt x="24853" y="69675"/>
                </a:cubicBezTo>
                <a:cubicBezTo>
                  <a:pt x="24853" y="73812"/>
                  <a:pt x="28181" y="77140"/>
                  <a:pt x="32318" y="77140"/>
                </a:cubicBezTo>
                <a:lnTo>
                  <a:pt x="34060" y="77140"/>
                </a:lnTo>
                <a:lnTo>
                  <a:pt x="29830" y="119443"/>
                </a:lnTo>
                <a:lnTo>
                  <a:pt x="12349" y="141309"/>
                </a:lnTo>
                <a:cubicBezTo>
                  <a:pt x="10793" y="143269"/>
                  <a:pt x="9922" y="145695"/>
                  <a:pt x="9922" y="148215"/>
                </a:cubicBezTo>
                <a:cubicBezTo>
                  <a:pt x="9922" y="154311"/>
                  <a:pt x="14868" y="159257"/>
                  <a:pt x="20965" y="159257"/>
                </a:cubicBezTo>
                <a:lnTo>
                  <a:pt x="98385" y="159257"/>
                </a:lnTo>
                <a:cubicBezTo>
                  <a:pt x="104481" y="159257"/>
                  <a:pt x="109427" y="154311"/>
                  <a:pt x="109427" y="148215"/>
                </a:cubicBezTo>
                <a:cubicBezTo>
                  <a:pt x="109427" y="145695"/>
                  <a:pt x="108587" y="143269"/>
                  <a:pt x="107001" y="141309"/>
                </a:cubicBezTo>
                <a:lnTo>
                  <a:pt x="89582" y="119443"/>
                </a:lnTo>
                <a:lnTo>
                  <a:pt x="85352" y="77140"/>
                </a:lnTo>
                <a:lnTo>
                  <a:pt x="87094" y="77140"/>
                </a:lnTo>
                <a:cubicBezTo>
                  <a:pt x="91231" y="77140"/>
                  <a:pt x="94559" y="73812"/>
                  <a:pt x="94559" y="69675"/>
                </a:cubicBezTo>
                <a:cubicBezTo>
                  <a:pt x="94559" y="65973"/>
                  <a:pt x="91853" y="62863"/>
                  <a:pt x="88276" y="62303"/>
                </a:cubicBezTo>
                <a:lnTo>
                  <a:pt x="98665" y="41525"/>
                </a:lnTo>
                <a:cubicBezTo>
                  <a:pt x="99225" y="40405"/>
                  <a:pt x="99504" y="39161"/>
                  <a:pt x="99504" y="37917"/>
                </a:cubicBezTo>
                <a:cubicBezTo>
                  <a:pt x="99504" y="33469"/>
                  <a:pt x="95896" y="29861"/>
                  <a:pt x="91448" y="29861"/>
                </a:cubicBezTo>
                <a:lnTo>
                  <a:pt x="67155" y="29861"/>
                </a:lnTo>
                <a:lnTo>
                  <a:pt x="67155" y="17419"/>
                </a:lnTo>
                <a:lnTo>
                  <a:pt x="72132" y="17419"/>
                </a:lnTo>
                <a:cubicBezTo>
                  <a:pt x="76269" y="17419"/>
                  <a:pt x="79597" y="14091"/>
                  <a:pt x="79597" y="9954"/>
                </a:cubicBezTo>
                <a:cubicBezTo>
                  <a:pt x="79597" y="5817"/>
                  <a:pt x="76300" y="2488"/>
                  <a:pt x="72163" y="2488"/>
                </a:cubicBezTo>
                <a:lnTo>
                  <a:pt x="67187" y="2488"/>
                </a:lnTo>
                <a:lnTo>
                  <a:pt x="67187" y="-2488"/>
                </a:lnTo>
                <a:cubicBezTo>
                  <a:pt x="67187" y="-6625"/>
                  <a:pt x="63858" y="-9954"/>
                  <a:pt x="59721" y="-9954"/>
                </a:cubicBezTo>
                <a:cubicBezTo>
                  <a:pt x="55584" y="-9954"/>
                  <a:pt x="52256" y="-6625"/>
                  <a:pt x="52256" y="-2488"/>
                </a:cubicBezTo>
                <a:lnTo>
                  <a:pt x="52256" y="2488"/>
                </a:lnTo>
                <a:lnTo>
                  <a:pt x="47279" y="2488"/>
                </a:lnTo>
                <a:cubicBezTo>
                  <a:pt x="43142" y="2488"/>
                  <a:pt x="39814" y="5817"/>
                  <a:pt x="39814" y="9954"/>
                </a:cubicBezTo>
                <a:cubicBezTo>
                  <a:pt x="39814" y="14091"/>
                  <a:pt x="43142" y="17419"/>
                  <a:pt x="47279" y="17419"/>
                </a:cubicBezTo>
                <a:lnTo>
                  <a:pt x="52256" y="17419"/>
                </a:lnTo>
                <a:close/>
                <a:moveTo>
                  <a:pt x="101340" y="86969"/>
                </a:moveTo>
                <a:lnTo>
                  <a:pt x="103984" y="113564"/>
                </a:lnTo>
                <a:lnTo>
                  <a:pt x="118727" y="131978"/>
                </a:lnTo>
                <a:lnTo>
                  <a:pt x="120034" y="133751"/>
                </a:lnTo>
                <a:cubicBezTo>
                  <a:pt x="122895" y="138012"/>
                  <a:pt x="124419" y="143051"/>
                  <a:pt x="124419" y="148215"/>
                </a:cubicBezTo>
                <a:cubicBezTo>
                  <a:pt x="124419" y="152165"/>
                  <a:pt x="123549" y="155929"/>
                  <a:pt x="121962" y="159257"/>
                </a:cubicBezTo>
                <a:lnTo>
                  <a:pt x="147810" y="159257"/>
                </a:lnTo>
                <a:cubicBezTo>
                  <a:pt x="154125" y="159257"/>
                  <a:pt x="159257" y="154125"/>
                  <a:pt x="159257" y="147810"/>
                </a:cubicBezTo>
                <a:cubicBezTo>
                  <a:pt x="159257" y="145540"/>
                  <a:pt x="158573" y="143331"/>
                  <a:pt x="157328" y="141465"/>
                </a:cubicBezTo>
                <a:lnTo>
                  <a:pt x="149303" y="129427"/>
                </a:lnTo>
                <a:lnTo>
                  <a:pt x="149303" y="109520"/>
                </a:lnTo>
                <a:lnTo>
                  <a:pt x="153440" y="105383"/>
                </a:lnTo>
                <a:cubicBezTo>
                  <a:pt x="157173" y="101651"/>
                  <a:pt x="159257" y="96581"/>
                  <a:pt x="159257" y="91293"/>
                </a:cubicBezTo>
                <a:lnTo>
                  <a:pt x="159257" y="59721"/>
                </a:lnTo>
                <a:cubicBezTo>
                  <a:pt x="159257" y="54216"/>
                  <a:pt x="154809" y="49768"/>
                  <a:pt x="149303" y="49768"/>
                </a:cubicBezTo>
                <a:cubicBezTo>
                  <a:pt x="143798" y="49768"/>
                  <a:pt x="139350" y="54216"/>
                  <a:pt x="139350" y="59721"/>
                </a:cubicBezTo>
                <a:lnTo>
                  <a:pt x="139350" y="64698"/>
                </a:lnTo>
                <a:lnTo>
                  <a:pt x="129396" y="64698"/>
                </a:lnTo>
                <a:lnTo>
                  <a:pt x="129396" y="59721"/>
                </a:lnTo>
                <a:cubicBezTo>
                  <a:pt x="129396" y="54216"/>
                  <a:pt x="124948" y="49768"/>
                  <a:pt x="119443" y="49768"/>
                </a:cubicBezTo>
                <a:cubicBezTo>
                  <a:pt x="113937" y="49768"/>
                  <a:pt x="109489" y="54216"/>
                  <a:pt x="109489" y="59721"/>
                </a:cubicBezTo>
                <a:lnTo>
                  <a:pt x="109489" y="69675"/>
                </a:lnTo>
                <a:cubicBezTo>
                  <a:pt x="109489" y="76642"/>
                  <a:pt x="106316" y="82863"/>
                  <a:pt x="101340" y="86969"/>
                </a:cubicBezTo>
                <a:close/>
              </a:path>
            </a:pathLst>
          </a:custGeom>
          <a:solidFill>
            <a:srgbClr val="E7000B"/>
          </a:solidFill>
          <a:ln>
            <a:noFill/>
          </a:ln>
        </p:spPr>
        <p:txBody>
          <a:bodyPr anchorCtr="0" anchor="t" bIns="47975" lIns="95950" spcFirstLastPara="1" rIns="95950" wrap="square" tIns="47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565177" y="3971225"/>
            <a:ext cx="24450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Competition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288930" y="4405325"/>
            <a:ext cx="36960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Direct:</a:t>
            </a:r>
            <a:r>
              <a:rPr b="1"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Automated meal planners, nutrition trackers, recipe discovery platforms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288930" y="4988949"/>
            <a:ext cx="36960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65F00"/>
                </a:solidFill>
                <a:highlight>
                  <a:srgbClr val="FEF9C2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⚠Pattern: </a:t>
            </a:r>
            <a:r>
              <a:rPr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Users often combine multiple tools rather than seeking single integrated solution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288880" y="5572575"/>
            <a:ext cx="36960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10007"/>
                </a:solidFill>
                <a:highlight>
                  <a:srgbClr val="FFE2E2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✗: </a:t>
            </a:r>
            <a:r>
              <a:rPr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Crowded landscape with established players; differentiation must be compelling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4135087" y="3861717"/>
            <a:ext cx="3854238" cy="2518249"/>
          </a:xfrm>
          <a:custGeom>
            <a:rect b="b" l="l" r="r" t="t"/>
            <a:pathLst>
              <a:path extrusionOk="0" h="2034949" w="3760232">
                <a:moveTo>
                  <a:pt x="35390" y="0"/>
                </a:moveTo>
                <a:lnTo>
                  <a:pt x="3724842" y="0"/>
                </a:lnTo>
                <a:cubicBezTo>
                  <a:pt x="3744387" y="0"/>
                  <a:pt x="3760232" y="15845"/>
                  <a:pt x="3760232" y="35390"/>
                </a:cubicBezTo>
                <a:lnTo>
                  <a:pt x="3760232" y="1964174"/>
                </a:lnTo>
                <a:cubicBezTo>
                  <a:pt x="3760232" y="2003262"/>
                  <a:pt x="3728545" y="2034949"/>
                  <a:pt x="3689457" y="2034949"/>
                </a:cubicBezTo>
                <a:lnTo>
                  <a:pt x="70776" y="2034949"/>
                </a:lnTo>
                <a:cubicBezTo>
                  <a:pt x="31687" y="2034949"/>
                  <a:pt x="0" y="2003262"/>
                  <a:pt x="0" y="1964174"/>
                </a:cubicBezTo>
                <a:lnTo>
                  <a:pt x="0" y="35390"/>
                </a:lnTo>
                <a:cubicBezTo>
                  <a:pt x="0" y="15858"/>
                  <a:pt x="15858" y="0"/>
                  <a:pt x="353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5714" rotWithShape="0" algn="bl" dir="5400000" dist="37142">
              <a:srgbClr val="000000">
                <a:alpha val="10196"/>
              </a:srgbClr>
            </a:outerShdw>
          </a:effectLst>
        </p:spPr>
        <p:txBody>
          <a:bodyPr anchorCtr="0" anchor="t" bIns="47975" lIns="95950" spcFirstLastPara="1" rIns="95950" wrap="square" tIns="47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4135087" y="3861717"/>
            <a:ext cx="3854238" cy="43795"/>
          </a:xfrm>
          <a:custGeom>
            <a:rect b="b" l="l" r="r" t="t"/>
            <a:pathLst>
              <a:path extrusionOk="0" h="35390" w="3760232">
                <a:moveTo>
                  <a:pt x="35390" y="0"/>
                </a:moveTo>
                <a:lnTo>
                  <a:pt x="3724842" y="0"/>
                </a:lnTo>
                <a:cubicBezTo>
                  <a:pt x="3744387" y="0"/>
                  <a:pt x="3760232" y="15845"/>
                  <a:pt x="3760232" y="35390"/>
                </a:cubicBezTo>
                <a:lnTo>
                  <a:pt x="3760232" y="35390"/>
                </a:lnTo>
                <a:lnTo>
                  <a:pt x="0" y="35390"/>
                </a:lnTo>
                <a:lnTo>
                  <a:pt x="0" y="35390"/>
                </a:lnTo>
                <a:cubicBezTo>
                  <a:pt x="0" y="15858"/>
                  <a:pt x="15858" y="0"/>
                  <a:pt x="35390" y="0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t" bIns="47975" lIns="95950" spcFirstLastPara="1" rIns="95950" wrap="square" tIns="47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4266438" y="4047580"/>
            <a:ext cx="163238" cy="197081"/>
          </a:xfrm>
          <a:custGeom>
            <a:rect b="b" l="l" r="r" t="t"/>
            <a:pathLst>
              <a:path extrusionOk="0" h="159257" w="159257">
                <a:moveTo>
                  <a:pt x="156333" y="46844"/>
                </a:moveTo>
                <a:lnTo>
                  <a:pt x="126472" y="76705"/>
                </a:lnTo>
                <a:cubicBezTo>
                  <a:pt x="123611" y="79566"/>
                  <a:pt x="119349" y="80406"/>
                  <a:pt x="115617" y="78851"/>
                </a:cubicBezTo>
                <a:cubicBezTo>
                  <a:pt x="111884" y="77296"/>
                  <a:pt x="109489" y="73687"/>
                  <a:pt x="109489" y="69675"/>
                </a:cubicBezTo>
                <a:lnTo>
                  <a:pt x="109489" y="49768"/>
                </a:lnTo>
                <a:lnTo>
                  <a:pt x="9954" y="49768"/>
                </a:lnTo>
                <a:cubicBezTo>
                  <a:pt x="4448" y="49768"/>
                  <a:pt x="0" y="45320"/>
                  <a:pt x="0" y="39814"/>
                </a:cubicBezTo>
                <a:cubicBezTo>
                  <a:pt x="0" y="34309"/>
                  <a:pt x="4448" y="29861"/>
                  <a:pt x="9954" y="29861"/>
                </a:cubicBezTo>
                <a:lnTo>
                  <a:pt x="109489" y="29861"/>
                </a:lnTo>
                <a:lnTo>
                  <a:pt x="109489" y="9954"/>
                </a:lnTo>
                <a:cubicBezTo>
                  <a:pt x="109489" y="5941"/>
                  <a:pt x="111915" y="2302"/>
                  <a:pt x="115648" y="747"/>
                </a:cubicBezTo>
                <a:cubicBezTo>
                  <a:pt x="119380" y="-809"/>
                  <a:pt x="123642" y="62"/>
                  <a:pt x="126503" y="2893"/>
                </a:cubicBezTo>
                <a:lnTo>
                  <a:pt x="156364" y="32753"/>
                </a:lnTo>
                <a:cubicBezTo>
                  <a:pt x="160252" y="36642"/>
                  <a:pt x="160252" y="42956"/>
                  <a:pt x="156364" y="46844"/>
                </a:cubicBezTo>
                <a:close/>
                <a:moveTo>
                  <a:pt x="32753" y="156333"/>
                </a:moveTo>
                <a:lnTo>
                  <a:pt x="2893" y="126472"/>
                </a:lnTo>
                <a:cubicBezTo>
                  <a:pt x="-995" y="122584"/>
                  <a:pt x="-995" y="116270"/>
                  <a:pt x="2893" y="112382"/>
                </a:cubicBezTo>
                <a:lnTo>
                  <a:pt x="32753" y="82521"/>
                </a:lnTo>
                <a:cubicBezTo>
                  <a:pt x="35615" y="79660"/>
                  <a:pt x="39876" y="78820"/>
                  <a:pt x="43609" y="80375"/>
                </a:cubicBezTo>
                <a:cubicBezTo>
                  <a:pt x="47342" y="81930"/>
                  <a:pt x="49768" y="85569"/>
                  <a:pt x="49768" y="89582"/>
                </a:cubicBezTo>
                <a:lnTo>
                  <a:pt x="49768" y="109489"/>
                </a:lnTo>
                <a:lnTo>
                  <a:pt x="149303" y="109489"/>
                </a:lnTo>
                <a:cubicBezTo>
                  <a:pt x="154809" y="109489"/>
                  <a:pt x="159257" y="113937"/>
                  <a:pt x="159257" y="119443"/>
                </a:cubicBezTo>
                <a:cubicBezTo>
                  <a:pt x="159257" y="124948"/>
                  <a:pt x="154809" y="129396"/>
                  <a:pt x="149303" y="129396"/>
                </a:cubicBezTo>
                <a:lnTo>
                  <a:pt x="49768" y="129396"/>
                </a:lnTo>
                <a:lnTo>
                  <a:pt x="49768" y="149303"/>
                </a:lnTo>
                <a:cubicBezTo>
                  <a:pt x="49768" y="153316"/>
                  <a:pt x="47342" y="156955"/>
                  <a:pt x="43609" y="158510"/>
                </a:cubicBezTo>
                <a:cubicBezTo>
                  <a:pt x="39876" y="160066"/>
                  <a:pt x="35615" y="159195"/>
                  <a:pt x="32753" y="156364"/>
                </a:cubicBezTo>
                <a:close/>
              </a:path>
            </a:pathLst>
          </a:custGeom>
          <a:solidFill>
            <a:srgbClr val="F54900"/>
          </a:solidFill>
          <a:ln>
            <a:noFill/>
          </a:ln>
        </p:spPr>
        <p:txBody>
          <a:bodyPr anchorCtr="0" anchor="t" bIns="47975" lIns="95950" spcFirstLastPara="1" rIns="95950" wrap="square" tIns="47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4520095" y="4014775"/>
            <a:ext cx="2315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Switching Costs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4243800" y="4364662"/>
            <a:ext cx="36960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Switching:</a:t>
            </a:r>
            <a:r>
              <a:rPr b="1"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LOW — many alternatives free, minimal setup required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4214191" y="4911549"/>
            <a:ext cx="36960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10007"/>
                </a:solidFill>
                <a:highlight>
                  <a:srgbClr val="FFE2E2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✗ Risk: </a:t>
            </a:r>
            <a:r>
              <a:rPr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If users don't experience immediate value, abandonment before habit formation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4218341" y="5491222"/>
            <a:ext cx="3367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37125" spcFirstLastPara="1" rIns="37125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65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⚠</a:t>
            </a:r>
            <a:r>
              <a:rPr lang="en-US">
                <a:solidFill>
                  <a:srgbClr val="A65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Challenge</a:t>
            </a:r>
            <a:r>
              <a:rPr lang="en-US">
                <a:solidFill>
                  <a:srgbClr val="A65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Must deliver value within first use to overcome adoption friction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8089965" y="3905492"/>
            <a:ext cx="3854238" cy="2518249"/>
          </a:xfrm>
          <a:custGeom>
            <a:rect b="b" l="l" r="r" t="t"/>
            <a:pathLst>
              <a:path extrusionOk="0" h="2034949" w="3760232">
                <a:moveTo>
                  <a:pt x="35390" y="0"/>
                </a:moveTo>
                <a:lnTo>
                  <a:pt x="3724842" y="0"/>
                </a:lnTo>
                <a:cubicBezTo>
                  <a:pt x="3744387" y="0"/>
                  <a:pt x="3760232" y="15845"/>
                  <a:pt x="3760232" y="35390"/>
                </a:cubicBezTo>
                <a:lnTo>
                  <a:pt x="3760232" y="1964174"/>
                </a:lnTo>
                <a:cubicBezTo>
                  <a:pt x="3760232" y="2003262"/>
                  <a:pt x="3728545" y="2034949"/>
                  <a:pt x="3689457" y="2034949"/>
                </a:cubicBezTo>
                <a:lnTo>
                  <a:pt x="70776" y="2034949"/>
                </a:lnTo>
                <a:cubicBezTo>
                  <a:pt x="31687" y="2034949"/>
                  <a:pt x="0" y="2003262"/>
                  <a:pt x="0" y="1964174"/>
                </a:cubicBezTo>
                <a:lnTo>
                  <a:pt x="0" y="35390"/>
                </a:lnTo>
                <a:cubicBezTo>
                  <a:pt x="0" y="15858"/>
                  <a:pt x="15858" y="0"/>
                  <a:pt x="353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5714" rotWithShape="0" algn="bl" dir="5400000" dist="37142">
              <a:srgbClr val="000000">
                <a:alpha val="10196"/>
              </a:srgbClr>
            </a:outerShdw>
          </a:effectLst>
        </p:spPr>
        <p:txBody>
          <a:bodyPr anchorCtr="0" anchor="t" bIns="47975" lIns="95950" spcFirstLastPara="1" rIns="95950" wrap="square" tIns="47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8089965" y="3905492"/>
            <a:ext cx="3854238" cy="43795"/>
          </a:xfrm>
          <a:custGeom>
            <a:rect b="b" l="l" r="r" t="t"/>
            <a:pathLst>
              <a:path extrusionOk="0" h="35390" w="3760232">
                <a:moveTo>
                  <a:pt x="35390" y="0"/>
                </a:moveTo>
                <a:lnTo>
                  <a:pt x="3724842" y="0"/>
                </a:lnTo>
                <a:cubicBezTo>
                  <a:pt x="3744387" y="0"/>
                  <a:pt x="3760232" y="15845"/>
                  <a:pt x="3760232" y="35390"/>
                </a:cubicBezTo>
                <a:lnTo>
                  <a:pt x="3760232" y="35390"/>
                </a:lnTo>
                <a:lnTo>
                  <a:pt x="0" y="35390"/>
                </a:lnTo>
                <a:lnTo>
                  <a:pt x="0" y="35390"/>
                </a:lnTo>
                <a:cubicBezTo>
                  <a:pt x="0" y="15858"/>
                  <a:pt x="15858" y="0"/>
                  <a:pt x="35390" y="0"/>
                </a:cubicBezTo>
                <a:close/>
              </a:path>
            </a:pathLst>
          </a:custGeom>
          <a:solidFill>
            <a:srgbClr val="F0B100"/>
          </a:solidFill>
          <a:ln>
            <a:noFill/>
          </a:ln>
        </p:spPr>
        <p:txBody>
          <a:bodyPr anchorCtr="0" anchor="t" bIns="47975" lIns="95950" spcFirstLastPara="1" rIns="95950" wrap="square" tIns="47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8221317" y="4091355"/>
            <a:ext cx="163238" cy="197081"/>
          </a:xfrm>
          <a:custGeom>
            <a:rect b="b" l="l" r="r" t="t"/>
            <a:pathLst>
              <a:path extrusionOk="0" h="159257" w="159257">
                <a:moveTo>
                  <a:pt x="19907" y="9954"/>
                </a:moveTo>
                <a:cubicBezTo>
                  <a:pt x="8927" y="9954"/>
                  <a:pt x="0" y="18881"/>
                  <a:pt x="0" y="29861"/>
                </a:cubicBezTo>
                <a:lnTo>
                  <a:pt x="0" y="119443"/>
                </a:lnTo>
                <a:cubicBezTo>
                  <a:pt x="0" y="130423"/>
                  <a:pt x="8927" y="139350"/>
                  <a:pt x="19907" y="139350"/>
                </a:cubicBezTo>
                <a:lnTo>
                  <a:pt x="139350" y="139350"/>
                </a:lnTo>
                <a:cubicBezTo>
                  <a:pt x="150330" y="139350"/>
                  <a:pt x="159257" y="130423"/>
                  <a:pt x="159257" y="119443"/>
                </a:cubicBezTo>
                <a:lnTo>
                  <a:pt x="159257" y="59721"/>
                </a:lnTo>
                <a:cubicBezTo>
                  <a:pt x="159257" y="48741"/>
                  <a:pt x="150330" y="39814"/>
                  <a:pt x="139350" y="39814"/>
                </a:cubicBezTo>
                <a:lnTo>
                  <a:pt x="22396" y="39814"/>
                </a:lnTo>
                <a:cubicBezTo>
                  <a:pt x="18259" y="39814"/>
                  <a:pt x="14930" y="36486"/>
                  <a:pt x="14930" y="32349"/>
                </a:cubicBezTo>
                <a:cubicBezTo>
                  <a:pt x="14930" y="28212"/>
                  <a:pt x="18259" y="24884"/>
                  <a:pt x="22396" y="24884"/>
                </a:cubicBezTo>
                <a:lnTo>
                  <a:pt x="141838" y="24884"/>
                </a:lnTo>
                <a:cubicBezTo>
                  <a:pt x="145975" y="24884"/>
                  <a:pt x="149303" y="21556"/>
                  <a:pt x="149303" y="17419"/>
                </a:cubicBezTo>
                <a:cubicBezTo>
                  <a:pt x="149303" y="13282"/>
                  <a:pt x="145975" y="9954"/>
                  <a:pt x="141838" y="9954"/>
                </a:cubicBezTo>
                <a:lnTo>
                  <a:pt x="19907" y="9954"/>
                </a:lnTo>
                <a:close/>
                <a:moveTo>
                  <a:pt x="129396" y="79628"/>
                </a:moveTo>
                <a:cubicBezTo>
                  <a:pt x="134890" y="79628"/>
                  <a:pt x="139350" y="84088"/>
                  <a:pt x="139350" y="89582"/>
                </a:cubicBezTo>
                <a:cubicBezTo>
                  <a:pt x="139350" y="95076"/>
                  <a:pt x="134890" y="99536"/>
                  <a:pt x="129396" y="99536"/>
                </a:cubicBezTo>
                <a:cubicBezTo>
                  <a:pt x="123903" y="99536"/>
                  <a:pt x="119443" y="95076"/>
                  <a:pt x="119443" y="89582"/>
                </a:cubicBezTo>
                <a:cubicBezTo>
                  <a:pt x="119443" y="84088"/>
                  <a:pt x="123903" y="79628"/>
                  <a:pt x="129396" y="79628"/>
                </a:cubicBezTo>
                <a:close/>
              </a:path>
            </a:pathLst>
          </a:custGeom>
          <a:solidFill>
            <a:srgbClr val="D08700"/>
          </a:solidFill>
          <a:ln>
            <a:noFill/>
          </a:ln>
        </p:spPr>
        <p:txBody>
          <a:bodyPr anchorCtr="0" anchor="t" bIns="47975" lIns="95950" spcFirstLastPara="1" rIns="95950" wrap="square" tIns="47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8474939" y="4058550"/>
            <a:ext cx="27453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Willingness to Pay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8198670" y="4408415"/>
            <a:ext cx="36960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Indirect Evidence:</a:t>
            </a:r>
            <a:r>
              <a:rPr b="1"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Users pay for fitness apps, meal kits, grocery delivery, productivity tools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8198670" y="4954737"/>
            <a:ext cx="36960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8236"/>
                </a:solidFill>
                <a:highlight>
                  <a:srgbClr val="DCFCE7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✓: </a:t>
            </a:r>
            <a:r>
              <a:rPr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Users will pay if product clearly saves time or money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8198670" y="5501035"/>
            <a:ext cx="36960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10007"/>
                </a:solidFill>
                <a:highlight>
                  <a:srgbClr val="FFE2E2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✗ : </a:t>
            </a:r>
            <a:r>
              <a:rPr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Will product be perceived as essential rather than optional?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0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6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C78D4E"/>
                </a:solidFill>
                <a:latin typeface="Liter"/>
                <a:ea typeface="Liter"/>
                <a:cs typeface="Liter"/>
                <a:sym typeface="Liter"/>
              </a:rPr>
              <a:t>DELIVERABLE 3.2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317500" y="508000"/>
            <a:ext cx="1167606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A5741"/>
                </a:solidFill>
                <a:latin typeface="Oranienbaum"/>
                <a:ea typeface="Oranienbaum"/>
                <a:cs typeface="Oranienbaum"/>
                <a:sym typeface="Oranienbaum"/>
              </a:rPr>
              <a:t>Product Viability: Technical Feasibility &amp; Differentiation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6"/>
          <p:cNvSpPr/>
          <p:nvPr/>
        </p:nvSpPr>
        <p:spPr>
          <a:xfrm>
            <a:off x="333375" y="1111250"/>
            <a:ext cx="5715000" cy="1732360"/>
          </a:xfrm>
          <a:custGeom>
            <a:rect b="b" l="l" r="r" t="t"/>
            <a:pathLst>
              <a:path extrusionOk="0" h="2309813" w="5715000">
                <a:moveTo>
                  <a:pt x="31750" y="0"/>
                </a:moveTo>
                <a:lnTo>
                  <a:pt x="5651503" y="0"/>
                </a:lnTo>
                <a:cubicBezTo>
                  <a:pt x="5686572" y="0"/>
                  <a:pt x="5715000" y="28428"/>
                  <a:pt x="5715000" y="63497"/>
                </a:cubicBezTo>
                <a:lnTo>
                  <a:pt x="5715000" y="2246316"/>
                </a:lnTo>
                <a:cubicBezTo>
                  <a:pt x="5715000" y="2281384"/>
                  <a:pt x="5686572" y="2309813"/>
                  <a:pt x="5651503" y="2309813"/>
                </a:cubicBezTo>
                <a:lnTo>
                  <a:pt x="31750" y="2309813"/>
                </a:lnTo>
                <a:cubicBezTo>
                  <a:pt x="14215" y="2309813"/>
                  <a:pt x="0" y="2295598"/>
                  <a:pt x="0" y="22780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7625" rotWithShape="0" algn="bl" dir="5400000" dist="3175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6"/>
          <p:cNvSpPr/>
          <p:nvPr/>
        </p:nvSpPr>
        <p:spPr>
          <a:xfrm flipH="1">
            <a:off x="365125" y="1111250"/>
            <a:ext cx="31750" cy="1755458"/>
          </a:xfrm>
          <a:custGeom>
            <a:rect b="b" l="l" r="r" t="t"/>
            <a:pathLst>
              <a:path extrusionOk="0" h="2309813" w="31750">
                <a:moveTo>
                  <a:pt x="31750" y="0"/>
                </a:moveTo>
                <a:lnTo>
                  <a:pt x="31750" y="0"/>
                </a:lnTo>
                <a:lnTo>
                  <a:pt x="31750" y="2309813"/>
                </a:lnTo>
                <a:lnTo>
                  <a:pt x="31750" y="2309813"/>
                </a:lnTo>
                <a:cubicBezTo>
                  <a:pt x="14227" y="2309813"/>
                  <a:pt x="0" y="2295586"/>
                  <a:pt x="0" y="22780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57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6"/>
          <p:cNvSpPr/>
          <p:nvPr/>
        </p:nvSpPr>
        <p:spPr>
          <a:xfrm>
            <a:off x="476250" y="1238250"/>
            <a:ext cx="317500" cy="317500"/>
          </a:xfrm>
          <a:custGeom>
            <a:rect b="b" l="l" r="r" t="t"/>
            <a:pathLst>
              <a:path extrusionOk="0" h="317500" w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4A57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6"/>
          <p:cNvSpPr/>
          <p:nvPr/>
        </p:nvSpPr>
        <p:spPr>
          <a:xfrm>
            <a:off x="565547" y="1325563"/>
            <a:ext cx="142875" cy="142875"/>
          </a:xfrm>
          <a:custGeom>
            <a:rect b="b" l="l" r="r" t="t"/>
            <a:pathLst>
              <a:path extrusionOk="0" h="142875" w="142875">
                <a:moveTo>
                  <a:pt x="40267" y="0"/>
                </a:moveTo>
                <a:lnTo>
                  <a:pt x="102775" y="0"/>
                </a:lnTo>
                <a:cubicBezTo>
                  <a:pt x="110170" y="0"/>
                  <a:pt x="116198" y="6083"/>
                  <a:pt x="115919" y="13450"/>
                </a:cubicBezTo>
                <a:cubicBezTo>
                  <a:pt x="115863" y="14929"/>
                  <a:pt x="115807" y="16408"/>
                  <a:pt x="115723" y="17859"/>
                </a:cubicBezTo>
                <a:lnTo>
                  <a:pt x="129564" y="17859"/>
                </a:lnTo>
                <a:cubicBezTo>
                  <a:pt x="136847" y="17859"/>
                  <a:pt x="143266" y="23887"/>
                  <a:pt x="142708" y="31756"/>
                </a:cubicBezTo>
                <a:cubicBezTo>
                  <a:pt x="140615" y="60694"/>
                  <a:pt x="125825" y="76600"/>
                  <a:pt x="109779" y="84916"/>
                </a:cubicBezTo>
                <a:cubicBezTo>
                  <a:pt x="105370" y="87204"/>
                  <a:pt x="100878" y="88906"/>
                  <a:pt x="96608" y="90162"/>
                </a:cubicBezTo>
                <a:cubicBezTo>
                  <a:pt x="90971" y="98143"/>
                  <a:pt x="85111" y="102357"/>
                  <a:pt x="80451" y="104617"/>
                </a:cubicBezTo>
                <a:lnTo>
                  <a:pt x="80451" y="125016"/>
                </a:lnTo>
                <a:lnTo>
                  <a:pt x="98310" y="125016"/>
                </a:lnTo>
                <a:cubicBezTo>
                  <a:pt x="103250" y="125016"/>
                  <a:pt x="107240" y="129006"/>
                  <a:pt x="107240" y="133945"/>
                </a:cubicBezTo>
                <a:cubicBezTo>
                  <a:pt x="107240" y="138885"/>
                  <a:pt x="103250" y="142875"/>
                  <a:pt x="98310" y="142875"/>
                </a:cubicBezTo>
                <a:lnTo>
                  <a:pt x="44732" y="142875"/>
                </a:lnTo>
                <a:cubicBezTo>
                  <a:pt x="39793" y="142875"/>
                  <a:pt x="35802" y="138885"/>
                  <a:pt x="35802" y="133945"/>
                </a:cubicBezTo>
                <a:cubicBezTo>
                  <a:pt x="35802" y="129006"/>
                  <a:pt x="39793" y="125016"/>
                  <a:pt x="44732" y="125016"/>
                </a:cubicBezTo>
                <a:lnTo>
                  <a:pt x="62592" y="125016"/>
                </a:lnTo>
                <a:lnTo>
                  <a:pt x="62592" y="104617"/>
                </a:lnTo>
                <a:cubicBezTo>
                  <a:pt x="58127" y="102468"/>
                  <a:pt x="52574" y="98478"/>
                  <a:pt x="47160" y="91139"/>
                </a:cubicBezTo>
                <a:cubicBezTo>
                  <a:pt x="42025" y="89799"/>
                  <a:pt x="36444" y="87762"/>
                  <a:pt x="31003" y="84693"/>
                </a:cubicBezTo>
                <a:cubicBezTo>
                  <a:pt x="15906" y="76237"/>
                  <a:pt x="2288" y="60303"/>
                  <a:pt x="335" y="31700"/>
                </a:cubicBezTo>
                <a:cubicBezTo>
                  <a:pt x="-195" y="23859"/>
                  <a:pt x="6195" y="17831"/>
                  <a:pt x="13478" y="17831"/>
                </a:cubicBezTo>
                <a:lnTo>
                  <a:pt x="27319" y="17831"/>
                </a:lnTo>
                <a:cubicBezTo>
                  <a:pt x="27236" y="16380"/>
                  <a:pt x="27180" y="14929"/>
                  <a:pt x="27124" y="13422"/>
                </a:cubicBezTo>
                <a:cubicBezTo>
                  <a:pt x="26845" y="6028"/>
                  <a:pt x="32872" y="-28"/>
                  <a:pt x="40267" y="-28"/>
                </a:cubicBezTo>
                <a:close/>
                <a:moveTo>
                  <a:pt x="28324" y="31254"/>
                </a:moveTo>
                <a:lnTo>
                  <a:pt x="13701" y="31254"/>
                </a:lnTo>
                <a:cubicBezTo>
                  <a:pt x="15432" y="54890"/>
                  <a:pt x="26287" y="66722"/>
                  <a:pt x="37477" y="73000"/>
                </a:cubicBezTo>
                <a:cubicBezTo>
                  <a:pt x="33458" y="62592"/>
                  <a:pt x="30138" y="49002"/>
                  <a:pt x="28324" y="31254"/>
                </a:cubicBezTo>
                <a:close/>
                <a:moveTo>
                  <a:pt x="106040" y="71661"/>
                </a:moveTo>
                <a:cubicBezTo>
                  <a:pt x="117342" y="65019"/>
                  <a:pt x="127555" y="53215"/>
                  <a:pt x="129285" y="31254"/>
                </a:cubicBezTo>
                <a:lnTo>
                  <a:pt x="114691" y="31254"/>
                </a:lnTo>
                <a:cubicBezTo>
                  <a:pt x="112961" y="48248"/>
                  <a:pt x="109835" y="61447"/>
                  <a:pt x="106040" y="7166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6"/>
          <p:cNvSpPr/>
          <p:nvPr/>
        </p:nvSpPr>
        <p:spPr>
          <a:xfrm>
            <a:off x="889000" y="1285875"/>
            <a:ext cx="2508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25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Meaningful Superiority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6"/>
          <p:cNvSpPr/>
          <p:nvPr/>
        </p:nvSpPr>
        <p:spPr>
          <a:xfrm>
            <a:off x="476250" y="1651000"/>
            <a:ext cx="55008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Claim:</a:t>
            </a:r>
            <a:r>
              <a:rPr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Integration of pantry + budget + nutrition + AI reduces cognitive load vs. switching between multiple apps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6"/>
          <p:cNvSpPr/>
          <p:nvPr/>
        </p:nvSpPr>
        <p:spPr>
          <a:xfrm>
            <a:off x="440463" y="2243341"/>
            <a:ext cx="5500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8236"/>
                </a:solidFill>
                <a:highlight>
                  <a:srgbClr val="DCFCE7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✓ Advantage:</a:t>
            </a:r>
            <a:r>
              <a:rPr lang="en-US">
                <a:solidFill>
                  <a:srgbClr val="008236"/>
                </a:solidFill>
                <a:highlight>
                  <a:srgbClr val="DCFCE7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Single decision point vs. 3-4 separate tools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6159500" y="1111250"/>
            <a:ext cx="5715000" cy="1732360"/>
          </a:xfrm>
          <a:custGeom>
            <a:rect b="b" l="l" r="r" t="t"/>
            <a:pathLst>
              <a:path extrusionOk="0" h="2309813" w="5715000">
                <a:moveTo>
                  <a:pt x="31750" y="0"/>
                </a:moveTo>
                <a:lnTo>
                  <a:pt x="5651503" y="0"/>
                </a:lnTo>
                <a:cubicBezTo>
                  <a:pt x="5686572" y="0"/>
                  <a:pt x="5715000" y="28428"/>
                  <a:pt x="5715000" y="63497"/>
                </a:cubicBezTo>
                <a:lnTo>
                  <a:pt x="5715000" y="2246316"/>
                </a:lnTo>
                <a:cubicBezTo>
                  <a:pt x="5715000" y="2281384"/>
                  <a:pt x="5686572" y="2309813"/>
                  <a:pt x="5651503" y="2309813"/>
                </a:cubicBezTo>
                <a:lnTo>
                  <a:pt x="31750" y="2309813"/>
                </a:lnTo>
                <a:cubicBezTo>
                  <a:pt x="14215" y="2309813"/>
                  <a:pt x="0" y="2295598"/>
                  <a:pt x="0" y="22780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7625" rotWithShape="0" algn="bl" dir="5400000" dist="3175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6"/>
          <p:cNvSpPr/>
          <p:nvPr/>
        </p:nvSpPr>
        <p:spPr>
          <a:xfrm>
            <a:off x="6159500" y="1111250"/>
            <a:ext cx="31750" cy="1732360"/>
          </a:xfrm>
          <a:custGeom>
            <a:rect b="b" l="l" r="r" t="t"/>
            <a:pathLst>
              <a:path extrusionOk="0" h="2309813" w="31750">
                <a:moveTo>
                  <a:pt x="31750" y="0"/>
                </a:moveTo>
                <a:lnTo>
                  <a:pt x="31750" y="0"/>
                </a:lnTo>
                <a:lnTo>
                  <a:pt x="31750" y="2309813"/>
                </a:lnTo>
                <a:lnTo>
                  <a:pt x="31750" y="2309813"/>
                </a:lnTo>
                <a:cubicBezTo>
                  <a:pt x="14227" y="2309813"/>
                  <a:pt x="0" y="2295586"/>
                  <a:pt x="0" y="22780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8D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6"/>
          <p:cNvSpPr/>
          <p:nvPr/>
        </p:nvSpPr>
        <p:spPr>
          <a:xfrm>
            <a:off x="6302375" y="1238250"/>
            <a:ext cx="317500" cy="317500"/>
          </a:xfrm>
          <a:custGeom>
            <a:rect b="b" l="l" r="r" t="t"/>
            <a:pathLst>
              <a:path extrusionOk="0" h="317500" w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78D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6"/>
          <p:cNvSpPr/>
          <p:nvPr/>
        </p:nvSpPr>
        <p:spPr>
          <a:xfrm>
            <a:off x="6373813" y="1325563"/>
            <a:ext cx="178594" cy="142875"/>
          </a:xfrm>
          <a:custGeom>
            <a:rect b="b" l="l" r="r" t="t"/>
            <a:pathLst>
              <a:path extrusionOk="0" h="142875" w="178594">
                <a:moveTo>
                  <a:pt x="116058" y="58741"/>
                </a:moveTo>
                <a:cubicBezTo>
                  <a:pt x="119462" y="57820"/>
                  <a:pt x="123034" y="59438"/>
                  <a:pt x="124569" y="62592"/>
                </a:cubicBezTo>
                <a:lnTo>
                  <a:pt x="129760" y="73084"/>
                </a:lnTo>
                <a:cubicBezTo>
                  <a:pt x="132634" y="73475"/>
                  <a:pt x="135452" y="74256"/>
                  <a:pt x="138103" y="75344"/>
                </a:cubicBezTo>
                <a:lnTo>
                  <a:pt x="147870" y="68842"/>
                </a:lnTo>
                <a:cubicBezTo>
                  <a:pt x="150800" y="66889"/>
                  <a:pt x="154679" y="67280"/>
                  <a:pt x="157162" y="69763"/>
                </a:cubicBezTo>
                <a:lnTo>
                  <a:pt x="162520" y="75121"/>
                </a:lnTo>
                <a:cubicBezTo>
                  <a:pt x="165004" y="77605"/>
                  <a:pt x="165395" y="81511"/>
                  <a:pt x="163441" y="84413"/>
                </a:cubicBezTo>
                <a:lnTo>
                  <a:pt x="156939" y="94152"/>
                </a:lnTo>
                <a:cubicBezTo>
                  <a:pt x="157469" y="95464"/>
                  <a:pt x="157944" y="96831"/>
                  <a:pt x="158335" y="98254"/>
                </a:cubicBezTo>
                <a:cubicBezTo>
                  <a:pt x="158725" y="99678"/>
                  <a:pt x="158976" y="101073"/>
                  <a:pt x="159172" y="102496"/>
                </a:cubicBezTo>
                <a:lnTo>
                  <a:pt x="169692" y="107686"/>
                </a:lnTo>
                <a:cubicBezTo>
                  <a:pt x="172845" y="109249"/>
                  <a:pt x="174464" y="112821"/>
                  <a:pt x="173543" y="116198"/>
                </a:cubicBezTo>
                <a:lnTo>
                  <a:pt x="171590" y="123509"/>
                </a:lnTo>
                <a:cubicBezTo>
                  <a:pt x="170669" y="126885"/>
                  <a:pt x="167515" y="129174"/>
                  <a:pt x="163999" y="128950"/>
                </a:cubicBezTo>
                <a:lnTo>
                  <a:pt x="152279" y="128197"/>
                </a:lnTo>
                <a:cubicBezTo>
                  <a:pt x="150521" y="130457"/>
                  <a:pt x="148484" y="132550"/>
                  <a:pt x="146168" y="134336"/>
                </a:cubicBezTo>
                <a:lnTo>
                  <a:pt x="146921" y="146028"/>
                </a:lnTo>
                <a:cubicBezTo>
                  <a:pt x="147145" y="149544"/>
                  <a:pt x="144856" y="152726"/>
                  <a:pt x="141480" y="153619"/>
                </a:cubicBezTo>
                <a:lnTo>
                  <a:pt x="134169" y="155572"/>
                </a:lnTo>
                <a:cubicBezTo>
                  <a:pt x="130764" y="156493"/>
                  <a:pt x="127220" y="154874"/>
                  <a:pt x="125657" y="151721"/>
                </a:cubicBezTo>
                <a:lnTo>
                  <a:pt x="120467" y="141229"/>
                </a:lnTo>
                <a:cubicBezTo>
                  <a:pt x="117593" y="140838"/>
                  <a:pt x="114774" y="140057"/>
                  <a:pt x="112123" y="138968"/>
                </a:cubicBezTo>
                <a:lnTo>
                  <a:pt x="102357" y="145470"/>
                </a:lnTo>
                <a:cubicBezTo>
                  <a:pt x="99426" y="147424"/>
                  <a:pt x="95548" y="147033"/>
                  <a:pt x="93064" y="144549"/>
                </a:cubicBezTo>
                <a:lnTo>
                  <a:pt x="87706" y="139192"/>
                </a:lnTo>
                <a:cubicBezTo>
                  <a:pt x="85223" y="136708"/>
                  <a:pt x="84832" y="132829"/>
                  <a:pt x="86785" y="129899"/>
                </a:cubicBezTo>
                <a:lnTo>
                  <a:pt x="93287" y="120132"/>
                </a:lnTo>
                <a:cubicBezTo>
                  <a:pt x="92757" y="118821"/>
                  <a:pt x="92283" y="117453"/>
                  <a:pt x="91892" y="116030"/>
                </a:cubicBezTo>
                <a:cubicBezTo>
                  <a:pt x="91501" y="114607"/>
                  <a:pt x="91250" y="113184"/>
                  <a:pt x="91055" y="111789"/>
                </a:cubicBezTo>
                <a:lnTo>
                  <a:pt x="80535" y="106598"/>
                </a:lnTo>
                <a:cubicBezTo>
                  <a:pt x="77381" y="105035"/>
                  <a:pt x="75791" y="101464"/>
                  <a:pt x="76684" y="98087"/>
                </a:cubicBezTo>
                <a:lnTo>
                  <a:pt x="78637" y="90776"/>
                </a:lnTo>
                <a:cubicBezTo>
                  <a:pt x="79558" y="87399"/>
                  <a:pt x="82711" y="85111"/>
                  <a:pt x="86227" y="85334"/>
                </a:cubicBezTo>
                <a:lnTo>
                  <a:pt x="97920" y="86088"/>
                </a:lnTo>
                <a:cubicBezTo>
                  <a:pt x="99678" y="83827"/>
                  <a:pt x="101715" y="81735"/>
                  <a:pt x="104031" y="79949"/>
                </a:cubicBezTo>
                <a:lnTo>
                  <a:pt x="103277" y="68284"/>
                </a:lnTo>
                <a:cubicBezTo>
                  <a:pt x="103054" y="64768"/>
                  <a:pt x="105342" y="61587"/>
                  <a:pt x="108719" y="60694"/>
                </a:cubicBezTo>
                <a:lnTo>
                  <a:pt x="116030" y="58741"/>
                </a:lnTo>
                <a:close/>
                <a:moveTo>
                  <a:pt x="125127" y="94878"/>
                </a:moveTo>
                <a:cubicBezTo>
                  <a:pt x="118351" y="94886"/>
                  <a:pt x="112855" y="100394"/>
                  <a:pt x="112863" y="107170"/>
                </a:cubicBezTo>
                <a:cubicBezTo>
                  <a:pt x="112871" y="113947"/>
                  <a:pt x="118379" y="119442"/>
                  <a:pt x="125155" y="119435"/>
                </a:cubicBezTo>
                <a:cubicBezTo>
                  <a:pt x="131932" y="119427"/>
                  <a:pt x="137427" y="113919"/>
                  <a:pt x="137420" y="107142"/>
                </a:cubicBezTo>
                <a:cubicBezTo>
                  <a:pt x="137412" y="100366"/>
                  <a:pt x="131904" y="94870"/>
                  <a:pt x="125127" y="94878"/>
                </a:cubicBezTo>
                <a:close/>
                <a:moveTo>
                  <a:pt x="62759" y="-12697"/>
                </a:moveTo>
                <a:lnTo>
                  <a:pt x="70070" y="-10744"/>
                </a:lnTo>
                <a:cubicBezTo>
                  <a:pt x="73447" y="-9823"/>
                  <a:pt x="75735" y="-6641"/>
                  <a:pt x="75512" y="-3153"/>
                </a:cubicBezTo>
                <a:lnTo>
                  <a:pt x="74758" y="8511"/>
                </a:lnTo>
                <a:cubicBezTo>
                  <a:pt x="77074" y="10297"/>
                  <a:pt x="79111" y="12362"/>
                  <a:pt x="80869" y="14650"/>
                </a:cubicBezTo>
                <a:lnTo>
                  <a:pt x="92590" y="13897"/>
                </a:lnTo>
                <a:cubicBezTo>
                  <a:pt x="96078" y="13674"/>
                  <a:pt x="99259" y="15962"/>
                  <a:pt x="100180" y="19338"/>
                </a:cubicBezTo>
                <a:lnTo>
                  <a:pt x="102133" y="26650"/>
                </a:lnTo>
                <a:cubicBezTo>
                  <a:pt x="103026" y="30026"/>
                  <a:pt x="101436" y="33598"/>
                  <a:pt x="98282" y="35161"/>
                </a:cubicBezTo>
                <a:lnTo>
                  <a:pt x="87762" y="40351"/>
                </a:lnTo>
                <a:cubicBezTo>
                  <a:pt x="87567" y="41774"/>
                  <a:pt x="87288" y="43197"/>
                  <a:pt x="86925" y="44593"/>
                </a:cubicBezTo>
                <a:cubicBezTo>
                  <a:pt x="86562" y="45988"/>
                  <a:pt x="86060" y="47383"/>
                  <a:pt x="85530" y="48695"/>
                </a:cubicBezTo>
                <a:lnTo>
                  <a:pt x="92032" y="58462"/>
                </a:lnTo>
                <a:cubicBezTo>
                  <a:pt x="93985" y="61392"/>
                  <a:pt x="93594" y="65270"/>
                  <a:pt x="91111" y="67754"/>
                </a:cubicBezTo>
                <a:lnTo>
                  <a:pt x="85753" y="73112"/>
                </a:lnTo>
                <a:cubicBezTo>
                  <a:pt x="83269" y="75595"/>
                  <a:pt x="79391" y="75986"/>
                  <a:pt x="76460" y="74033"/>
                </a:cubicBezTo>
                <a:lnTo>
                  <a:pt x="66694" y="67531"/>
                </a:lnTo>
                <a:cubicBezTo>
                  <a:pt x="64043" y="68619"/>
                  <a:pt x="61224" y="69400"/>
                  <a:pt x="58350" y="69791"/>
                </a:cubicBezTo>
                <a:lnTo>
                  <a:pt x="53160" y="80283"/>
                </a:lnTo>
                <a:cubicBezTo>
                  <a:pt x="51597" y="83437"/>
                  <a:pt x="48025" y="85027"/>
                  <a:pt x="44648" y="84134"/>
                </a:cubicBezTo>
                <a:lnTo>
                  <a:pt x="37337" y="82181"/>
                </a:lnTo>
                <a:cubicBezTo>
                  <a:pt x="33933" y="81260"/>
                  <a:pt x="31672" y="78079"/>
                  <a:pt x="31896" y="74591"/>
                </a:cubicBezTo>
                <a:lnTo>
                  <a:pt x="32649" y="62898"/>
                </a:lnTo>
                <a:cubicBezTo>
                  <a:pt x="30333" y="61113"/>
                  <a:pt x="28296" y="59048"/>
                  <a:pt x="26538" y="56759"/>
                </a:cubicBezTo>
                <a:lnTo>
                  <a:pt x="14818" y="57513"/>
                </a:lnTo>
                <a:cubicBezTo>
                  <a:pt x="11330" y="57736"/>
                  <a:pt x="8148" y="55448"/>
                  <a:pt x="7227" y="52071"/>
                </a:cubicBezTo>
                <a:lnTo>
                  <a:pt x="5274" y="44760"/>
                </a:lnTo>
                <a:cubicBezTo>
                  <a:pt x="4381" y="41384"/>
                  <a:pt x="5972" y="37812"/>
                  <a:pt x="9125" y="36249"/>
                </a:cubicBezTo>
                <a:lnTo>
                  <a:pt x="19645" y="31059"/>
                </a:lnTo>
                <a:cubicBezTo>
                  <a:pt x="19841" y="29635"/>
                  <a:pt x="20120" y="28240"/>
                  <a:pt x="20482" y="26817"/>
                </a:cubicBezTo>
                <a:cubicBezTo>
                  <a:pt x="20873" y="25394"/>
                  <a:pt x="21320" y="24026"/>
                  <a:pt x="21878" y="22715"/>
                </a:cubicBezTo>
                <a:lnTo>
                  <a:pt x="15376" y="12976"/>
                </a:lnTo>
                <a:cubicBezTo>
                  <a:pt x="13422" y="10046"/>
                  <a:pt x="13813" y="6167"/>
                  <a:pt x="16297" y="3683"/>
                </a:cubicBezTo>
                <a:lnTo>
                  <a:pt x="21654" y="-1674"/>
                </a:lnTo>
                <a:cubicBezTo>
                  <a:pt x="24138" y="-4158"/>
                  <a:pt x="28017" y="-4549"/>
                  <a:pt x="30947" y="-2595"/>
                </a:cubicBezTo>
                <a:lnTo>
                  <a:pt x="40714" y="3907"/>
                </a:lnTo>
                <a:cubicBezTo>
                  <a:pt x="43365" y="2818"/>
                  <a:pt x="46183" y="2037"/>
                  <a:pt x="49057" y="1646"/>
                </a:cubicBezTo>
                <a:lnTo>
                  <a:pt x="54248" y="-8846"/>
                </a:lnTo>
                <a:cubicBezTo>
                  <a:pt x="55811" y="-11999"/>
                  <a:pt x="59355" y="-13590"/>
                  <a:pt x="62759" y="-12697"/>
                </a:cubicBezTo>
                <a:close/>
                <a:moveTo>
                  <a:pt x="53690" y="23440"/>
                </a:moveTo>
                <a:cubicBezTo>
                  <a:pt x="46913" y="23440"/>
                  <a:pt x="41411" y="28942"/>
                  <a:pt x="41411" y="35719"/>
                </a:cubicBezTo>
                <a:cubicBezTo>
                  <a:pt x="41411" y="42495"/>
                  <a:pt x="46913" y="47997"/>
                  <a:pt x="53690" y="47997"/>
                </a:cubicBezTo>
                <a:cubicBezTo>
                  <a:pt x="60466" y="47997"/>
                  <a:pt x="65968" y="42495"/>
                  <a:pt x="65968" y="35719"/>
                </a:cubicBezTo>
                <a:cubicBezTo>
                  <a:pt x="65968" y="28942"/>
                  <a:pt x="60466" y="23440"/>
                  <a:pt x="53690" y="2344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6"/>
          <p:cNvSpPr/>
          <p:nvPr/>
        </p:nvSpPr>
        <p:spPr>
          <a:xfrm>
            <a:off x="6715125" y="1285875"/>
            <a:ext cx="29409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Technical Feasibility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6"/>
          <p:cNvSpPr/>
          <p:nvPr/>
        </p:nvSpPr>
        <p:spPr>
          <a:xfrm>
            <a:off x="6429375" y="1630613"/>
            <a:ext cx="55008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Components:</a:t>
            </a:r>
            <a:r>
              <a:rPr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Recommendation systems, OCR receipt scanning, analytics dashboards — all technically feasible with existing tech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6409475" y="2202588"/>
            <a:ext cx="5373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</a:t>
            </a:r>
            <a:r>
              <a:rPr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frastructure costs ,</a:t>
            </a:r>
            <a:r>
              <a:rPr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strong UX design required, ,external integrations, Ongoing AI model improvements &amp; monitoring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75">
              <a:solidFill>
                <a:srgbClr val="3D3A3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7" name="Google Shape;497;p16"/>
          <p:cNvSpPr/>
          <p:nvPr/>
        </p:nvSpPr>
        <p:spPr>
          <a:xfrm>
            <a:off x="369150" y="3018800"/>
            <a:ext cx="5715000" cy="1756252"/>
          </a:xfrm>
          <a:custGeom>
            <a:rect b="b" l="l" r="r" t="t"/>
            <a:pathLst>
              <a:path extrusionOk="0" h="2373313" w="5715000">
                <a:moveTo>
                  <a:pt x="31750" y="0"/>
                </a:moveTo>
                <a:lnTo>
                  <a:pt x="5651490" y="0"/>
                </a:lnTo>
                <a:cubicBezTo>
                  <a:pt x="5686566" y="0"/>
                  <a:pt x="5715000" y="28434"/>
                  <a:pt x="5715000" y="63510"/>
                </a:cubicBezTo>
                <a:lnTo>
                  <a:pt x="5715000" y="2309803"/>
                </a:lnTo>
                <a:cubicBezTo>
                  <a:pt x="5715000" y="2344878"/>
                  <a:pt x="5686566" y="2373312"/>
                  <a:pt x="5651490" y="2373313"/>
                </a:cubicBezTo>
                <a:lnTo>
                  <a:pt x="31750" y="2373313"/>
                </a:lnTo>
                <a:cubicBezTo>
                  <a:pt x="14227" y="2373313"/>
                  <a:pt x="0" y="2359086"/>
                  <a:pt x="0" y="2341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7625" rotWithShape="0" algn="bl" dir="5400000" dist="3175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369150" y="3018800"/>
            <a:ext cx="31750" cy="1756252"/>
          </a:xfrm>
          <a:custGeom>
            <a:rect b="b" l="l" r="r" t="t"/>
            <a:pathLst>
              <a:path extrusionOk="0" h="2373313" w="31750">
                <a:moveTo>
                  <a:pt x="31750" y="0"/>
                </a:moveTo>
                <a:lnTo>
                  <a:pt x="31750" y="0"/>
                </a:lnTo>
                <a:lnTo>
                  <a:pt x="31750" y="2373313"/>
                </a:lnTo>
                <a:lnTo>
                  <a:pt x="31750" y="2373313"/>
                </a:lnTo>
                <a:cubicBezTo>
                  <a:pt x="14227" y="2373313"/>
                  <a:pt x="0" y="2359086"/>
                  <a:pt x="0" y="2341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8B1A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6"/>
          <p:cNvSpPr/>
          <p:nvPr/>
        </p:nvSpPr>
        <p:spPr>
          <a:xfrm>
            <a:off x="512025" y="3124983"/>
            <a:ext cx="317500" cy="265113"/>
          </a:xfrm>
          <a:custGeom>
            <a:rect b="b" l="l" r="r" t="t"/>
            <a:pathLst>
              <a:path extrusionOk="0" h="317500" w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B8B1A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6"/>
          <p:cNvSpPr/>
          <p:nvPr/>
        </p:nvSpPr>
        <p:spPr>
          <a:xfrm>
            <a:off x="601322" y="3197984"/>
            <a:ext cx="142875" cy="119301"/>
          </a:xfrm>
          <a:custGeom>
            <a:rect b="b" l="l" r="r" t="t"/>
            <a:pathLst>
              <a:path extrusionOk="0" h="142875" w="142875">
                <a:moveTo>
                  <a:pt x="71438" y="0"/>
                </a:moveTo>
                <a:cubicBezTo>
                  <a:pt x="72721" y="0"/>
                  <a:pt x="74005" y="279"/>
                  <a:pt x="75177" y="809"/>
                </a:cubicBezTo>
                <a:lnTo>
                  <a:pt x="127750" y="23106"/>
                </a:lnTo>
                <a:cubicBezTo>
                  <a:pt x="133890" y="25701"/>
                  <a:pt x="138466" y="31756"/>
                  <a:pt x="138438" y="39067"/>
                </a:cubicBezTo>
                <a:cubicBezTo>
                  <a:pt x="138299" y="66749"/>
                  <a:pt x="126913" y="117397"/>
                  <a:pt x="78832" y="140419"/>
                </a:cubicBezTo>
                <a:cubicBezTo>
                  <a:pt x="74172" y="142652"/>
                  <a:pt x="68759" y="142652"/>
                  <a:pt x="64098" y="140419"/>
                </a:cubicBezTo>
                <a:cubicBezTo>
                  <a:pt x="15990" y="117397"/>
                  <a:pt x="4632" y="66749"/>
                  <a:pt x="4493" y="39067"/>
                </a:cubicBezTo>
                <a:cubicBezTo>
                  <a:pt x="4465" y="31756"/>
                  <a:pt x="9041" y="25701"/>
                  <a:pt x="15180" y="23106"/>
                </a:cubicBezTo>
                <a:lnTo>
                  <a:pt x="67726" y="809"/>
                </a:lnTo>
                <a:cubicBezTo>
                  <a:pt x="68898" y="279"/>
                  <a:pt x="70154" y="0"/>
                  <a:pt x="71438" y="0"/>
                </a:cubicBezTo>
                <a:close/>
                <a:moveTo>
                  <a:pt x="71438" y="18641"/>
                </a:moveTo>
                <a:lnTo>
                  <a:pt x="71438" y="124151"/>
                </a:lnTo>
                <a:cubicBezTo>
                  <a:pt x="109947" y="105510"/>
                  <a:pt x="120300" y="64210"/>
                  <a:pt x="120551" y="39486"/>
                </a:cubicBezTo>
                <a:lnTo>
                  <a:pt x="71438" y="18669"/>
                </a:lnTo>
                <a:lnTo>
                  <a:pt x="71438" y="1866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6"/>
          <p:cNvSpPr/>
          <p:nvPr/>
        </p:nvSpPr>
        <p:spPr>
          <a:xfrm>
            <a:off x="924775" y="3164791"/>
            <a:ext cx="28896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Sustainable Differentiation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512025" y="3470105"/>
            <a:ext cx="550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Current Advantage:</a:t>
            </a:r>
            <a:r>
              <a:rPr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Multi-feature integration, context-aware AI, learning preferences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512025" y="3976560"/>
            <a:ext cx="2999400" cy="1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Long-term Defensibility Requires: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674950" y="4223350"/>
            <a:ext cx="53736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Proprietary user data &amp; behavior patterns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639025" y="4400841"/>
            <a:ext cx="53736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Strategic partnerships (grocers, health brands)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6159500" y="3049975"/>
            <a:ext cx="5715000" cy="1732518"/>
          </a:xfrm>
          <a:custGeom>
            <a:rect b="b" l="l" r="r" t="t"/>
            <a:pathLst>
              <a:path extrusionOk="0" h="2373313" w="5715000">
                <a:moveTo>
                  <a:pt x="31750" y="0"/>
                </a:moveTo>
                <a:lnTo>
                  <a:pt x="5651490" y="0"/>
                </a:lnTo>
                <a:cubicBezTo>
                  <a:pt x="5686566" y="0"/>
                  <a:pt x="5715000" y="28434"/>
                  <a:pt x="5715000" y="63510"/>
                </a:cubicBezTo>
                <a:lnTo>
                  <a:pt x="5715000" y="2309803"/>
                </a:lnTo>
                <a:cubicBezTo>
                  <a:pt x="5715000" y="2344878"/>
                  <a:pt x="5686566" y="2373312"/>
                  <a:pt x="5651490" y="2373313"/>
                </a:cubicBezTo>
                <a:lnTo>
                  <a:pt x="31750" y="2373313"/>
                </a:lnTo>
                <a:cubicBezTo>
                  <a:pt x="14227" y="2373313"/>
                  <a:pt x="0" y="2359086"/>
                  <a:pt x="0" y="2341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7625" rotWithShape="0" algn="bl" dir="5400000" dist="3175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6159500" y="3049975"/>
            <a:ext cx="31750" cy="1756252"/>
          </a:xfrm>
          <a:custGeom>
            <a:rect b="b" l="l" r="r" t="t"/>
            <a:pathLst>
              <a:path extrusionOk="0" h="2373313" w="31750">
                <a:moveTo>
                  <a:pt x="31750" y="0"/>
                </a:moveTo>
                <a:lnTo>
                  <a:pt x="31750" y="0"/>
                </a:lnTo>
                <a:lnTo>
                  <a:pt x="31750" y="2373313"/>
                </a:lnTo>
                <a:lnTo>
                  <a:pt x="31750" y="2373313"/>
                </a:lnTo>
                <a:cubicBezTo>
                  <a:pt x="14227" y="2373313"/>
                  <a:pt x="0" y="2359086"/>
                  <a:pt x="0" y="2341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B2C3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6302375" y="3143912"/>
            <a:ext cx="317500" cy="234950"/>
          </a:xfrm>
          <a:custGeom>
            <a:rect b="b" l="l" r="r" t="t"/>
            <a:pathLst>
              <a:path extrusionOk="0" h="317500" w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FFE2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6"/>
          <p:cNvSpPr/>
          <p:nvPr/>
        </p:nvSpPr>
        <p:spPr>
          <a:xfrm>
            <a:off x="6373813" y="3208494"/>
            <a:ext cx="178594" cy="105727"/>
          </a:xfrm>
          <a:custGeom>
            <a:rect b="b" l="l" r="r" t="t"/>
            <a:pathLst>
              <a:path extrusionOk="0" h="142875" w="178594">
                <a:moveTo>
                  <a:pt x="98227" y="0"/>
                </a:moveTo>
                <a:cubicBezTo>
                  <a:pt x="98227" y="-4939"/>
                  <a:pt x="94236" y="-8930"/>
                  <a:pt x="89297" y="-8930"/>
                </a:cubicBezTo>
                <a:cubicBezTo>
                  <a:pt x="84358" y="-8930"/>
                  <a:pt x="80367" y="-4939"/>
                  <a:pt x="80367" y="0"/>
                </a:cubicBezTo>
                <a:lnTo>
                  <a:pt x="80367" y="17859"/>
                </a:lnTo>
                <a:lnTo>
                  <a:pt x="53578" y="17859"/>
                </a:lnTo>
                <a:cubicBezTo>
                  <a:pt x="38788" y="17859"/>
                  <a:pt x="26789" y="29859"/>
                  <a:pt x="26789" y="44648"/>
                </a:cubicBezTo>
                <a:lnTo>
                  <a:pt x="26789" y="107156"/>
                </a:lnTo>
                <a:cubicBezTo>
                  <a:pt x="26789" y="121946"/>
                  <a:pt x="38788" y="133945"/>
                  <a:pt x="53578" y="133945"/>
                </a:cubicBezTo>
                <a:lnTo>
                  <a:pt x="125016" y="133945"/>
                </a:lnTo>
                <a:cubicBezTo>
                  <a:pt x="139805" y="133945"/>
                  <a:pt x="151805" y="121946"/>
                  <a:pt x="151805" y="107156"/>
                </a:cubicBezTo>
                <a:lnTo>
                  <a:pt x="151805" y="44648"/>
                </a:lnTo>
                <a:cubicBezTo>
                  <a:pt x="151805" y="29859"/>
                  <a:pt x="139805" y="17859"/>
                  <a:pt x="125016" y="17859"/>
                </a:cubicBezTo>
                <a:lnTo>
                  <a:pt x="98227" y="17859"/>
                </a:lnTo>
                <a:lnTo>
                  <a:pt x="98227" y="0"/>
                </a:lnTo>
                <a:close/>
                <a:moveTo>
                  <a:pt x="44648" y="102691"/>
                </a:moveTo>
                <a:cubicBezTo>
                  <a:pt x="44648" y="98980"/>
                  <a:pt x="47634" y="95994"/>
                  <a:pt x="51346" y="95994"/>
                </a:cubicBezTo>
                <a:lnTo>
                  <a:pt x="60275" y="95994"/>
                </a:lnTo>
                <a:cubicBezTo>
                  <a:pt x="63987" y="95994"/>
                  <a:pt x="66973" y="98980"/>
                  <a:pt x="66973" y="102691"/>
                </a:cubicBezTo>
                <a:cubicBezTo>
                  <a:pt x="66973" y="106403"/>
                  <a:pt x="63987" y="109389"/>
                  <a:pt x="60275" y="109389"/>
                </a:cubicBezTo>
                <a:lnTo>
                  <a:pt x="51346" y="109389"/>
                </a:lnTo>
                <a:cubicBezTo>
                  <a:pt x="47634" y="109389"/>
                  <a:pt x="44648" y="106403"/>
                  <a:pt x="44648" y="102691"/>
                </a:cubicBezTo>
                <a:close/>
                <a:moveTo>
                  <a:pt x="78135" y="102691"/>
                </a:moveTo>
                <a:cubicBezTo>
                  <a:pt x="78135" y="98980"/>
                  <a:pt x="81121" y="95994"/>
                  <a:pt x="84832" y="95994"/>
                </a:cubicBezTo>
                <a:lnTo>
                  <a:pt x="93762" y="95994"/>
                </a:lnTo>
                <a:cubicBezTo>
                  <a:pt x="97473" y="95994"/>
                  <a:pt x="100459" y="98980"/>
                  <a:pt x="100459" y="102691"/>
                </a:cubicBezTo>
                <a:cubicBezTo>
                  <a:pt x="100459" y="106403"/>
                  <a:pt x="97473" y="109389"/>
                  <a:pt x="93762" y="109389"/>
                </a:cubicBezTo>
                <a:lnTo>
                  <a:pt x="84832" y="109389"/>
                </a:lnTo>
                <a:cubicBezTo>
                  <a:pt x="81121" y="109389"/>
                  <a:pt x="78135" y="106403"/>
                  <a:pt x="78135" y="102691"/>
                </a:cubicBezTo>
                <a:close/>
                <a:moveTo>
                  <a:pt x="111621" y="102691"/>
                </a:moveTo>
                <a:cubicBezTo>
                  <a:pt x="111621" y="98980"/>
                  <a:pt x="114607" y="95994"/>
                  <a:pt x="118318" y="95994"/>
                </a:cubicBezTo>
                <a:lnTo>
                  <a:pt x="127248" y="95994"/>
                </a:lnTo>
                <a:cubicBezTo>
                  <a:pt x="130959" y="95994"/>
                  <a:pt x="133945" y="98980"/>
                  <a:pt x="133945" y="102691"/>
                </a:cubicBezTo>
                <a:cubicBezTo>
                  <a:pt x="133945" y="106403"/>
                  <a:pt x="130959" y="109389"/>
                  <a:pt x="127248" y="109389"/>
                </a:cubicBezTo>
                <a:lnTo>
                  <a:pt x="118318" y="109389"/>
                </a:lnTo>
                <a:cubicBezTo>
                  <a:pt x="114607" y="109389"/>
                  <a:pt x="111621" y="106403"/>
                  <a:pt x="111621" y="102691"/>
                </a:cubicBezTo>
                <a:close/>
                <a:moveTo>
                  <a:pt x="62508" y="49113"/>
                </a:moveTo>
                <a:cubicBezTo>
                  <a:pt x="69900" y="49113"/>
                  <a:pt x="75902" y="55115"/>
                  <a:pt x="75902" y="62508"/>
                </a:cubicBezTo>
                <a:cubicBezTo>
                  <a:pt x="75902" y="69900"/>
                  <a:pt x="69900" y="75902"/>
                  <a:pt x="62508" y="75902"/>
                </a:cubicBezTo>
                <a:cubicBezTo>
                  <a:pt x="55115" y="75902"/>
                  <a:pt x="49113" y="69900"/>
                  <a:pt x="49113" y="62508"/>
                </a:cubicBezTo>
                <a:cubicBezTo>
                  <a:pt x="49113" y="55115"/>
                  <a:pt x="55115" y="49113"/>
                  <a:pt x="62508" y="49113"/>
                </a:cubicBezTo>
                <a:close/>
                <a:moveTo>
                  <a:pt x="102691" y="62508"/>
                </a:moveTo>
                <a:cubicBezTo>
                  <a:pt x="102691" y="55115"/>
                  <a:pt x="108693" y="49113"/>
                  <a:pt x="116086" y="49113"/>
                </a:cubicBezTo>
                <a:cubicBezTo>
                  <a:pt x="123479" y="49113"/>
                  <a:pt x="129480" y="55115"/>
                  <a:pt x="129480" y="62508"/>
                </a:cubicBezTo>
                <a:cubicBezTo>
                  <a:pt x="129480" y="69900"/>
                  <a:pt x="123479" y="75902"/>
                  <a:pt x="116086" y="75902"/>
                </a:cubicBezTo>
                <a:cubicBezTo>
                  <a:pt x="108693" y="75902"/>
                  <a:pt x="102691" y="69900"/>
                  <a:pt x="102691" y="62508"/>
                </a:cubicBezTo>
                <a:close/>
                <a:moveTo>
                  <a:pt x="17859" y="62508"/>
                </a:moveTo>
                <a:cubicBezTo>
                  <a:pt x="17859" y="57569"/>
                  <a:pt x="13869" y="53578"/>
                  <a:pt x="8930" y="53578"/>
                </a:cubicBezTo>
                <a:cubicBezTo>
                  <a:pt x="3990" y="53578"/>
                  <a:pt x="0" y="57569"/>
                  <a:pt x="0" y="62508"/>
                </a:cubicBezTo>
                <a:lnTo>
                  <a:pt x="0" y="89297"/>
                </a:lnTo>
                <a:cubicBezTo>
                  <a:pt x="0" y="94236"/>
                  <a:pt x="3990" y="98227"/>
                  <a:pt x="8930" y="98227"/>
                </a:cubicBezTo>
                <a:cubicBezTo>
                  <a:pt x="13869" y="98227"/>
                  <a:pt x="17859" y="94236"/>
                  <a:pt x="17859" y="89297"/>
                </a:cubicBezTo>
                <a:lnTo>
                  <a:pt x="17859" y="62508"/>
                </a:lnTo>
                <a:close/>
                <a:moveTo>
                  <a:pt x="169664" y="53578"/>
                </a:moveTo>
                <a:cubicBezTo>
                  <a:pt x="164725" y="53578"/>
                  <a:pt x="160734" y="57569"/>
                  <a:pt x="160734" y="62508"/>
                </a:cubicBezTo>
                <a:lnTo>
                  <a:pt x="160734" y="89297"/>
                </a:lnTo>
                <a:cubicBezTo>
                  <a:pt x="160734" y="94236"/>
                  <a:pt x="164725" y="98227"/>
                  <a:pt x="169664" y="98227"/>
                </a:cubicBezTo>
                <a:cubicBezTo>
                  <a:pt x="174603" y="98227"/>
                  <a:pt x="178594" y="94236"/>
                  <a:pt x="178594" y="89297"/>
                </a:cubicBezTo>
                <a:lnTo>
                  <a:pt x="178594" y="62508"/>
                </a:lnTo>
                <a:cubicBezTo>
                  <a:pt x="178594" y="57569"/>
                  <a:pt x="174603" y="53578"/>
                  <a:pt x="169664" y="53578"/>
                </a:cubicBezTo>
                <a:close/>
              </a:path>
            </a:pathLst>
          </a:custGeom>
          <a:solidFill>
            <a:srgbClr val="E700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6715125" y="3179129"/>
            <a:ext cx="31251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AI-Specific Risks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6429375" y="3570208"/>
            <a:ext cx="1838400" cy="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 Factors: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6"/>
          <p:cNvSpPr/>
          <p:nvPr/>
        </p:nvSpPr>
        <p:spPr>
          <a:xfrm>
            <a:off x="6409475" y="3855468"/>
            <a:ext cx="53736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Incorrect nutritional/cost calculations → credibility loss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6409475" y="4084963"/>
            <a:ext cx="53736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Users distrusting AI for health decisions → adoption barrier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6409475" y="4267527"/>
            <a:ext cx="53736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System errors/hallucinations → misleading outputs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404825" y="5012600"/>
            <a:ext cx="11541125" cy="1755219"/>
          </a:xfrm>
          <a:custGeom>
            <a:rect b="b" l="l" r="r" t="t"/>
            <a:pathLst>
              <a:path extrusionOk="0" h="1238250" w="11541125">
                <a:moveTo>
                  <a:pt x="31750" y="0"/>
                </a:moveTo>
                <a:lnTo>
                  <a:pt x="11477628" y="0"/>
                </a:lnTo>
                <a:cubicBezTo>
                  <a:pt x="11512696" y="0"/>
                  <a:pt x="11541125" y="28429"/>
                  <a:pt x="11541125" y="63497"/>
                </a:cubicBezTo>
                <a:lnTo>
                  <a:pt x="11541125" y="1174753"/>
                </a:lnTo>
                <a:cubicBezTo>
                  <a:pt x="11541125" y="1209821"/>
                  <a:pt x="11512696" y="1238250"/>
                  <a:pt x="11477628" y="1238250"/>
                </a:cubicBezTo>
                <a:lnTo>
                  <a:pt x="31750" y="1238250"/>
                </a:lnTo>
                <a:cubicBezTo>
                  <a:pt x="14227" y="1238250"/>
                  <a:pt x="0" y="1224023"/>
                  <a:pt x="0" y="1206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7625" rotWithShape="0" algn="bl" dir="5400000" dist="3175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404825" y="5012600"/>
            <a:ext cx="31750" cy="1755219"/>
          </a:xfrm>
          <a:custGeom>
            <a:rect b="b" l="l" r="r" t="t"/>
            <a:pathLst>
              <a:path extrusionOk="0" h="1238250" w="31750">
                <a:moveTo>
                  <a:pt x="31750" y="0"/>
                </a:moveTo>
                <a:lnTo>
                  <a:pt x="31750" y="0"/>
                </a:lnTo>
                <a:lnTo>
                  <a:pt x="31750" y="1238250"/>
                </a:lnTo>
                <a:lnTo>
                  <a:pt x="31750" y="1238250"/>
                </a:lnTo>
                <a:cubicBezTo>
                  <a:pt x="14227" y="1238250"/>
                  <a:pt x="0" y="1224023"/>
                  <a:pt x="0" y="1206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D46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547688" y="5139600"/>
            <a:ext cx="317500" cy="317500"/>
          </a:xfrm>
          <a:custGeom>
            <a:rect b="b" l="l" r="r" t="t"/>
            <a:pathLst>
              <a:path extrusionOk="0" h="317500" w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F3E8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619126" y="5226913"/>
            <a:ext cx="178594" cy="142875"/>
          </a:xfrm>
          <a:custGeom>
            <a:rect b="b" l="l" r="r" t="t"/>
            <a:pathLst>
              <a:path extrusionOk="0" h="142875" w="178594">
                <a:moveTo>
                  <a:pt x="107156" y="8930"/>
                </a:moveTo>
                <a:lnTo>
                  <a:pt x="142875" y="8930"/>
                </a:lnTo>
                <a:cubicBezTo>
                  <a:pt x="147814" y="8930"/>
                  <a:pt x="151805" y="12920"/>
                  <a:pt x="151805" y="17859"/>
                </a:cubicBezTo>
                <a:cubicBezTo>
                  <a:pt x="151805" y="22799"/>
                  <a:pt x="147814" y="26789"/>
                  <a:pt x="142875" y="26789"/>
                </a:cubicBezTo>
                <a:lnTo>
                  <a:pt x="111175" y="26789"/>
                </a:lnTo>
                <a:cubicBezTo>
                  <a:pt x="109724" y="33989"/>
                  <a:pt x="104784" y="39932"/>
                  <a:pt x="98227" y="42779"/>
                </a:cubicBezTo>
                <a:lnTo>
                  <a:pt x="98227" y="125016"/>
                </a:lnTo>
                <a:lnTo>
                  <a:pt x="142875" y="125016"/>
                </a:lnTo>
                <a:cubicBezTo>
                  <a:pt x="147814" y="125016"/>
                  <a:pt x="151805" y="129006"/>
                  <a:pt x="151805" y="133945"/>
                </a:cubicBezTo>
                <a:cubicBezTo>
                  <a:pt x="151805" y="138885"/>
                  <a:pt x="147814" y="142875"/>
                  <a:pt x="142875" y="142875"/>
                </a:cubicBezTo>
                <a:lnTo>
                  <a:pt x="35719" y="142875"/>
                </a:lnTo>
                <a:cubicBezTo>
                  <a:pt x="30780" y="142875"/>
                  <a:pt x="26789" y="138885"/>
                  <a:pt x="26789" y="133945"/>
                </a:cubicBezTo>
                <a:cubicBezTo>
                  <a:pt x="26789" y="129006"/>
                  <a:pt x="30780" y="125016"/>
                  <a:pt x="35719" y="125016"/>
                </a:cubicBezTo>
                <a:lnTo>
                  <a:pt x="80367" y="125016"/>
                </a:lnTo>
                <a:lnTo>
                  <a:pt x="80367" y="42779"/>
                </a:lnTo>
                <a:cubicBezTo>
                  <a:pt x="73809" y="39905"/>
                  <a:pt x="68870" y="33961"/>
                  <a:pt x="67419" y="26789"/>
                </a:cubicBezTo>
                <a:lnTo>
                  <a:pt x="35719" y="26789"/>
                </a:lnTo>
                <a:cubicBezTo>
                  <a:pt x="30780" y="26789"/>
                  <a:pt x="26789" y="22799"/>
                  <a:pt x="26789" y="17859"/>
                </a:cubicBezTo>
                <a:cubicBezTo>
                  <a:pt x="26789" y="12920"/>
                  <a:pt x="30780" y="8930"/>
                  <a:pt x="35719" y="8930"/>
                </a:cubicBezTo>
                <a:lnTo>
                  <a:pt x="71438" y="8930"/>
                </a:lnTo>
                <a:cubicBezTo>
                  <a:pt x="75512" y="3516"/>
                  <a:pt x="81986" y="0"/>
                  <a:pt x="89297" y="0"/>
                </a:cubicBezTo>
                <a:cubicBezTo>
                  <a:pt x="96608" y="0"/>
                  <a:pt x="103082" y="3516"/>
                  <a:pt x="107156" y="8930"/>
                </a:cubicBezTo>
                <a:close/>
                <a:moveTo>
                  <a:pt x="122672" y="89297"/>
                </a:moveTo>
                <a:lnTo>
                  <a:pt x="163078" y="89297"/>
                </a:lnTo>
                <a:lnTo>
                  <a:pt x="142875" y="54639"/>
                </a:lnTo>
                <a:lnTo>
                  <a:pt x="122672" y="89297"/>
                </a:lnTo>
                <a:close/>
                <a:moveTo>
                  <a:pt x="142875" y="116086"/>
                </a:moveTo>
                <a:cubicBezTo>
                  <a:pt x="125323" y="116086"/>
                  <a:pt x="110728" y="106598"/>
                  <a:pt x="107714" y="94069"/>
                </a:cubicBezTo>
                <a:cubicBezTo>
                  <a:pt x="106989" y="90999"/>
                  <a:pt x="107993" y="87846"/>
                  <a:pt x="109584" y="85111"/>
                </a:cubicBezTo>
                <a:lnTo>
                  <a:pt x="136150" y="39570"/>
                </a:lnTo>
                <a:cubicBezTo>
                  <a:pt x="137545" y="37170"/>
                  <a:pt x="140112" y="35719"/>
                  <a:pt x="142875" y="35719"/>
                </a:cubicBezTo>
                <a:cubicBezTo>
                  <a:pt x="145638" y="35719"/>
                  <a:pt x="148205" y="37198"/>
                  <a:pt x="149600" y="39570"/>
                </a:cubicBezTo>
                <a:lnTo>
                  <a:pt x="176166" y="85111"/>
                </a:lnTo>
                <a:cubicBezTo>
                  <a:pt x="177757" y="87846"/>
                  <a:pt x="178761" y="90999"/>
                  <a:pt x="178036" y="94069"/>
                </a:cubicBezTo>
                <a:cubicBezTo>
                  <a:pt x="175022" y="106570"/>
                  <a:pt x="160427" y="116086"/>
                  <a:pt x="142875" y="116086"/>
                </a:cubicBezTo>
                <a:close/>
                <a:moveTo>
                  <a:pt x="35384" y="54639"/>
                </a:moveTo>
                <a:lnTo>
                  <a:pt x="15180" y="89297"/>
                </a:lnTo>
                <a:lnTo>
                  <a:pt x="55615" y="89297"/>
                </a:lnTo>
                <a:lnTo>
                  <a:pt x="35384" y="54639"/>
                </a:lnTo>
                <a:close/>
                <a:moveTo>
                  <a:pt x="251" y="94069"/>
                </a:moveTo>
                <a:cubicBezTo>
                  <a:pt x="-474" y="90999"/>
                  <a:pt x="530" y="87846"/>
                  <a:pt x="2121" y="85111"/>
                </a:cubicBezTo>
                <a:lnTo>
                  <a:pt x="28687" y="39570"/>
                </a:lnTo>
                <a:cubicBezTo>
                  <a:pt x="30082" y="37170"/>
                  <a:pt x="32649" y="35719"/>
                  <a:pt x="35412" y="35719"/>
                </a:cubicBezTo>
                <a:cubicBezTo>
                  <a:pt x="38174" y="35719"/>
                  <a:pt x="40742" y="37198"/>
                  <a:pt x="42137" y="39570"/>
                </a:cubicBezTo>
                <a:lnTo>
                  <a:pt x="68703" y="85111"/>
                </a:lnTo>
                <a:cubicBezTo>
                  <a:pt x="70293" y="87846"/>
                  <a:pt x="71298" y="90999"/>
                  <a:pt x="70572" y="94069"/>
                </a:cubicBezTo>
                <a:cubicBezTo>
                  <a:pt x="67559" y="106570"/>
                  <a:pt x="52964" y="116086"/>
                  <a:pt x="35412" y="116086"/>
                </a:cubicBezTo>
                <a:cubicBezTo>
                  <a:pt x="17859" y="116086"/>
                  <a:pt x="3265" y="106598"/>
                  <a:pt x="251" y="94069"/>
                </a:cubicBezTo>
                <a:close/>
              </a:path>
            </a:pathLst>
          </a:custGeom>
          <a:solidFill>
            <a:srgbClr val="981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960438" y="5187225"/>
            <a:ext cx="57150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A5741"/>
                </a:solidFill>
                <a:latin typeface="Liter"/>
                <a:ea typeface="Liter"/>
                <a:cs typeface="Liter"/>
                <a:sym typeface="Liter"/>
              </a:rPr>
              <a:t>Regulatory, Legal &amp; Ethical Constraints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547700" y="5552350"/>
            <a:ext cx="3730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Nutrition Guidance:</a:t>
            </a:r>
            <a:r>
              <a:rPr lang="en-US" sz="13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Risk of being interpreted as medical advice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547700" y="6063245"/>
            <a:ext cx="37305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A65F00"/>
                </a:solidFill>
                <a:highlight>
                  <a:srgbClr val="FEF9C2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Mitigation: </a:t>
            </a:r>
            <a:r>
              <a:rPr lang="en-US" sz="13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Clear disclaimers, avoid diagnostic language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6"/>
          <p:cNvSpPr/>
          <p:nvPr/>
        </p:nvSpPr>
        <p:spPr>
          <a:xfrm>
            <a:off x="4347025" y="5552350"/>
            <a:ext cx="3730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Privacy:</a:t>
            </a:r>
            <a:r>
              <a:rPr lang="en-US" sz="13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Purchase history &amp; dietary patterns are sensitive personal data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4347075" y="6063295"/>
            <a:ext cx="37305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A65F00"/>
                </a:solidFill>
                <a:highlight>
                  <a:srgbClr val="FEF9C2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Mitigation: </a:t>
            </a:r>
            <a:r>
              <a:rPr lang="en-US" sz="13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Secure handling, transparent policies, GDPR compliance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8146350" y="5369800"/>
            <a:ext cx="37305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Transparency:</a:t>
            </a:r>
            <a:r>
              <a:rPr lang="en-US" sz="13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Requirements for explaining AI-generated recommendations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6"/>
          <p:cNvSpPr/>
          <p:nvPr/>
        </p:nvSpPr>
        <p:spPr>
          <a:xfrm>
            <a:off x="8146450" y="6063292"/>
            <a:ext cx="3730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A65F00"/>
                </a:solidFill>
                <a:highlight>
                  <a:srgbClr val="FEF9C2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Mitigation: </a:t>
            </a:r>
            <a:r>
              <a:rPr lang="en-US" sz="13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Explainable AI, user control over recommendations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0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7"/>
          <p:cNvSpPr/>
          <p:nvPr/>
        </p:nvSpPr>
        <p:spPr>
          <a:xfrm>
            <a:off x="342475" y="196100"/>
            <a:ext cx="115671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44">
                <a:solidFill>
                  <a:srgbClr val="C78D4E"/>
                </a:solidFill>
                <a:latin typeface="Liter"/>
                <a:ea typeface="Liter"/>
                <a:cs typeface="Liter"/>
                <a:sym typeface="Liter"/>
              </a:rPr>
              <a:t>DELIVERABLE 4.1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7"/>
          <p:cNvSpPr/>
          <p:nvPr/>
        </p:nvSpPr>
        <p:spPr>
          <a:xfrm>
            <a:off x="342475" y="434861"/>
            <a:ext cx="116355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2">
                <a:solidFill>
                  <a:srgbClr val="4A5741"/>
                </a:solidFill>
                <a:latin typeface="Oranienbaum"/>
                <a:ea typeface="Oranienbaum"/>
                <a:cs typeface="Oranienbaum"/>
                <a:sym typeface="Oranienbaum"/>
              </a:rPr>
              <a:t>Objective Business Goals: Measurable Outcomes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7"/>
          <p:cNvSpPr/>
          <p:nvPr/>
        </p:nvSpPr>
        <p:spPr>
          <a:xfrm>
            <a:off x="342475" y="832797"/>
            <a:ext cx="115755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Three SMART goals focused on quantifiable business performance metrics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7"/>
          <p:cNvSpPr/>
          <p:nvPr/>
        </p:nvSpPr>
        <p:spPr>
          <a:xfrm>
            <a:off x="342475" y="1210835"/>
            <a:ext cx="11507056" cy="1877089"/>
          </a:xfrm>
          <a:custGeom>
            <a:rect b="b" l="l" r="r" t="t"/>
            <a:pathLst>
              <a:path extrusionOk="0" h="1618180" w="11507056">
                <a:moveTo>
                  <a:pt x="34247" y="0"/>
                </a:moveTo>
                <a:lnTo>
                  <a:pt x="11472809" y="0"/>
                </a:lnTo>
                <a:cubicBezTo>
                  <a:pt x="11491723" y="0"/>
                  <a:pt x="11507056" y="15333"/>
                  <a:pt x="11507056" y="34247"/>
                </a:cubicBezTo>
                <a:lnTo>
                  <a:pt x="11507056" y="1549682"/>
                </a:lnTo>
                <a:cubicBezTo>
                  <a:pt x="11507056" y="1587512"/>
                  <a:pt x="11476389" y="1618180"/>
                  <a:pt x="11438559" y="1618180"/>
                </a:cubicBezTo>
                <a:lnTo>
                  <a:pt x="68498" y="1618180"/>
                </a:lnTo>
                <a:cubicBezTo>
                  <a:pt x="30667" y="1618180"/>
                  <a:pt x="0" y="1587512"/>
                  <a:pt x="0" y="1549682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1371" rotWithShape="0" algn="bl" dir="5400000" dist="34247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7"/>
          <p:cNvSpPr/>
          <p:nvPr/>
        </p:nvSpPr>
        <p:spPr>
          <a:xfrm>
            <a:off x="342475" y="1210835"/>
            <a:ext cx="11507056" cy="39727"/>
          </a:xfrm>
          <a:custGeom>
            <a:rect b="b" l="l" r="r" t="t"/>
            <a:pathLst>
              <a:path extrusionOk="0" h="34247" w="11507056">
                <a:moveTo>
                  <a:pt x="34247" y="0"/>
                </a:moveTo>
                <a:lnTo>
                  <a:pt x="11472809" y="0"/>
                </a:lnTo>
                <a:cubicBezTo>
                  <a:pt x="11491723" y="0"/>
                  <a:pt x="11507056" y="15333"/>
                  <a:pt x="11507056" y="34247"/>
                </a:cubicBezTo>
                <a:lnTo>
                  <a:pt x="11507056" y="34247"/>
                </a:lnTo>
                <a:lnTo>
                  <a:pt x="0" y="34247"/>
                </a:ln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4A57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7"/>
          <p:cNvSpPr/>
          <p:nvPr/>
        </p:nvSpPr>
        <p:spPr>
          <a:xfrm>
            <a:off x="342475" y="1230732"/>
            <a:ext cx="11507056" cy="436994"/>
          </a:xfrm>
          <a:custGeom>
            <a:rect b="b" l="l" r="r" t="t"/>
            <a:pathLst>
              <a:path extrusionOk="0" h="376719" w="11507056">
                <a:moveTo>
                  <a:pt x="0" y="0"/>
                </a:moveTo>
                <a:lnTo>
                  <a:pt x="11507056" y="0"/>
                </a:lnTo>
                <a:lnTo>
                  <a:pt x="11507056" y="376719"/>
                </a:lnTo>
                <a:lnTo>
                  <a:pt x="0" y="376719"/>
                </a:lnTo>
                <a:lnTo>
                  <a:pt x="0" y="0"/>
                </a:lnTo>
                <a:close/>
              </a:path>
            </a:pathLst>
          </a:custGeom>
          <a:solidFill>
            <a:srgbClr val="CA35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7"/>
          <p:cNvSpPr/>
          <p:nvPr/>
        </p:nvSpPr>
        <p:spPr>
          <a:xfrm>
            <a:off x="479464" y="1310319"/>
            <a:ext cx="36132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13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Goal 1: Achieve Sustainable Subscription Conversion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7"/>
          <p:cNvSpPr/>
          <p:nvPr/>
        </p:nvSpPr>
        <p:spPr>
          <a:xfrm>
            <a:off x="10667869" y="1310319"/>
            <a:ext cx="1044539" cy="278087"/>
          </a:xfrm>
          <a:custGeom>
            <a:rect b="b" l="l" r="r" t="t"/>
            <a:pathLst>
              <a:path extrusionOk="0" h="239730" w="1044539">
                <a:moveTo>
                  <a:pt x="119865" y="0"/>
                </a:moveTo>
                <a:lnTo>
                  <a:pt x="924674" y="0"/>
                </a:lnTo>
                <a:cubicBezTo>
                  <a:pt x="990874" y="0"/>
                  <a:pt x="1044539" y="53665"/>
                  <a:pt x="1044539" y="119865"/>
                </a:cubicBezTo>
                <a:lnTo>
                  <a:pt x="1044539" y="119865"/>
                </a:lnTo>
                <a:cubicBezTo>
                  <a:pt x="1044539" y="186065"/>
                  <a:pt x="990874" y="239730"/>
                  <a:pt x="924674" y="239730"/>
                </a:cubicBezTo>
                <a:lnTo>
                  <a:pt x="119865" y="239730"/>
                </a:lnTo>
                <a:cubicBezTo>
                  <a:pt x="53665" y="239730"/>
                  <a:pt x="0" y="186065"/>
                  <a:pt x="0" y="119865"/>
                </a:cubicBezTo>
                <a:lnTo>
                  <a:pt x="0" y="119865"/>
                </a:lnTo>
                <a:cubicBezTo>
                  <a:pt x="0" y="53665"/>
                  <a:pt x="53665" y="0"/>
                  <a:pt x="11986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7"/>
          <p:cNvSpPr/>
          <p:nvPr/>
        </p:nvSpPr>
        <p:spPr>
          <a:xfrm>
            <a:off x="10692935" y="1310319"/>
            <a:ext cx="11046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25" lIns="102725" spcFirstLastPara="1" rIns="102725" wrap="square" tIns="342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43">
                <a:solidFill>
                  <a:srgbClr val="CA35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Revenue Critical</a:t>
            </a:r>
            <a:endParaRPr b="1" sz="1600">
              <a:solidFill>
                <a:srgbClr val="CA35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7"/>
          <p:cNvSpPr/>
          <p:nvPr/>
        </p:nvSpPr>
        <p:spPr>
          <a:xfrm>
            <a:off x="445216" y="1787842"/>
            <a:ext cx="22347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1000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Specific</a:t>
            </a:r>
            <a:endParaRPr b="1" sz="1200">
              <a:solidFill>
                <a:srgbClr val="C1000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7"/>
          <p:cNvSpPr/>
          <p:nvPr/>
        </p:nvSpPr>
        <p:spPr>
          <a:xfrm>
            <a:off x="445225" y="2026599"/>
            <a:ext cx="2234700" cy="5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Convert active users to paying subscribers through premium AI features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7"/>
          <p:cNvSpPr/>
          <p:nvPr/>
        </p:nvSpPr>
        <p:spPr>
          <a:xfrm>
            <a:off x="2725999" y="1787842"/>
            <a:ext cx="22347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1000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Measurable</a:t>
            </a:r>
            <a:endParaRPr b="1" sz="1200">
              <a:solidFill>
                <a:srgbClr val="C1000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7"/>
          <p:cNvSpPr/>
          <p:nvPr/>
        </p:nvSpPr>
        <p:spPr>
          <a:xfrm>
            <a:off x="2725999" y="2026603"/>
            <a:ext cx="22347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Conversion rate (%) &amp; Monthly Recurring Revenue (MRR)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7"/>
          <p:cNvSpPr/>
          <p:nvPr/>
        </p:nvSpPr>
        <p:spPr>
          <a:xfrm>
            <a:off x="5006916" y="1787842"/>
            <a:ext cx="22347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1000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Achievable</a:t>
            </a:r>
            <a:endParaRPr b="1" sz="1200">
              <a:solidFill>
                <a:srgbClr val="C1000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7"/>
          <p:cNvSpPr/>
          <p:nvPr/>
        </p:nvSpPr>
        <p:spPr>
          <a:xfrm>
            <a:off x="5006916" y="2026603"/>
            <a:ext cx="2234700" cy="5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With strong value demonstration &amp; pricing strategy; uncertain due to price-sensitivity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7287698" y="1787842"/>
            <a:ext cx="22347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1000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Relevant</a:t>
            </a:r>
            <a:endParaRPr b="1" sz="1200">
              <a:solidFill>
                <a:srgbClr val="C1000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7"/>
          <p:cNvSpPr/>
          <p:nvPr/>
        </p:nvSpPr>
        <p:spPr>
          <a:xfrm>
            <a:off x="7287698" y="2026603"/>
            <a:ext cx="22347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Directly tied to freemium revenue model &amp; business viability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7"/>
          <p:cNvSpPr/>
          <p:nvPr/>
        </p:nvSpPr>
        <p:spPr>
          <a:xfrm>
            <a:off x="9568615" y="1787842"/>
            <a:ext cx="22347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1000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Time-Bound</a:t>
            </a:r>
            <a:endParaRPr b="1" sz="1200">
              <a:solidFill>
                <a:srgbClr val="C1000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7"/>
          <p:cNvSpPr/>
          <p:nvPr/>
        </p:nvSpPr>
        <p:spPr>
          <a:xfrm>
            <a:off x="9568615" y="2026603"/>
            <a:ext cx="2234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First 6-12 months after launch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7"/>
          <p:cNvSpPr/>
          <p:nvPr/>
        </p:nvSpPr>
        <p:spPr>
          <a:xfrm>
            <a:off x="445216" y="2685684"/>
            <a:ext cx="11301573" cy="9932"/>
          </a:xfrm>
          <a:custGeom>
            <a:rect b="b" l="l" r="r" t="t"/>
            <a:pathLst>
              <a:path extrusionOk="0" h="8562" w="11301573">
                <a:moveTo>
                  <a:pt x="0" y="0"/>
                </a:moveTo>
                <a:lnTo>
                  <a:pt x="11301573" y="0"/>
                </a:lnTo>
                <a:lnTo>
                  <a:pt x="11301573" y="8562"/>
                </a:lnTo>
                <a:lnTo>
                  <a:pt x="0" y="8562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7"/>
          <p:cNvSpPr/>
          <p:nvPr/>
        </p:nvSpPr>
        <p:spPr>
          <a:xfrm>
            <a:off x="477323" y="2800089"/>
            <a:ext cx="89899" cy="139043"/>
          </a:xfrm>
          <a:custGeom>
            <a:rect b="b" l="l" r="r" t="t"/>
            <a:pathLst>
              <a:path extrusionOk="0" h="119865" w="89899">
                <a:moveTo>
                  <a:pt x="68571" y="89899"/>
                </a:moveTo>
                <a:cubicBezTo>
                  <a:pt x="70280" y="84678"/>
                  <a:pt x="73698" y="79949"/>
                  <a:pt x="77561" y="75876"/>
                </a:cubicBezTo>
                <a:cubicBezTo>
                  <a:pt x="85217" y="67822"/>
                  <a:pt x="89899" y="56936"/>
                  <a:pt x="89899" y="44949"/>
                </a:cubicBezTo>
                <a:cubicBezTo>
                  <a:pt x="89899" y="20134"/>
                  <a:pt x="69765" y="0"/>
                  <a:pt x="44949" y="0"/>
                </a:cubicBezTo>
                <a:cubicBezTo>
                  <a:pt x="20134" y="0"/>
                  <a:pt x="0" y="20134"/>
                  <a:pt x="0" y="44949"/>
                </a:cubicBezTo>
                <a:cubicBezTo>
                  <a:pt x="0" y="56936"/>
                  <a:pt x="4682" y="67822"/>
                  <a:pt x="12338" y="75876"/>
                </a:cubicBezTo>
                <a:cubicBezTo>
                  <a:pt x="16201" y="79949"/>
                  <a:pt x="19642" y="84678"/>
                  <a:pt x="21328" y="89899"/>
                </a:cubicBezTo>
                <a:lnTo>
                  <a:pt x="68548" y="89899"/>
                </a:lnTo>
                <a:close/>
                <a:moveTo>
                  <a:pt x="67424" y="101136"/>
                </a:moveTo>
                <a:lnTo>
                  <a:pt x="22475" y="101136"/>
                </a:lnTo>
                <a:lnTo>
                  <a:pt x="22475" y="104882"/>
                </a:lnTo>
                <a:cubicBezTo>
                  <a:pt x="22475" y="115230"/>
                  <a:pt x="30856" y="123611"/>
                  <a:pt x="41204" y="123611"/>
                </a:cubicBezTo>
                <a:lnTo>
                  <a:pt x="48695" y="123611"/>
                </a:lnTo>
                <a:cubicBezTo>
                  <a:pt x="59043" y="123611"/>
                  <a:pt x="67424" y="115230"/>
                  <a:pt x="67424" y="104882"/>
                </a:cubicBezTo>
                <a:lnTo>
                  <a:pt x="67424" y="101136"/>
                </a:lnTo>
                <a:close/>
                <a:moveTo>
                  <a:pt x="43077" y="26221"/>
                </a:moveTo>
                <a:cubicBezTo>
                  <a:pt x="33759" y="26221"/>
                  <a:pt x="26221" y="33759"/>
                  <a:pt x="26221" y="43077"/>
                </a:cubicBezTo>
                <a:cubicBezTo>
                  <a:pt x="26221" y="46190"/>
                  <a:pt x="23716" y="48695"/>
                  <a:pt x="20602" y="48695"/>
                </a:cubicBezTo>
                <a:cubicBezTo>
                  <a:pt x="17488" y="48695"/>
                  <a:pt x="14983" y="46190"/>
                  <a:pt x="14983" y="43077"/>
                </a:cubicBezTo>
                <a:cubicBezTo>
                  <a:pt x="14983" y="27555"/>
                  <a:pt x="27555" y="14983"/>
                  <a:pt x="43077" y="14983"/>
                </a:cubicBezTo>
                <a:cubicBezTo>
                  <a:pt x="46190" y="14983"/>
                  <a:pt x="48695" y="17488"/>
                  <a:pt x="48695" y="20602"/>
                </a:cubicBezTo>
                <a:cubicBezTo>
                  <a:pt x="48695" y="23716"/>
                  <a:pt x="46190" y="26221"/>
                  <a:pt x="43077" y="26221"/>
                </a:cubicBezTo>
                <a:close/>
              </a:path>
            </a:pathLst>
          </a:custGeom>
          <a:solidFill>
            <a:srgbClr val="C78D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7"/>
          <p:cNvSpPr/>
          <p:nvPr/>
        </p:nvSpPr>
        <p:spPr>
          <a:xfrm>
            <a:off x="622417" y="2770245"/>
            <a:ext cx="111843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Justification: Subscription conversion is central to the freemium business model described in Lean Canvas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7"/>
          <p:cNvSpPr/>
          <p:nvPr/>
        </p:nvSpPr>
        <p:spPr>
          <a:xfrm>
            <a:off x="342475" y="3227871"/>
            <a:ext cx="11507056" cy="1688387"/>
          </a:xfrm>
          <a:custGeom>
            <a:rect b="b" l="l" r="r" t="t"/>
            <a:pathLst>
              <a:path extrusionOk="0" h="1455506" w="11507056">
                <a:moveTo>
                  <a:pt x="34247" y="0"/>
                </a:moveTo>
                <a:lnTo>
                  <a:pt x="11472809" y="0"/>
                </a:lnTo>
                <a:cubicBezTo>
                  <a:pt x="11491723" y="0"/>
                  <a:pt x="11507056" y="15333"/>
                  <a:pt x="11507056" y="34247"/>
                </a:cubicBezTo>
                <a:lnTo>
                  <a:pt x="11507056" y="1387010"/>
                </a:lnTo>
                <a:cubicBezTo>
                  <a:pt x="11507056" y="1424839"/>
                  <a:pt x="11476389" y="1455506"/>
                  <a:pt x="11438560" y="1455506"/>
                </a:cubicBezTo>
                <a:lnTo>
                  <a:pt x="68496" y="1455506"/>
                </a:lnTo>
                <a:cubicBezTo>
                  <a:pt x="30667" y="1455506"/>
                  <a:pt x="0" y="1424839"/>
                  <a:pt x="0" y="1387010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1371" rotWithShape="0" algn="bl" dir="5400000" dist="34247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7"/>
          <p:cNvSpPr/>
          <p:nvPr/>
        </p:nvSpPr>
        <p:spPr>
          <a:xfrm>
            <a:off x="342475" y="3227871"/>
            <a:ext cx="11507056" cy="39727"/>
          </a:xfrm>
          <a:custGeom>
            <a:rect b="b" l="l" r="r" t="t"/>
            <a:pathLst>
              <a:path extrusionOk="0" h="34247" w="11507056">
                <a:moveTo>
                  <a:pt x="34247" y="0"/>
                </a:moveTo>
                <a:lnTo>
                  <a:pt x="11472809" y="0"/>
                </a:lnTo>
                <a:cubicBezTo>
                  <a:pt x="11491723" y="0"/>
                  <a:pt x="11507056" y="15333"/>
                  <a:pt x="11507056" y="34247"/>
                </a:cubicBezTo>
                <a:lnTo>
                  <a:pt x="11507056" y="34247"/>
                </a:lnTo>
                <a:lnTo>
                  <a:pt x="0" y="34247"/>
                </a:ln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C78D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7"/>
          <p:cNvSpPr/>
          <p:nvPr/>
        </p:nvSpPr>
        <p:spPr>
          <a:xfrm>
            <a:off x="342475" y="3247767"/>
            <a:ext cx="11507056" cy="436994"/>
          </a:xfrm>
          <a:custGeom>
            <a:rect b="b" l="l" r="r" t="t"/>
            <a:pathLst>
              <a:path extrusionOk="0" h="376719" w="11507056">
                <a:moveTo>
                  <a:pt x="0" y="0"/>
                </a:moveTo>
                <a:lnTo>
                  <a:pt x="11507056" y="0"/>
                </a:lnTo>
                <a:lnTo>
                  <a:pt x="11507056" y="376719"/>
                </a:lnTo>
                <a:lnTo>
                  <a:pt x="0" y="376719"/>
                </a:lnTo>
                <a:lnTo>
                  <a:pt x="0" y="0"/>
                </a:lnTo>
                <a:close/>
              </a:path>
            </a:pathLst>
          </a:custGeom>
          <a:solidFill>
            <a:srgbClr val="C78D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7"/>
          <p:cNvSpPr/>
          <p:nvPr/>
        </p:nvSpPr>
        <p:spPr>
          <a:xfrm>
            <a:off x="479464" y="3327355"/>
            <a:ext cx="31764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13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Goal 2: Reduce Users' Food-Related Spending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7"/>
          <p:cNvSpPr/>
          <p:nvPr/>
        </p:nvSpPr>
        <p:spPr>
          <a:xfrm>
            <a:off x="10598305" y="3327355"/>
            <a:ext cx="1113034" cy="278087"/>
          </a:xfrm>
          <a:custGeom>
            <a:rect b="b" l="l" r="r" t="t"/>
            <a:pathLst>
              <a:path extrusionOk="0" h="239730" w="1113034">
                <a:moveTo>
                  <a:pt x="119865" y="0"/>
                </a:moveTo>
                <a:lnTo>
                  <a:pt x="993169" y="0"/>
                </a:lnTo>
                <a:cubicBezTo>
                  <a:pt x="1059368" y="0"/>
                  <a:pt x="1113034" y="53665"/>
                  <a:pt x="1113034" y="119865"/>
                </a:cubicBezTo>
                <a:lnTo>
                  <a:pt x="1113034" y="119865"/>
                </a:lnTo>
                <a:cubicBezTo>
                  <a:pt x="1113034" y="186065"/>
                  <a:pt x="1059368" y="239730"/>
                  <a:pt x="993169" y="239730"/>
                </a:cubicBezTo>
                <a:lnTo>
                  <a:pt x="119865" y="239730"/>
                </a:lnTo>
                <a:cubicBezTo>
                  <a:pt x="53665" y="239730"/>
                  <a:pt x="0" y="186065"/>
                  <a:pt x="0" y="119865"/>
                </a:cubicBezTo>
                <a:lnTo>
                  <a:pt x="0" y="119865"/>
                </a:lnTo>
                <a:cubicBezTo>
                  <a:pt x="0" y="53665"/>
                  <a:pt x="53665" y="0"/>
                  <a:pt x="11986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7"/>
          <p:cNvSpPr/>
          <p:nvPr/>
        </p:nvSpPr>
        <p:spPr>
          <a:xfrm>
            <a:off x="10598305" y="3327355"/>
            <a:ext cx="11730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25" lIns="102725" spcFirstLastPara="1" rIns="102725" wrap="square" tIns="342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43">
                <a:solidFill>
                  <a:srgbClr val="C78D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Value Proposition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7"/>
          <p:cNvSpPr/>
          <p:nvPr/>
        </p:nvSpPr>
        <p:spPr>
          <a:xfrm>
            <a:off x="445216" y="3804877"/>
            <a:ext cx="22347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78D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Specific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7"/>
          <p:cNvSpPr/>
          <p:nvPr/>
        </p:nvSpPr>
        <p:spPr>
          <a:xfrm>
            <a:off x="445225" y="4043650"/>
            <a:ext cx="2152800" cy="5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Measurable cost savings using budget tracking &amp; optimized recommendations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7"/>
          <p:cNvSpPr/>
          <p:nvPr/>
        </p:nvSpPr>
        <p:spPr>
          <a:xfrm>
            <a:off x="2725999" y="3804877"/>
            <a:ext cx="22347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78D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Measurable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7"/>
          <p:cNvSpPr/>
          <p:nvPr/>
        </p:nvSpPr>
        <p:spPr>
          <a:xfrm>
            <a:off x="2725999" y="4043638"/>
            <a:ext cx="22347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Monthly grocery spending trends before vs. after usage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7"/>
          <p:cNvSpPr/>
          <p:nvPr/>
        </p:nvSpPr>
        <p:spPr>
          <a:xfrm>
            <a:off x="5006916" y="3804877"/>
            <a:ext cx="22347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78D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Achievable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7"/>
          <p:cNvSpPr/>
          <p:nvPr/>
        </p:nvSpPr>
        <p:spPr>
          <a:xfrm>
            <a:off x="5006916" y="4043638"/>
            <a:ext cx="22347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If recommendations meaningfully influence purchasing behavior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7"/>
          <p:cNvSpPr/>
          <p:nvPr/>
        </p:nvSpPr>
        <p:spPr>
          <a:xfrm>
            <a:off x="7287698" y="3804877"/>
            <a:ext cx="22347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78D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Relevant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7"/>
          <p:cNvSpPr/>
          <p:nvPr/>
        </p:nvSpPr>
        <p:spPr>
          <a:xfrm>
            <a:off x="7287700" y="4043651"/>
            <a:ext cx="2234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Aligns with value proposition of budget optimization &amp; financial benefits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7"/>
          <p:cNvSpPr/>
          <p:nvPr/>
        </p:nvSpPr>
        <p:spPr>
          <a:xfrm>
            <a:off x="9568615" y="3804877"/>
            <a:ext cx="22347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78D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Time-Bound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7"/>
          <p:cNvSpPr/>
          <p:nvPr/>
        </p:nvSpPr>
        <p:spPr>
          <a:xfrm>
            <a:off x="9568625" y="4043675"/>
            <a:ext cx="2234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First 1-3 months of consistent product use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7"/>
          <p:cNvSpPr/>
          <p:nvPr/>
        </p:nvSpPr>
        <p:spPr>
          <a:xfrm>
            <a:off x="445216" y="4511213"/>
            <a:ext cx="11301573" cy="9932"/>
          </a:xfrm>
          <a:custGeom>
            <a:rect b="b" l="l" r="r" t="t"/>
            <a:pathLst>
              <a:path extrusionOk="0" h="8562" w="11301573">
                <a:moveTo>
                  <a:pt x="0" y="0"/>
                </a:moveTo>
                <a:lnTo>
                  <a:pt x="11301573" y="0"/>
                </a:lnTo>
                <a:lnTo>
                  <a:pt x="11301573" y="8562"/>
                </a:lnTo>
                <a:lnTo>
                  <a:pt x="0" y="8562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7"/>
          <p:cNvSpPr/>
          <p:nvPr/>
        </p:nvSpPr>
        <p:spPr>
          <a:xfrm>
            <a:off x="477323" y="4625618"/>
            <a:ext cx="89899" cy="139043"/>
          </a:xfrm>
          <a:custGeom>
            <a:rect b="b" l="l" r="r" t="t"/>
            <a:pathLst>
              <a:path extrusionOk="0" h="119865" w="89899">
                <a:moveTo>
                  <a:pt x="68571" y="89899"/>
                </a:moveTo>
                <a:cubicBezTo>
                  <a:pt x="70280" y="84678"/>
                  <a:pt x="73698" y="79949"/>
                  <a:pt x="77561" y="75876"/>
                </a:cubicBezTo>
                <a:cubicBezTo>
                  <a:pt x="85217" y="67822"/>
                  <a:pt x="89899" y="56936"/>
                  <a:pt x="89899" y="44949"/>
                </a:cubicBezTo>
                <a:cubicBezTo>
                  <a:pt x="89899" y="20134"/>
                  <a:pt x="69765" y="0"/>
                  <a:pt x="44949" y="0"/>
                </a:cubicBezTo>
                <a:cubicBezTo>
                  <a:pt x="20134" y="0"/>
                  <a:pt x="0" y="20134"/>
                  <a:pt x="0" y="44949"/>
                </a:cubicBezTo>
                <a:cubicBezTo>
                  <a:pt x="0" y="56936"/>
                  <a:pt x="4682" y="67822"/>
                  <a:pt x="12338" y="75876"/>
                </a:cubicBezTo>
                <a:cubicBezTo>
                  <a:pt x="16201" y="79949"/>
                  <a:pt x="19642" y="84678"/>
                  <a:pt x="21328" y="89899"/>
                </a:cubicBezTo>
                <a:lnTo>
                  <a:pt x="68548" y="89899"/>
                </a:lnTo>
                <a:close/>
                <a:moveTo>
                  <a:pt x="67424" y="101136"/>
                </a:moveTo>
                <a:lnTo>
                  <a:pt x="22475" y="101136"/>
                </a:lnTo>
                <a:lnTo>
                  <a:pt x="22475" y="104882"/>
                </a:lnTo>
                <a:cubicBezTo>
                  <a:pt x="22475" y="115230"/>
                  <a:pt x="30856" y="123611"/>
                  <a:pt x="41204" y="123611"/>
                </a:cubicBezTo>
                <a:lnTo>
                  <a:pt x="48695" y="123611"/>
                </a:lnTo>
                <a:cubicBezTo>
                  <a:pt x="59043" y="123611"/>
                  <a:pt x="67424" y="115230"/>
                  <a:pt x="67424" y="104882"/>
                </a:cubicBezTo>
                <a:lnTo>
                  <a:pt x="67424" y="101136"/>
                </a:lnTo>
                <a:close/>
                <a:moveTo>
                  <a:pt x="43077" y="26221"/>
                </a:moveTo>
                <a:cubicBezTo>
                  <a:pt x="33759" y="26221"/>
                  <a:pt x="26221" y="33759"/>
                  <a:pt x="26221" y="43077"/>
                </a:cubicBezTo>
                <a:cubicBezTo>
                  <a:pt x="26221" y="46190"/>
                  <a:pt x="23716" y="48695"/>
                  <a:pt x="20602" y="48695"/>
                </a:cubicBezTo>
                <a:cubicBezTo>
                  <a:pt x="17488" y="48695"/>
                  <a:pt x="14983" y="46190"/>
                  <a:pt x="14983" y="43077"/>
                </a:cubicBezTo>
                <a:cubicBezTo>
                  <a:pt x="14983" y="27555"/>
                  <a:pt x="27555" y="14983"/>
                  <a:pt x="43077" y="14983"/>
                </a:cubicBezTo>
                <a:cubicBezTo>
                  <a:pt x="46190" y="14983"/>
                  <a:pt x="48695" y="17488"/>
                  <a:pt x="48695" y="20602"/>
                </a:cubicBezTo>
                <a:cubicBezTo>
                  <a:pt x="48695" y="23716"/>
                  <a:pt x="46190" y="26221"/>
                  <a:pt x="43077" y="26221"/>
                </a:cubicBezTo>
                <a:close/>
              </a:path>
            </a:pathLst>
          </a:custGeom>
          <a:solidFill>
            <a:srgbClr val="C78D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7"/>
          <p:cNvSpPr/>
          <p:nvPr/>
        </p:nvSpPr>
        <p:spPr>
          <a:xfrm>
            <a:off x="622417" y="4595774"/>
            <a:ext cx="111843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Justification: Cost savings is a key claimed benefit that supports willingness to pay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7"/>
          <p:cNvSpPr/>
          <p:nvPr/>
        </p:nvSpPr>
        <p:spPr>
          <a:xfrm>
            <a:off x="342475" y="5053400"/>
            <a:ext cx="11507056" cy="1688387"/>
          </a:xfrm>
          <a:custGeom>
            <a:rect b="b" l="l" r="r" t="t"/>
            <a:pathLst>
              <a:path extrusionOk="0" h="1455506" w="11507056">
                <a:moveTo>
                  <a:pt x="34247" y="0"/>
                </a:moveTo>
                <a:lnTo>
                  <a:pt x="11472809" y="0"/>
                </a:lnTo>
                <a:cubicBezTo>
                  <a:pt x="11491723" y="0"/>
                  <a:pt x="11507056" y="15333"/>
                  <a:pt x="11507056" y="34247"/>
                </a:cubicBezTo>
                <a:lnTo>
                  <a:pt x="11507056" y="1387010"/>
                </a:lnTo>
                <a:cubicBezTo>
                  <a:pt x="11507056" y="1424839"/>
                  <a:pt x="11476389" y="1455506"/>
                  <a:pt x="11438560" y="1455506"/>
                </a:cubicBezTo>
                <a:lnTo>
                  <a:pt x="68496" y="1455506"/>
                </a:lnTo>
                <a:cubicBezTo>
                  <a:pt x="30667" y="1455506"/>
                  <a:pt x="0" y="1424839"/>
                  <a:pt x="0" y="1387010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1371" rotWithShape="0" algn="bl" dir="5400000" dist="34247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7"/>
          <p:cNvSpPr/>
          <p:nvPr/>
        </p:nvSpPr>
        <p:spPr>
          <a:xfrm>
            <a:off x="342475" y="5053400"/>
            <a:ext cx="11507056" cy="39727"/>
          </a:xfrm>
          <a:custGeom>
            <a:rect b="b" l="l" r="r" t="t"/>
            <a:pathLst>
              <a:path extrusionOk="0" h="34247" w="11507056">
                <a:moveTo>
                  <a:pt x="34247" y="0"/>
                </a:moveTo>
                <a:lnTo>
                  <a:pt x="11472809" y="0"/>
                </a:lnTo>
                <a:cubicBezTo>
                  <a:pt x="11491723" y="0"/>
                  <a:pt x="11507056" y="15333"/>
                  <a:pt x="11507056" y="34247"/>
                </a:cubicBezTo>
                <a:lnTo>
                  <a:pt x="11507056" y="34247"/>
                </a:lnTo>
                <a:lnTo>
                  <a:pt x="0" y="34247"/>
                </a:ln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B8B1A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7"/>
          <p:cNvSpPr/>
          <p:nvPr/>
        </p:nvSpPr>
        <p:spPr>
          <a:xfrm>
            <a:off x="342475" y="5073296"/>
            <a:ext cx="11507056" cy="436994"/>
          </a:xfrm>
          <a:custGeom>
            <a:rect b="b" l="l" r="r" t="t"/>
            <a:pathLst>
              <a:path extrusionOk="0" h="376719" w="11507056">
                <a:moveTo>
                  <a:pt x="0" y="0"/>
                </a:moveTo>
                <a:lnTo>
                  <a:pt x="11507056" y="0"/>
                </a:lnTo>
                <a:lnTo>
                  <a:pt x="11507056" y="376719"/>
                </a:lnTo>
                <a:lnTo>
                  <a:pt x="0" y="376719"/>
                </a:lnTo>
                <a:lnTo>
                  <a:pt x="0" y="0"/>
                </a:ln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7"/>
          <p:cNvSpPr/>
          <p:nvPr/>
        </p:nvSpPr>
        <p:spPr>
          <a:xfrm>
            <a:off x="479464" y="5152884"/>
            <a:ext cx="32277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13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Goal 3: Increase User Retention &amp; Engagement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7"/>
          <p:cNvSpPr/>
          <p:nvPr/>
        </p:nvSpPr>
        <p:spPr>
          <a:xfrm>
            <a:off x="10237639" y="5152884"/>
            <a:ext cx="1472629" cy="278087"/>
          </a:xfrm>
          <a:custGeom>
            <a:rect b="b" l="l" r="r" t="t"/>
            <a:pathLst>
              <a:path extrusionOk="0" h="239730" w="1472629">
                <a:moveTo>
                  <a:pt x="119865" y="0"/>
                </a:moveTo>
                <a:lnTo>
                  <a:pt x="1352764" y="0"/>
                </a:lnTo>
                <a:cubicBezTo>
                  <a:pt x="1418964" y="0"/>
                  <a:pt x="1472629" y="53665"/>
                  <a:pt x="1472629" y="119865"/>
                </a:cubicBezTo>
                <a:lnTo>
                  <a:pt x="1472629" y="119865"/>
                </a:lnTo>
                <a:cubicBezTo>
                  <a:pt x="1472629" y="186065"/>
                  <a:pt x="1418964" y="239730"/>
                  <a:pt x="1352764" y="239730"/>
                </a:cubicBezTo>
                <a:lnTo>
                  <a:pt x="119865" y="239730"/>
                </a:lnTo>
                <a:cubicBezTo>
                  <a:pt x="53665" y="239730"/>
                  <a:pt x="0" y="186065"/>
                  <a:pt x="0" y="119865"/>
                </a:cubicBezTo>
                <a:lnTo>
                  <a:pt x="0" y="119865"/>
                </a:lnTo>
                <a:cubicBezTo>
                  <a:pt x="0" y="53665"/>
                  <a:pt x="53665" y="0"/>
                  <a:pt x="11986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7"/>
          <p:cNvSpPr/>
          <p:nvPr/>
        </p:nvSpPr>
        <p:spPr>
          <a:xfrm>
            <a:off x="10237639" y="5152884"/>
            <a:ext cx="15327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25" lIns="102725" spcFirstLastPara="1" rIns="102725" wrap="square" tIns="342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43">
                <a:solidFill>
                  <a:srgbClr val="2D6A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Long-term Sustainability</a:t>
            </a:r>
            <a:endParaRPr b="1" sz="1600">
              <a:solidFill>
                <a:srgbClr val="2D6A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7"/>
          <p:cNvSpPr/>
          <p:nvPr/>
        </p:nvSpPr>
        <p:spPr>
          <a:xfrm>
            <a:off x="445216" y="5630406"/>
            <a:ext cx="22347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D6A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Specific</a:t>
            </a:r>
            <a:endParaRPr b="1" sz="1200">
              <a:solidFill>
                <a:srgbClr val="2D6A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7"/>
          <p:cNvSpPr/>
          <p:nvPr/>
        </p:nvSpPr>
        <p:spPr>
          <a:xfrm>
            <a:off x="445216" y="5869167"/>
            <a:ext cx="22347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Repeated usage driven by daily decision support &amp; habit formation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7"/>
          <p:cNvSpPr/>
          <p:nvPr/>
        </p:nvSpPr>
        <p:spPr>
          <a:xfrm>
            <a:off x="2725999" y="5630406"/>
            <a:ext cx="22347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D6A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Measurable</a:t>
            </a:r>
            <a:endParaRPr b="1" sz="1200">
              <a:solidFill>
                <a:srgbClr val="2D6A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7"/>
          <p:cNvSpPr/>
          <p:nvPr/>
        </p:nvSpPr>
        <p:spPr>
          <a:xfrm>
            <a:off x="2725999" y="5869167"/>
            <a:ext cx="22347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Retention rate, DAU/MAU ratio, session frequency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7"/>
          <p:cNvSpPr/>
          <p:nvPr/>
        </p:nvSpPr>
        <p:spPr>
          <a:xfrm>
            <a:off x="5006916" y="5630406"/>
            <a:ext cx="22347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D6A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Achievable</a:t>
            </a:r>
            <a:endParaRPr b="1" sz="1200">
              <a:solidFill>
                <a:srgbClr val="2D6A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7"/>
          <p:cNvSpPr/>
          <p:nvPr/>
        </p:nvSpPr>
        <p:spPr>
          <a:xfrm>
            <a:off x="5006916" y="5869167"/>
            <a:ext cx="22347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With good UX &amp; personalization; dependent on onboarding success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7"/>
          <p:cNvSpPr/>
          <p:nvPr/>
        </p:nvSpPr>
        <p:spPr>
          <a:xfrm>
            <a:off x="7287698" y="5630406"/>
            <a:ext cx="22347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D6A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Relevant</a:t>
            </a:r>
            <a:endParaRPr b="1" sz="1200">
              <a:solidFill>
                <a:srgbClr val="2D6A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7"/>
          <p:cNvSpPr/>
          <p:nvPr/>
        </p:nvSpPr>
        <p:spPr>
          <a:xfrm>
            <a:off x="7287698" y="5869167"/>
            <a:ext cx="22347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Important for long-term sustainability &amp; defensibility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7"/>
          <p:cNvSpPr/>
          <p:nvPr/>
        </p:nvSpPr>
        <p:spPr>
          <a:xfrm>
            <a:off x="9568615" y="5630406"/>
            <a:ext cx="22347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D6A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Time-Bound</a:t>
            </a:r>
            <a:endParaRPr b="1" sz="1200">
              <a:solidFill>
                <a:srgbClr val="2D6A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7"/>
          <p:cNvSpPr/>
          <p:nvPr/>
        </p:nvSpPr>
        <p:spPr>
          <a:xfrm>
            <a:off x="9568615" y="5869167"/>
            <a:ext cx="2234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First 3-6 months post-adoption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7"/>
          <p:cNvSpPr/>
          <p:nvPr/>
        </p:nvSpPr>
        <p:spPr>
          <a:xfrm>
            <a:off x="445216" y="6336742"/>
            <a:ext cx="11301573" cy="9932"/>
          </a:xfrm>
          <a:custGeom>
            <a:rect b="b" l="l" r="r" t="t"/>
            <a:pathLst>
              <a:path extrusionOk="0" h="8562" w="11301573">
                <a:moveTo>
                  <a:pt x="0" y="0"/>
                </a:moveTo>
                <a:lnTo>
                  <a:pt x="11301573" y="0"/>
                </a:lnTo>
                <a:lnTo>
                  <a:pt x="11301573" y="8562"/>
                </a:lnTo>
                <a:lnTo>
                  <a:pt x="0" y="8562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7"/>
          <p:cNvSpPr/>
          <p:nvPr/>
        </p:nvSpPr>
        <p:spPr>
          <a:xfrm>
            <a:off x="477323" y="6451147"/>
            <a:ext cx="89899" cy="139043"/>
          </a:xfrm>
          <a:custGeom>
            <a:rect b="b" l="l" r="r" t="t"/>
            <a:pathLst>
              <a:path extrusionOk="0" h="119865" w="89899">
                <a:moveTo>
                  <a:pt x="68571" y="89899"/>
                </a:moveTo>
                <a:cubicBezTo>
                  <a:pt x="70280" y="84678"/>
                  <a:pt x="73698" y="79949"/>
                  <a:pt x="77561" y="75876"/>
                </a:cubicBezTo>
                <a:cubicBezTo>
                  <a:pt x="85217" y="67822"/>
                  <a:pt x="89899" y="56936"/>
                  <a:pt x="89899" y="44949"/>
                </a:cubicBezTo>
                <a:cubicBezTo>
                  <a:pt x="89899" y="20134"/>
                  <a:pt x="69765" y="0"/>
                  <a:pt x="44949" y="0"/>
                </a:cubicBezTo>
                <a:cubicBezTo>
                  <a:pt x="20134" y="0"/>
                  <a:pt x="0" y="20134"/>
                  <a:pt x="0" y="44949"/>
                </a:cubicBezTo>
                <a:cubicBezTo>
                  <a:pt x="0" y="56936"/>
                  <a:pt x="4682" y="67822"/>
                  <a:pt x="12338" y="75876"/>
                </a:cubicBezTo>
                <a:cubicBezTo>
                  <a:pt x="16201" y="79949"/>
                  <a:pt x="19642" y="84678"/>
                  <a:pt x="21328" y="89899"/>
                </a:cubicBezTo>
                <a:lnTo>
                  <a:pt x="68548" y="89899"/>
                </a:lnTo>
                <a:close/>
                <a:moveTo>
                  <a:pt x="67424" y="101136"/>
                </a:moveTo>
                <a:lnTo>
                  <a:pt x="22475" y="101136"/>
                </a:lnTo>
                <a:lnTo>
                  <a:pt x="22475" y="104882"/>
                </a:lnTo>
                <a:cubicBezTo>
                  <a:pt x="22475" y="115230"/>
                  <a:pt x="30856" y="123611"/>
                  <a:pt x="41204" y="123611"/>
                </a:cubicBezTo>
                <a:lnTo>
                  <a:pt x="48695" y="123611"/>
                </a:lnTo>
                <a:cubicBezTo>
                  <a:pt x="59043" y="123611"/>
                  <a:pt x="67424" y="115230"/>
                  <a:pt x="67424" y="104882"/>
                </a:cubicBezTo>
                <a:lnTo>
                  <a:pt x="67424" y="101136"/>
                </a:lnTo>
                <a:close/>
                <a:moveTo>
                  <a:pt x="43077" y="26221"/>
                </a:moveTo>
                <a:cubicBezTo>
                  <a:pt x="33759" y="26221"/>
                  <a:pt x="26221" y="33759"/>
                  <a:pt x="26221" y="43077"/>
                </a:cubicBezTo>
                <a:cubicBezTo>
                  <a:pt x="26221" y="46190"/>
                  <a:pt x="23716" y="48695"/>
                  <a:pt x="20602" y="48695"/>
                </a:cubicBezTo>
                <a:cubicBezTo>
                  <a:pt x="17488" y="48695"/>
                  <a:pt x="14983" y="46190"/>
                  <a:pt x="14983" y="43077"/>
                </a:cubicBezTo>
                <a:cubicBezTo>
                  <a:pt x="14983" y="27555"/>
                  <a:pt x="27555" y="14983"/>
                  <a:pt x="43077" y="14983"/>
                </a:cubicBezTo>
                <a:cubicBezTo>
                  <a:pt x="46190" y="14983"/>
                  <a:pt x="48695" y="17488"/>
                  <a:pt x="48695" y="20602"/>
                </a:cubicBezTo>
                <a:cubicBezTo>
                  <a:pt x="48695" y="23716"/>
                  <a:pt x="46190" y="26221"/>
                  <a:pt x="43077" y="26221"/>
                </a:cubicBezTo>
                <a:close/>
              </a:path>
            </a:pathLst>
          </a:custGeom>
          <a:solidFill>
            <a:srgbClr val="C78D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7"/>
          <p:cNvSpPr/>
          <p:nvPr/>
        </p:nvSpPr>
        <p:spPr>
          <a:xfrm>
            <a:off x="622417" y="6421302"/>
            <a:ext cx="111843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Justification: Retention reflects whether product truly reduces decision friction and creates value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0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8"/>
          <p:cNvSpPr/>
          <p:nvPr/>
        </p:nvSpPr>
        <p:spPr>
          <a:xfrm>
            <a:off x="317500" y="235800"/>
            <a:ext cx="116127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C78D4E"/>
                </a:solidFill>
                <a:latin typeface="Liter"/>
                <a:ea typeface="Liter"/>
                <a:cs typeface="Liter"/>
                <a:sym typeface="Liter"/>
              </a:rPr>
              <a:t>DELIVERABLE 4.2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8"/>
          <p:cNvSpPr/>
          <p:nvPr/>
        </p:nvSpPr>
        <p:spPr>
          <a:xfrm>
            <a:off x="317500" y="476280"/>
            <a:ext cx="11676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A5741"/>
                </a:solidFill>
                <a:latin typeface="Oranienbaum"/>
                <a:ea typeface="Oranienbaum"/>
                <a:cs typeface="Oranienbaum"/>
                <a:sym typeface="Oranienbaum"/>
              </a:rPr>
              <a:t>Subjective Business Goals: Perception &amp; Experience</a:t>
            </a:r>
            <a:endParaRPr b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8"/>
          <p:cNvSpPr/>
          <p:nvPr/>
        </p:nvSpPr>
        <p:spPr>
          <a:xfrm>
            <a:off x="317500" y="877080"/>
            <a:ext cx="116205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Three SMART goals focused on user experience and psychological outcomes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8"/>
          <p:cNvSpPr/>
          <p:nvPr/>
        </p:nvSpPr>
        <p:spPr>
          <a:xfrm>
            <a:off x="317500" y="1257839"/>
            <a:ext cx="11557000" cy="1703586"/>
          </a:xfrm>
          <a:custGeom>
            <a:rect b="b" l="l" r="r" t="t"/>
            <a:pathLst>
              <a:path extrusionOk="0" h="1349375" w="11557000">
                <a:moveTo>
                  <a:pt x="31750" y="0"/>
                </a:moveTo>
                <a:lnTo>
                  <a:pt x="11525250" y="0"/>
                </a:lnTo>
                <a:cubicBezTo>
                  <a:pt x="11542773" y="0"/>
                  <a:pt x="11557000" y="14227"/>
                  <a:pt x="11557000" y="31750"/>
                </a:cubicBezTo>
                <a:lnTo>
                  <a:pt x="11557000" y="1285873"/>
                </a:lnTo>
                <a:cubicBezTo>
                  <a:pt x="11557000" y="1320944"/>
                  <a:pt x="11528569" y="1349375"/>
                  <a:pt x="11493498" y="1349375"/>
                </a:cubicBezTo>
                <a:lnTo>
                  <a:pt x="63502" y="1349375"/>
                </a:lnTo>
                <a:cubicBezTo>
                  <a:pt x="28431" y="1349375"/>
                  <a:pt x="0" y="1320944"/>
                  <a:pt x="0" y="128587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7625" rotWithShape="0" algn="bl" dir="5400000" dist="3175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8"/>
          <p:cNvSpPr/>
          <p:nvPr/>
        </p:nvSpPr>
        <p:spPr>
          <a:xfrm>
            <a:off x="317500" y="1247199"/>
            <a:ext cx="11557000" cy="40084"/>
          </a:xfrm>
          <a:custGeom>
            <a:rect b="b" l="l" r="r" t="t"/>
            <a:pathLst>
              <a:path extrusionOk="0" h="31750" w="11557000">
                <a:moveTo>
                  <a:pt x="31750" y="0"/>
                </a:moveTo>
                <a:lnTo>
                  <a:pt x="11525250" y="0"/>
                </a:lnTo>
                <a:cubicBezTo>
                  <a:pt x="11542773" y="0"/>
                  <a:pt x="11557000" y="14227"/>
                  <a:pt x="11557000" y="31750"/>
                </a:cubicBezTo>
                <a:lnTo>
                  <a:pt x="11557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57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8"/>
          <p:cNvSpPr/>
          <p:nvPr/>
        </p:nvSpPr>
        <p:spPr>
          <a:xfrm>
            <a:off x="317500" y="1277879"/>
            <a:ext cx="11557000" cy="440928"/>
          </a:xfrm>
          <a:custGeom>
            <a:rect b="b" l="l" r="r" t="t"/>
            <a:pathLst>
              <a:path extrusionOk="0" h="349250" w="11557000">
                <a:moveTo>
                  <a:pt x="0" y="0"/>
                </a:moveTo>
                <a:lnTo>
                  <a:pt x="11557000" y="0"/>
                </a:lnTo>
                <a:lnTo>
                  <a:pt x="11557000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CA35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8"/>
          <p:cNvSpPr/>
          <p:nvPr/>
        </p:nvSpPr>
        <p:spPr>
          <a:xfrm>
            <a:off x="444500" y="1358050"/>
            <a:ext cx="40353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5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Goal 1: Reduce Perceived Meal Decision Fatigue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8"/>
          <p:cNvSpPr/>
          <p:nvPr/>
        </p:nvSpPr>
        <p:spPr>
          <a:xfrm>
            <a:off x="10894839" y="1358039"/>
            <a:ext cx="849313" cy="280591"/>
          </a:xfrm>
          <a:custGeom>
            <a:rect b="b" l="l" r="r" t="t"/>
            <a:pathLst>
              <a:path extrusionOk="0" h="222250" w="849313">
                <a:moveTo>
                  <a:pt x="111125" y="0"/>
                </a:moveTo>
                <a:lnTo>
                  <a:pt x="738188" y="0"/>
                </a:lnTo>
                <a:cubicBezTo>
                  <a:pt x="799519" y="0"/>
                  <a:pt x="849313" y="49793"/>
                  <a:pt x="849313" y="111125"/>
                </a:cubicBezTo>
                <a:lnTo>
                  <a:pt x="849313" y="111125"/>
                </a:lnTo>
                <a:cubicBezTo>
                  <a:pt x="849313" y="172457"/>
                  <a:pt x="799519" y="222250"/>
                  <a:pt x="738188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8"/>
          <p:cNvSpPr/>
          <p:nvPr/>
        </p:nvSpPr>
        <p:spPr>
          <a:xfrm>
            <a:off x="10906076" y="1337775"/>
            <a:ext cx="9921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750" lIns="95250" spcFirstLastPara="1" rIns="95250" wrap="square" tIns="317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5">
                <a:solidFill>
                  <a:srgbClr val="CA35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Problem</a:t>
            </a:r>
            <a:endParaRPr b="1" sz="1600">
              <a:solidFill>
                <a:srgbClr val="CA35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8"/>
          <p:cNvSpPr/>
          <p:nvPr/>
        </p:nvSpPr>
        <p:spPr>
          <a:xfrm>
            <a:off x="412750" y="1838999"/>
            <a:ext cx="22542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A35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Specific</a:t>
            </a:r>
            <a:endParaRPr b="1" sz="1200">
              <a:solidFill>
                <a:srgbClr val="CA35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8"/>
          <p:cNvSpPr/>
          <p:nvPr/>
        </p:nvSpPr>
        <p:spPr>
          <a:xfrm>
            <a:off x="412750" y="2079479"/>
            <a:ext cx="22542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Lower cognitive effort when deciding what to eat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8"/>
          <p:cNvSpPr/>
          <p:nvPr/>
        </p:nvSpPr>
        <p:spPr>
          <a:xfrm>
            <a:off x="2705075" y="1838999"/>
            <a:ext cx="22542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A35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Measurable (Proxy)</a:t>
            </a:r>
            <a:endParaRPr b="1" sz="1200">
              <a:solidFill>
                <a:srgbClr val="CA35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8"/>
          <p:cNvSpPr/>
          <p:nvPr/>
        </p:nvSpPr>
        <p:spPr>
          <a:xfrm>
            <a:off x="2705075" y="2079479"/>
            <a:ext cx="22542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surveys, satisfaction scores, self-reported decision effort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8"/>
          <p:cNvSpPr/>
          <p:nvPr/>
        </p:nvSpPr>
        <p:spPr>
          <a:xfrm>
            <a:off x="4997400" y="1838999"/>
            <a:ext cx="22542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A35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Achievable</a:t>
            </a:r>
            <a:endParaRPr b="1" sz="1200">
              <a:solidFill>
                <a:srgbClr val="CA35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8"/>
          <p:cNvSpPr/>
          <p:nvPr/>
        </p:nvSpPr>
        <p:spPr>
          <a:xfrm>
            <a:off x="4997400" y="2079479"/>
            <a:ext cx="22542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If recommendations are timely, relevant, and reduce mental load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8"/>
          <p:cNvSpPr/>
          <p:nvPr/>
        </p:nvSpPr>
        <p:spPr>
          <a:xfrm>
            <a:off x="7289726" y="1838999"/>
            <a:ext cx="22542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A35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Relevant</a:t>
            </a:r>
            <a:endParaRPr b="1" sz="1200">
              <a:solidFill>
                <a:srgbClr val="CA35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8"/>
          <p:cNvSpPr/>
          <p:nvPr/>
        </p:nvSpPr>
        <p:spPr>
          <a:xfrm>
            <a:off x="7289726" y="2079479"/>
            <a:ext cx="22542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problem the product claims to solve in Lean Canvas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8"/>
          <p:cNvSpPr/>
          <p:nvPr/>
        </p:nvSpPr>
        <p:spPr>
          <a:xfrm>
            <a:off x="9582051" y="1838999"/>
            <a:ext cx="22542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A35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Time-Bound</a:t>
            </a:r>
            <a:endParaRPr b="1" sz="1200">
              <a:solidFill>
                <a:srgbClr val="CA35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8"/>
          <p:cNvSpPr/>
          <p:nvPr/>
        </p:nvSpPr>
        <p:spPr>
          <a:xfrm>
            <a:off x="9582051" y="2079479"/>
            <a:ext cx="2254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After several weeks of product usage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8"/>
          <p:cNvSpPr/>
          <p:nvPr/>
        </p:nvSpPr>
        <p:spPr>
          <a:xfrm>
            <a:off x="412750" y="2550419"/>
            <a:ext cx="11366500" cy="10022"/>
          </a:xfrm>
          <a:custGeom>
            <a:rect b="b" l="l" r="r" t="t"/>
            <a:pathLst>
              <a:path extrusionOk="0" h="7938" w="11366500">
                <a:moveTo>
                  <a:pt x="0" y="0"/>
                </a:moveTo>
                <a:lnTo>
                  <a:pt x="11366500" y="0"/>
                </a:lnTo>
                <a:lnTo>
                  <a:pt x="11366500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8"/>
          <p:cNvSpPr/>
          <p:nvPr/>
        </p:nvSpPr>
        <p:spPr>
          <a:xfrm>
            <a:off x="442516" y="2665649"/>
            <a:ext cx="83344" cy="140295"/>
          </a:xfrm>
          <a:custGeom>
            <a:rect b="b" l="l" r="r" t="t"/>
            <a:pathLst>
              <a:path extrusionOk="0" h="111125" w="83344">
                <a:moveTo>
                  <a:pt x="63571" y="83344"/>
                </a:moveTo>
                <a:cubicBezTo>
                  <a:pt x="65156" y="78504"/>
                  <a:pt x="68325" y="74120"/>
                  <a:pt x="71906" y="70343"/>
                </a:cubicBezTo>
                <a:cubicBezTo>
                  <a:pt x="79003" y="62877"/>
                  <a:pt x="83344" y="52784"/>
                  <a:pt x="83344" y="41672"/>
                </a:cubicBezTo>
                <a:cubicBezTo>
                  <a:pt x="83344" y="18666"/>
                  <a:pt x="64678" y="0"/>
                  <a:pt x="41672" y="0"/>
                </a:cubicBezTo>
                <a:cubicBezTo>
                  <a:pt x="18666" y="0"/>
                  <a:pt x="0" y="18666"/>
                  <a:pt x="0" y="41672"/>
                </a:cubicBezTo>
                <a:cubicBezTo>
                  <a:pt x="0" y="52784"/>
                  <a:pt x="4341" y="62877"/>
                  <a:pt x="11438" y="70343"/>
                </a:cubicBezTo>
                <a:cubicBezTo>
                  <a:pt x="15019" y="74120"/>
                  <a:pt x="18210" y="78504"/>
                  <a:pt x="19772" y="83344"/>
                </a:cubicBezTo>
                <a:lnTo>
                  <a:pt x="63550" y="83344"/>
                </a:lnTo>
                <a:close/>
                <a:moveTo>
                  <a:pt x="62508" y="93762"/>
                </a:moveTo>
                <a:lnTo>
                  <a:pt x="20836" y="93762"/>
                </a:lnTo>
                <a:lnTo>
                  <a:pt x="20836" y="97234"/>
                </a:lnTo>
                <a:cubicBezTo>
                  <a:pt x="20836" y="106828"/>
                  <a:pt x="28606" y="114598"/>
                  <a:pt x="38199" y="114598"/>
                </a:cubicBezTo>
                <a:lnTo>
                  <a:pt x="45145" y="114598"/>
                </a:lnTo>
                <a:cubicBezTo>
                  <a:pt x="54738" y="114598"/>
                  <a:pt x="62508" y="106828"/>
                  <a:pt x="62508" y="97234"/>
                </a:cubicBezTo>
                <a:lnTo>
                  <a:pt x="62508" y="93762"/>
                </a:lnTo>
                <a:close/>
                <a:moveTo>
                  <a:pt x="39936" y="24309"/>
                </a:moveTo>
                <a:cubicBezTo>
                  <a:pt x="31297" y="24309"/>
                  <a:pt x="24309" y="31297"/>
                  <a:pt x="24309" y="39936"/>
                </a:cubicBezTo>
                <a:cubicBezTo>
                  <a:pt x="24309" y="42822"/>
                  <a:pt x="21986" y="45145"/>
                  <a:pt x="19100" y="45145"/>
                </a:cubicBezTo>
                <a:cubicBezTo>
                  <a:pt x="16213" y="45145"/>
                  <a:pt x="13891" y="42822"/>
                  <a:pt x="13891" y="39936"/>
                </a:cubicBezTo>
                <a:cubicBezTo>
                  <a:pt x="13891" y="25546"/>
                  <a:pt x="25546" y="13891"/>
                  <a:pt x="39936" y="13891"/>
                </a:cubicBezTo>
                <a:cubicBezTo>
                  <a:pt x="42822" y="13891"/>
                  <a:pt x="45145" y="16213"/>
                  <a:pt x="45145" y="19100"/>
                </a:cubicBezTo>
                <a:cubicBezTo>
                  <a:pt x="45145" y="21986"/>
                  <a:pt x="42822" y="24309"/>
                  <a:pt x="39936" y="24309"/>
                </a:cubicBezTo>
                <a:close/>
              </a:path>
            </a:pathLst>
          </a:custGeom>
          <a:solidFill>
            <a:srgbClr val="C78D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8"/>
          <p:cNvSpPr/>
          <p:nvPr/>
        </p:nvSpPr>
        <p:spPr>
          <a:xfrm>
            <a:off x="575469" y="2635588"/>
            <a:ext cx="112593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Justification: Decision fatigue reduction is the primary problem identified in the Lean Canvas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8"/>
          <p:cNvSpPr/>
          <p:nvPr/>
        </p:nvSpPr>
        <p:spPr>
          <a:xfrm>
            <a:off x="317500" y="3096508"/>
            <a:ext cx="11557000" cy="1703586"/>
          </a:xfrm>
          <a:custGeom>
            <a:rect b="b" l="l" r="r" t="t"/>
            <a:pathLst>
              <a:path extrusionOk="0" h="1349375" w="11557000">
                <a:moveTo>
                  <a:pt x="31750" y="0"/>
                </a:moveTo>
                <a:lnTo>
                  <a:pt x="11525250" y="0"/>
                </a:lnTo>
                <a:cubicBezTo>
                  <a:pt x="11542773" y="0"/>
                  <a:pt x="11557000" y="14227"/>
                  <a:pt x="11557000" y="31750"/>
                </a:cubicBezTo>
                <a:lnTo>
                  <a:pt x="11557000" y="1285873"/>
                </a:lnTo>
                <a:cubicBezTo>
                  <a:pt x="11557000" y="1320944"/>
                  <a:pt x="11528569" y="1349375"/>
                  <a:pt x="11493498" y="1349375"/>
                </a:cubicBezTo>
                <a:lnTo>
                  <a:pt x="63502" y="1349375"/>
                </a:lnTo>
                <a:cubicBezTo>
                  <a:pt x="28431" y="1349375"/>
                  <a:pt x="0" y="1320944"/>
                  <a:pt x="0" y="128587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7625" rotWithShape="0" algn="bl" dir="5400000" dist="3175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8"/>
          <p:cNvSpPr/>
          <p:nvPr/>
        </p:nvSpPr>
        <p:spPr>
          <a:xfrm>
            <a:off x="317500" y="3096508"/>
            <a:ext cx="11557000" cy="40084"/>
          </a:xfrm>
          <a:custGeom>
            <a:rect b="b" l="l" r="r" t="t"/>
            <a:pathLst>
              <a:path extrusionOk="0" h="31750" w="11557000">
                <a:moveTo>
                  <a:pt x="31750" y="0"/>
                </a:moveTo>
                <a:lnTo>
                  <a:pt x="11525250" y="0"/>
                </a:lnTo>
                <a:cubicBezTo>
                  <a:pt x="11542773" y="0"/>
                  <a:pt x="11557000" y="14227"/>
                  <a:pt x="11557000" y="31750"/>
                </a:cubicBezTo>
                <a:lnTo>
                  <a:pt x="11557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8D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8"/>
          <p:cNvSpPr/>
          <p:nvPr/>
        </p:nvSpPr>
        <p:spPr>
          <a:xfrm>
            <a:off x="317500" y="3116548"/>
            <a:ext cx="11557000" cy="440928"/>
          </a:xfrm>
          <a:custGeom>
            <a:rect b="b" l="l" r="r" t="t"/>
            <a:pathLst>
              <a:path extrusionOk="0" h="349250" w="11557000">
                <a:moveTo>
                  <a:pt x="0" y="0"/>
                </a:moveTo>
                <a:lnTo>
                  <a:pt x="11557000" y="0"/>
                </a:lnTo>
                <a:lnTo>
                  <a:pt x="11557000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C78D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8"/>
          <p:cNvSpPr/>
          <p:nvPr/>
        </p:nvSpPr>
        <p:spPr>
          <a:xfrm>
            <a:off x="444500" y="3196700"/>
            <a:ext cx="4552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5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Goal 2: Build Trust in AI-Generated Recommendations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8"/>
          <p:cNvSpPr/>
          <p:nvPr/>
        </p:nvSpPr>
        <p:spPr>
          <a:xfrm>
            <a:off x="10752088" y="3196708"/>
            <a:ext cx="992188" cy="280591"/>
          </a:xfrm>
          <a:custGeom>
            <a:rect b="b" l="l" r="r" t="t"/>
            <a:pathLst>
              <a:path extrusionOk="0" h="222250" w="992188">
                <a:moveTo>
                  <a:pt x="111125" y="0"/>
                </a:moveTo>
                <a:lnTo>
                  <a:pt x="881063" y="0"/>
                </a:lnTo>
                <a:cubicBezTo>
                  <a:pt x="942394" y="0"/>
                  <a:pt x="992188" y="49793"/>
                  <a:pt x="992188" y="111125"/>
                </a:cubicBezTo>
                <a:lnTo>
                  <a:pt x="992188" y="111125"/>
                </a:lnTo>
                <a:cubicBezTo>
                  <a:pt x="992188" y="172457"/>
                  <a:pt x="942394" y="222250"/>
                  <a:pt x="881063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8"/>
          <p:cNvSpPr/>
          <p:nvPr/>
        </p:nvSpPr>
        <p:spPr>
          <a:xfrm>
            <a:off x="10730900" y="3179300"/>
            <a:ext cx="13200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750" lIns="95250" spcFirstLastPara="1" rIns="95250" wrap="square" tIns="317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5">
                <a:solidFill>
                  <a:srgbClr val="C78D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Adoption Critical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8"/>
          <p:cNvSpPr/>
          <p:nvPr/>
        </p:nvSpPr>
        <p:spPr>
          <a:xfrm>
            <a:off x="412750" y="3677667"/>
            <a:ext cx="22542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78D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Specific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8"/>
          <p:cNvSpPr/>
          <p:nvPr/>
        </p:nvSpPr>
        <p:spPr>
          <a:xfrm>
            <a:off x="412750" y="3918147"/>
            <a:ext cx="22542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Users feel confident following AI suggestions for meals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8"/>
          <p:cNvSpPr/>
          <p:nvPr/>
        </p:nvSpPr>
        <p:spPr>
          <a:xfrm>
            <a:off x="2705075" y="3677667"/>
            <a:ext cx="22542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78D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Measurable (Proxy)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8"/>
          <p:cNvSpPr/>
          <p:nvPr/>
        </p:nvSpPr>
        <p:spPr>
          <a:xfrm>
            <a:off x="2705075" y="3918151"/>
            <a:ext cx="22542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trust ratings, feedback scores, error reports, recommendation acceptance rate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8"/>
          <p:cNvSpPr/>
          <p:nvPr/>
        </p:nvSpPr>
        <p:spPr>
          <a:xfrm>
            <a:off x="4997400" y="3677667"/>
            <a:ext cx="22542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78D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Achievable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8"/>
          <p:cNvSpPr/>
          <p:nvPr/>
        </p:nvSpPr>
        <p:spPr>
          <a:xfrm>
            <a:off x="4997400" y="3918147"/>
            <a:ext cx="22542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With transparency, accuracy, clear explanations, and user control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8"/>
          <p:cNvSpPr/>
          <p:nvPr/>
        </p:nvSpPr>
        <p:spPr>
          <a:xfrm>
            <a:off x="7289726" y="3677667"/>
            <a:ext cx="22542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78D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Relevant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8"/>
          <p:cNvSpPr/>
          <p:nvPr/>
        </p:nvSpPr>
        <p:spPr>
          <a:xfrm>
            <a:off x="7289725" y="3918153"/>
            <a:ext cx="22542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Critical for adoption of AI-driven features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8"/>
          <p:cNvSpPr/>
          <p:nvPr/>
        </p:nvSpPr>
        <p:spPr>
          <a:xfrm>
            <a:off x="9582051" y="3677667"/>
            <a:ext cx="22542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78D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Time-Bound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8"/>
          <p:cNvSpPr/>
          <p:nvPr/>
        </p:nvSpPr>
        <p:spPr>
          <a:xfrm>
            <a:off x="9582051" y="3918147"/>
            <a:ext cx="2254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Evaluated continuously during early iterations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8"/>
          <p:cNvSpPr/>
          <p:nvPr/>
        </p:nvSpPr>
        <p:spPr>
          <a:xfrm>
            <a:off x="412750" y="4389088"/>
            <a:ext cx="11366500" cy="10022"/>
          </a:xfrm>
          <a:custGeom>
            <a:rect b="b" l="l" r="r" t="t"/>
            <a:pathLst>
              <a:path extrusionOk="0" h="7938" w="11366500">
                <a:moveTo>
                  <a:pt x="0" y="0"/>
                </a:moveTo>
                <a:lnTo>
                  <a:pt x="11366500" y="0"/>
                </a:lnTo>
                <a:lnTo>
                  <a:pt x="11366500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8"/>
          <p:cNvSpPr/>
          <p:nvPr/>
        </p:nvSpPr>
        <p:spPr>
          <a:xfrm>
            <a:off x="442516" y="4504317"/>
            <a:ext cx="83344" cy="140295"/>
          </a:xfrm>
          <a:custGeom>
            <a:rect b="b" l="l" r="r" t="t"/>
            <a:pathLst>
              <a:path extrusionOk="0" h="111125" w="83344">
                <a:moveTo>
                  <a:pt x="63571" y="83344"/>
                </a:moveTo>
                <a:cubicBezTo>
                  <a:pt x="65156" y="78504"/>
                  <a:pt x="68325" y="74120"/>
                  <a:pt x="71906" y="70343"/>
                </a:cubicBezTo>
                <a:cubicBezTo>
                  <a:pt x="79003" y="62877"/>
                  <a:pt x="83344" y="52784"/>
                  <a:pt x="83344" y="41672"/>
                </a:cubicBezTo>
                <a:cubicBezTo>
                  <a:pt x="83344" y="18666"/>
                  <a:pt x="64678" y="0"/>
                  <a:pt x="41672" y="0"/>
                </a:cubicBezTo>
                <a:cubicBezTo>
                  <a:pt x="18666" y="0"/>
                  <a:pt x="0" y="18666"/>
                  <a:pt x="0" y="41672"/>
                </a:cubicBezTo>
                <a:cubicBezTo>
                  <a:pt x="0" y="52784"/>
                  <a:pt x="4341" y="62877"/>
                  <a:pt x="11438" y="70343"/>
                </a:cubicBezTo>
                <a:cubicBezTo>
                  <a:pt x="15019" y="74120"/>
                  <a:pt x="18210" y="78504"/>
                  <a:pt x="19772" y="83344"/>
                </a:cubicBezTo>
                <a:lnTo>
                  <a:pt x="63550" y="83344"/>
                </a:lnTo>
                <a:close/>
                <a:moveTo>
                  <a:pt x="62508" y="93762"/>
                </a:moveTo>
                <a:lnTo>
                  <a:pt x="20836" y="93762"/>
                </a:lnTo>
                <a:lnTo>
                  <a:pt x="20836" y="97234"/>
                </a:lnTo>
                <a:cubicBezTo>
                  <a:pt x="20836" y="106828"/>
                  <a:pt x="28606" y="114598"/>
                  <a:pt x="38199" y="114598"/>
                </a:cubicBezTo>
                <a:lnTo>
                  <a:pt x="45145" y="114598"/>
                </a:lnTo>
                <a:cubicBezTo>
                  <a:pt x="54738" y="114598"/>
                  <a:pt x="62508" y="106828"/>
                  <a:pt x="62508" y="97234"/>
                </a:cubicBezTo>
                <a:lnTo>
                  <a:pt x="62508" y="93762"/>
                </a:lnTo>
                <a:close/>
                <a:moveTo>
                  <a:pt x="39936" y="24309"/>
                </a:moveTo>
                <a:cubicBezTo>
                  <a:pt x="31297" y="24309"/>
                  <a:pt x="24309" y="31297"/>
                  <a:pt x="24309" y="39936"/>
                </a:cubicBezTo>
                <a:cubicBezTo>
                  <a:pt x="24309" y="42822"/>
                  <a:pt x="21986" y="45145"/>
                  <a:pt x="19100" y="45145"/>
                </a:cubicBezTo>
                <a:cubicBezTo>
                  <a:pt x="16213" y="45145"/>
                  <a:pt x="13891" y="42822"/>
                  <a:pt x="13891" y="39936"/>
                </a:cubicBezTo>
                <a:cubicBezTo>
                  <a:pt x="13891" y="25546"/>
                  <a:pt x="25546" y="13891"/>
                  <a:pt x="39936" y="13891"/>
                </a:cubicBezTo>
                <a:cubicBezTo>
                  <a:pt x="42822" y="13891"/>
                  <a:pt x="45145" y="16213"/>
                  <a:pt x="45145" y="19100"/>
                </a:cubicBezTo>
                <a:cubicBezTo>
                  <a:pt x="45145" y="21986"/>
                  <a:pt x="42822" y="24309"/>
                  <a:pt x="39936" y="24309"/>
                </a:cubicBezTo>
                <a:close/>
              </a:path>
            </a:pathLst>
          </a:custGeom>
          <a:solidFill>
            <a:srgbClr val="C78D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8"/>
          <p:cNvSpPr/>
          <p:nvPr/>
        </p:nvSpPr>
        <p:spPr>
          <a:xfrm>
            <a:off x="575469" y="4474258"/>
            <a:ext cx="112593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Justification: AI trust directly impacts retention and perceived value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8"/>
          <p:cNvSpPr/>
          <p:nvPr/>
        </p:nvSpPr>
        <p:spPr>
          <a:xfrm>
            <a:off x="317500" y="4935178"/>
            <a:ext cx="11557000" cy="1703586"/>
          </a:xfrm>
          <a:custGeom>
            <a:rect b="b" l="l" r="r" t="t"/>
            <a:pathLst>
              <a:path extrusionOk="0" h="1349375" w="11557000">
                <a:moveTo>
                  <a:pt x="31750" y="0"/>
                </a:moveTo>
                <a:lnTo>
                  <a:pt x="11525250" y="0"/>
                </a:lnTo>
                <a:cubicBezTo>
                  <a:pt x="11542773" y="0"/>
                  <a:pt x="11557000" y="14227"/>
                  <a:pt x="11557000" y="31750"/>
                </a:cubicBezTo>
                <a:lnTo>
                  <a:pt x="11557000" y="1285873"/>
                </a:lnTo>
                <a:cubicBezTo>
                  <a:pt x="11557000" y="1320944"/>
                  <a:pt x="11528569" y="1349375"/>
                  <a:pt x="11493498" y="1349375"/>
                </a:cubicBezTo>
                <a:lnTo>
                  <a:pt x="63502" y="1349375"/>
                </a:lnTo>
                <a:cubicBezTo>
                  <a:pt x="28431" y="1349375"/>
                  <a:pt x="0" y="1320944"/>
                  <a:pt x="0" y="128587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7625" rotWithShape="0" algn="bl" dir="5400000" dist="3175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8"/>
          <p:cNvSpPr/>
          <p:nvPr/>
        </p:nvSpPr>
        <p:spPr>
          <a:xfrm>
            <a:off x="317500" y="4935178"/>
            <a:ext cx="11557000" cy="40084"/>
          </a:xfrm>
          <a:custGeom>
            <a:rect b="b" l="l" r="r" t="t"/>
            <a:pathLst>
              <a:path extrusionOk="0" h="31750" w="11557000">
                <a:moveTo>
                  <a:pt x="31750" y="0"/>
                </a:moveTo>
                <a:lnTo>
                  <a:pt x="11525250" y="0"/>
                </a:lnTo>
                <a:cubicBezTo>
                  <a:pt x="11542773" y="0"/>
                  <a:pt x="11557000" y="14227"/>
                  <a:pt x="11557000" y="31750"/>
                </a:cubicBezTo>
                <a:lnTo>
                  <a:pt x="11557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8B1A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8"/>
          <p:cNvSpPr/>
          <p:nvPr/>
        </p:nvSpPr>
        <p:spPr>
          <a:xfrm>
            <a:off x="317500" y="4955218"/>
            <a:ext cx="11557000" cy="440928"/>
          </a:xfrm>
          <a:custGeom>
            <a:rect b="b" l="l" r="r" t="t"/>
            <a:pathLst>
              <a:path extrusionOk="0" h="349250" w="11557000">
                <a:moveTo>
                  <a:pt x="0" y="0"/>
                </a:moveTo>
                <a:lnTo>
                  <a:pt x="11557000" y="0"/>
                </a:lnTo>
                <a:lnTo>
                  <a:pt x="11557000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8"/>
          <p:cNvSpPr/>
          <p:nvPr/>
        </p:nvSpPr>
        <p:spPr>
          <a:xfrm>
            <a:off x="444500" y="5035375"/>
            <a:ext cx="4413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5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Goal 3: Create Seamless &amp; Convenient User Experience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8"/>
          <p:cNvSpPr/>
          <p:nvPr/>
        </p:nvSpPr>
        <p:spPr>
          <a:xfrm>
            <a:off x="10874127" y="5035376"/>
            <a:ext cx="873125" cy="280591"/>
          </a:xfrm>
          <a:custGeom>
            <a:rect b="b" l="l" r="r" t="t"/>
            <a:pathLst>
              <a:path extrusionOk="0" h="222250" w="873125">
                <a:moveTo>
                  <a:pt x="111125" y="0"/>
                </a:moveTo>
                <a:lnTo>
                  <a:pt x="762000" y="0"/>
                </a:lnTo>
                <a:cubicBezTo>
                  <a:pt x="823332" y="0"/>
                  <a:pt x="873125" y="49793"/>
                  <a:pt x="873125" y="111125"/>
                </a:cubicBezTo>
                <a:lnTo>
                  <a:pt x="873125" y="111125"/>
                </a:lnTo>
                <a:cubicBezTo>
                  <a:pt x="873125" y="172457"/>
                  <a:pt x="823332" y="222250"/>
                  <a:pt x="76200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8"/>
          <p:cNvSpPr/>
          <p:nvPr/>
        </p:nvSpPr>
        <p:spPr>
          <a:xfrm>
            <a:off x="10874125" y="5035375"/>
            <a:ext cx="1056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750" lIns="95250" spcFirstLastPara="1" rIns="95250" wrap="square" tIns="317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5">
                <a:solidFill>
                  <a:srgbClr val="2D6A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Differentiation</a:t>
            </a:r>
            <a:endParaRPr b="1" sz="1600">
              <a:solidFill>
                <a:srgbClr val="2D6A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8"/>
          <p:cNvSpPr/>
          <p:nvPr/>
        </p:nvSpPr>
        <p:spPr>
          <a:xfrm>
            <a:off x="412750" y="5516337"/>
            <a:ext cx="22542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D6A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Specific</a:t>
            </a:r>
            <a:endParaRPr b="1" sz="1200">
              <a:solidFill>
                <a:srgbClr val="2D6A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8"/>
          <p:cNvSpPr/>
          <p:nvPr/>
        </p:nvSpPr>
        <p:spPr>
          <a:xfrm>
            <a:off x="412750" y="5756817"/>
            <a:ext cx="22542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Perceived convenience of having multiple functions in one system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8"/>
          <p:cNvSpPr/>
          <p:nvPr/>
        </p:nvSpPr>
        <p:spPr>
          <a:xfrm>
            <a:off x="2705075" y="5516337"/>
            <a:ext cx="22542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D6A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Measurable (Proxy)</a:t>
            </a:r>
            <a:endParaRPr b="1" sz="1200">
              <a:solidFill>
                <a:srgbClr val="2D6A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8"/>
          <p:cNvSpPr/>
          <p:nvPr/>
        </p:nvSpPr>
        <p:spPr>
          <a:xfrm>
            <a:off x="2705075" y="5756817"/>
            <a:ext cx="22542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satisfaction, usability testing scores, onboarding completion rates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8"/>
          <p:cNvSpPr/>
          <p:nvPr/>
        </p:nvSpPr>
        <p:spPr>
          <a:xfrm>
            <a:off x="4997400" y="5516337"/>
            <a:ext cx="22542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D6A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Achievable</a:t>
            </a:r>
            <a:endParaRPr b="1" sz="1200">
              <a:solidFill>
                <a:srgbClr val="2D6A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8"/>
          <p:cNvSpPr/>
          <p:nvPr/>
        </p:nvSpPr>
        <p:spPr>
          <a:xfrm>
            <a:off x="4997400" y="5756817"/>
            <a:ext cx="22542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With strong UX design; technically complex integration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8"/>
          <p:cNvSpPr/>
          <p:nvPr/>
        </p:nvSpPr>
        <p:spPr>
          <a:xfrm>
            <a:off x="7289726" y="5516337"/>
            <a:ext cx="22542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D6A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Relevant</a:t>
            </a:r>
            <a:endParaRPr b="1" sz="1200">
              <a:solidFill>
                <a:srgbClr val="2D6A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8"/>
          <p:cNvSpPr/>
          <p:nvPr/>
        </p:nvSpPr>
        <p:spPr>
          <a:xfrm>
            <a:off x="7289726" y="5756817"/>
            <a:ext cx="22542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Supports differentiation strategy of integrated solution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8"/>
          <p:cNvSpPr/>
          <p:nvPr/>
        </p:nvSpPr>
        <p:spPr>
          <a:xfrm>
            <a:off x="9582051" y="5516337"/>
            <a:ext cx="22542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D6A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Time-Bound</a:t>
            </a:r>
            <a:endParaRPr b="1" sz="1200">
              <a:solidFill>
                <a:srgbClr val="2D6A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8"/>
          <p:cNvSpPr/>
          <p:nvPr/>
        </p:nvSpPr>
        <p:spPr>
          <a:xfrm>
            <a:off x="9582050" y="5756832"/>
            <a:ext cx="22542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During MVP testing and early releases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8"/>
          <p:cNvSpPr/>
          <p:nvPr/>
        </p:nvSpPr>
        <p:spPr>
          <a:xfrm>
            <a:off x="412750" y="6227756"/>
            <a:ext cx="11366500" cy="10022"/>
          </a:xfrm>
          <a:custGeom>
            <a:rect b="b" l="l" r="r" t="t"/>
            <a:pathLst>
              <a:path extrusionOk="0" h="7938" w="11366500">
                <a:moveTo>
                  <a:pt x="0" y="0"/>
                </a:moveTo>
                <a:lnTo>
                  <a:pt x="11366500" y="0"/>
                </a:lnTo>
                <a:lnTo>
                  <a:pt x="11366500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8"/>
          <p:cNvSpPr/>
          <p:nvPr/>
        </p:nvSpPr>
        <p:spPr>
          <a:xfrm>
            <a:off x="442516" y="6342986"/>
            <a:ext cx="83344" cy="140295"/>
          </a:xfrm>
          <a:custGeom>
            <a:rect b="b" l="l" r="r" t="t"/>
            <a:pathLst>
              <a:path extrusionOk="0" h="111125" w="83344">
                <a:moveTo>
                  <a:pt x="63571" y="83344"/>
                </a:moveTo>
                <a:cubicBezTo>
                  <a:pt x="65156" y="78504"/>
                  <a:pt x="68325" y="74120"/>
                  <a:pt x="71906" y="70343"/>
                </a:cubicBezTo>
                <a:cubicBezTo>
                  <a:pt x="79003" y="62877"/>
                  <a:pt x="83344" y="52784"/>
                  <a:pt x="83344" y="41672"/>
                </a:cubicBezTo>
                <a:cubicBezTo>
                  <a:pt x="83344" y="18666"/>
                  <a:pt x="64678" y="0"/>
                  <a:pt x="41672" y="0"/>
                </a:cubicBezTo>
                <a:cubicBezTo>
                  <a:pt x="18666" y="0"/>
                  <a:pt x="0" y="18666"/>
                  <a:pt x="0" y="41672"/>
                </a:cubicBezTo>
                <a:cubicBezTo>
                  <a:pt x="0" y="52784"/>
                  <a:pt x="4341" y="62877"/>
                  <a:pt x="11438" y="70343"/>
                </a:cubicBezTo>
                <a:cubicBezTo>
                  <a:pt x="15019" y="74120"/>
                  <a:pt x="18210" y="78504"/>
                  <a:pt x="19772" y="83344"/>
                </a:cubicBezTo>
                <a:lnTo>
                  <a:pt x="63550" y="83344"/>
                </a:lnTo>
                <a:close/>
                <a:moveTo>
                  <a:pt x="62508" y="93762"/>
                </a:moveTo>
                <a:lnTo>
                  <a:pt x="20836" y="93762"/>
                </a:lnTo>
                <a:lnTo>
                  <a:pt x="20836" y="97234"/>
                </a:lnTo>
                <a:cubicBezTo>
                  <a:pt x="20836" y="106828"/>
                  <a:pt x="28606" y="114598"/>
                  <a:pt x="38199" y="114598"/>
                </a:cubicBezTo>
                <a:lnTo>
                  <a:pt x="45145" y="114598"/>
                </a:lnTo>
                <a:cubicBezTo>
                  <a:pt x="54738" y="114598"/>
                  <a:pt x="62508" y="106828"/>
                  <a:pt x="62508" y="97234"/>
                </a:cubicBezTo>
                <a:lnTo>
                  <a:pt x="62508" y="93762"/>
                </a:lnTo>
                <a:close/>
                <a:moveTo>
                  <a:pt x="39936" y="24309"/>
                </a:moveTo>
                <a:cubicBezTo>
                  <a:pt x="31297" y="24309"/>
                  <a:pt x="24309" y="31297"/>
                  <a:pt x="24309" y="39936"/>
                </a:cubicBezTo>
                <a:cubicBezTo>
                  <a:pt x="24309" y="42822"/>
                  <a:pt x="21986" y="45145"/>
                  <a:pt x="19100" y="45145"/>
                </a:cubicBezTo>
                <a:cubicBezTo>
                  <a:pt x="16213" y="45145"/>
                  <a:pt x="13891" y="42822"/>
                  <a:pt x="13891" y="39936"/>
                </a:cubicBezTo>
                <a:cubicBezTo>
                  <a:pt x="13891" y="25546"/>
                  <a:pt x="25546" y="13891"/>
                  <a:pt x="39936" y="13891"/>
                </a:cubicBezTo>
                <a:cubicBezTo>
                  <a:pt x="42822" y="13891"/>
                  <a:pt x="45145" y="16213"/>
                  <a:pt x="45145" y="19100"/>
                </a:cubicBezTo>
                <a:cubicBezTo>
                  <a:pt x="45145" y="21986"/>
                  <a:pt x="42822" y="24309"/>
                  <a:pt x="39936" y="24309"/>
                </a:cubicBezTo>
                <a:close/>
              </a:path>
            </a:pathLst>
          </a:custGeom>
          <a:solidFill>
            <a:srgbClr val="C78D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8"/>
          <p:cNvSpPr/>
          <p:nvPr/>
        </p:nvSpPr>
        <p:spPr>
          <a:xfrm>
            <a:off x="575469" y="6312926"/>
            <a:ext cx="112593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D3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Justification: Integration convenience is a key differentiator claimed in the canvas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8"/>
          <p:cNvSpPr/>
          <p:nvPr/>
        </p:nvSpPr>
        <p:spPr>
          <a:xfrm>
            <a:off x="5898679" y="6558457"/>
            <a:ext cx="5111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Execution risk remains — habit formation &amp; AI accuracy are critical uncertainties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0"/>
        </a:soli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www.healthyfood.com/0061e784ed9b95d42bbf42d5ae3698beb94f8f5f.jpg" id="662" name="Google Shape;662;p19"/>
          <p:cNvPicPr preferRelativeResize="0"/>
          <p:nvPr/>
        </p:nvPicPr>
        <p:blipFill rotWithShape="1">
          <a:blip r:embed="rId3">
            <a:alphaModFix/>
          </a:blip>
          <a:srcRect b="15617" l="0" r="0" t="15617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63" name="Google Shape;663;p19"/>
          <p:cNvSpPr/>
          <p:nvPr/>
        </p:nvSpPr>
        <p:spPr>
          <a:xfrm>
            <a:off x="-15343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A2E">
                  <a:alpha val="85098"/>
                </a:srgbClr>
              </a:gs>
              <a:gs pos="50000">
                <a:srgbClr val="E85D04">
                  <a:alpha val="70196"/>
                </a:srgbClr>
              </a:gs>
              <a:gs pos="100000">
                <a:srgbClr val="2D6A4F">
                  <a:alpha val="8000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9"/>
          <p:cNvSpPr/>
          <p:nvPr/>
        </p:nvSpPr>
        <p:spPr>
          <a:xfrm>
            <a:off x="5334000" y="2971800"/>
            <a:ext cx="1524000" cy="76200"/>
          </a:xfrm>
          <a:custGeom>
            <a:rect b="b" l="l" r="r" t="t"/>
            <a:pathLst>
              <a:path extrusionOk="0" h="76200" w="1524000">
                <a:moveTo>
                  <a:pt x="38100" y="0"/>
                </a:moveTo>
                <a:lnTo>
                  <a:pt x="1485900" y="0"/>
                </a:lnTo>
                <a:cubicBezTo>
                  <a:pt x="1506928" y="0"/>
                  <a:pt x="1524000" y="17072"/>
                  <a:pt x="1524000" y="38100"/>
                </a:cubicBezTo>
                <a:lnTo>
                  <a:pt x="1524000" y="38100"/>
                </a:lnTo>
                <a:cubicBezTo>
                  <a:pt x="1524000" y="59128"/>
                  <a:pt x="1506928" y="76200"/>
                  <a:pt x="14859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48C0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9"/>
          <p:cNvSpPr/>
          <p:nvPr/>
        </p:nvSpPr>
        <p:spPr>
          <a:xfrm>
            <a:off x="609600" y="5981700"/>
            <a:ext cx="5200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Product Development (AI-4013)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9"/>
          <p:cNvSpPr/>
          <p:nvPr/>
        </p:nvSpPr>
        <p:spPr>
          <a:xfrm>
            <a:off x="9892499" y="5954580"/>
            <a:ext cx="2562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Hafsa Imtiaz (22i-0959)</a:t>
            </a:r>
            <a:endParaRPr sz="1350">
              <a:solidFill>
                <a:srgbClr val="FFF8F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Mahum Hamid (22i-1009)</a:t>
            </a:r>
            <a:endParaRPr sz="1350">
              <a:solidFill>
                <a:srgbClr val="FFF8F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Areeba Riaz (22i-1244)</a:t>
            </a:r>
            <a:endParaRPr sz="1350">
              <a:solidFill>
                <a:srgbClr val="FFF8F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Jawairia Waseem (22i-1274)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8F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350">
              <a:solidFill>
                <a:srgbClr val="FFF8F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8F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67" name="Google Shape;667;p19"/>
          <p:cNvSpPr/>
          <p:nvPr/>
        </p:nvSpPr>
        <p:spPr>
          <a:xfrm>
            <a:off x="3971925" y="3048008"/>
            <a:ext cx="4591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FFF8F0"/>
                </a:solidFill>
                <a:latin typeface="Courgette"/>
                <a:ea typeface="Courgette"/>
                <a:cs typeface="Courgette"/>
                <a:sym typeface="Courgette"/>
              </a:rPr>
              <a:t>Thanks!</a:t>
            </a:r>
            <a:endParaRPr sz="1600">
              <a:solidFill>
                <a:schemeClr val="dk1"/>
              </a:solidFill>
              <a:latin typeface="Courgette"/>
              <a:ea typeface="Courgette"/>
              <a:cs typeface="Courgette"/>
              <a:sym typeface="Courgette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